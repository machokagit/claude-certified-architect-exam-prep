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78317" autoAdjust="0"/>
  </p:normalViewPr>
  <p:slideViewPr>
    <p:cSldViewPr snapToGrid="0" snapToObjects="1">
      <p:cViewPr varScale="1">
        <p:scale>
          <a:sx n="58" d="100"/>
          <a:sy n="58" d="100"/>
        </p:scale>
        <p:origin x="8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ica Mensah" userId="01491a5c-1787-4286-9275-7d5e1cf25d2d" providerId="ADAL" clId="{709B012D-EEB0-4BBC-813E-6BF8CFD40912}"/>
    <pc:docChg chg="modSld">
      <pc:chgData name="Monica Mensah" userId="01491a5c-1787-4286-9275-7d5e1cf25d2d" providerId="ADAL" clId="{709B012D-EEB0-4BBC-813E-6BF8CFD40912}" dt="2026-05-25T19:27:52.782" v="44" actId="20577"/>
      <pc:docMkLst>
        <pc:docMk/>
      </pc:docMkLst>
      <pc:sldChg chg="modNotesTx">
        <pc:chgData name="Monica Mensah" userId="01491a5c-1787-4286-9275-7d5e1cf25d2d" providerId="ADAL" clId="{709B012D-EEB0-4BBC-813E-6BF8CFD40912}" dt="2026-05-25T19:23:20.126" v="1" actId="20577"/>
        <pc:sldMkLst>
          <pc:docMk/>
          <pc:sldMk cId="0" sldId="256"/>
        </pc:sldMkLst>
      </pc:sldChg>
      <pc:sldChg chg="modNotesTx">
        <pc:chgData name="Monica Mensah" userId="01491a5c-1787-4286-9275-7d5e1cf25d2d" providerId="ADAL" clId="{709B012D-EEB0-4BBC-813E-6BF8CFD40912}" dt="2026-05-25T19:23:25.432" v="2" actId="20577"/>
        <pc:sldMkLst>
          <pc:docMk/>
          <pc:sldMk cId="0" sldId="257"/>
        </pc:sldMkLst>
      </pc:sldChg>
      <pc:sldChg chg="modNotesTx">
        <pc:chgData name="Monica Mensah" userId="01491a5c-1787-4286-9275-7d5e1cf25d2d" providerId="ADAL" clId="{709B012D-EEB0-4BBC-813E-6BF8CFD40912}" dt="2026-05-25T19:23:31.027" v="3" actId="20577"/>
        <pc:sldMkLst>
          <pc:docMk/>
          <pc:sldMk cId="0" sldId="258"/>
        </pc:sldMkLst>
      </pc:sldChg>
      <pc:sldChg chg="modNotesTx">
        <pc:chgData name="Monica Mensah" userId="01491a5c-1787-4286-9275-7d5e1cf25d2d" providerId="ADAL" clId="{709B012D-EEB0-4BBC-813E-6BF8CFD40912}" dt="2026-05-25T19:23:37.832" v="4" actId="20577"/>
        <pc:sldMkLst>
          <pc:docMk/>
          <pc:sldMk cId="0" sldId="259"/>
        </pc:sldMkLst>
      </pc:sldChg>
      <pc:sldChg chg="modNotesTx">
        <pc:chgData name="Monica Mensah" userId="01491a5c-1787-4286-9275-7d5e1cf25d2d" providerId="ADAL" clId="{709B012D-EEB0-4BBC-813E-6BF8CFD40912}" dt="2026-05-25T19:23:42.492" v="5" actId="20577"/>
        <pc:sldMkLst>
          <pc:docMk/>
          <pc:sldMk cId="0" sldId="260"/>
        </pc:sldMkLst>
      </pc:sldChg>
      <pc:sldChg chg="modNotesTx">
        <pc:chgData name="Monica Mensah" userId="01491a5c-1787-4286-9275-7d5e1cf25d2d" providerId="ADAL" clId="{709B012D-EEB0-4BBC-813E-6BF8CFD40912}" dt="2026-05-25T19:23:49.355" v="6" actId="20577"/>
        <pc:sldMkLst>
          <pc:docMk/>
          <pc:sldMk cId="0" sldId="261"/>
        </pc:sldMkLst>
      </pc:sldChg>
      <pc:sldChg chg="modNotesTx">
        <pc:chgData name="Monica Mensah" userId="01491a5c-1787-4286-9275-7d5e1cf25d2d" providerId="ADAL" clId="{709B012D-EEB0-4BBC-813E-6BF8CFD40912}" dt="2026-05-25T19:27:31.316" v="36" actId="20577"/>
        <pc:sldMkLst>
          <pc:docMk/>
          <pc:sldMk cId="0" sldId="262"/>
        </pc:sldMkLst>
      </pc:sldChg>
      <pc:sldChg chg="modNotesTx">
        <pc:chgData name="Monica Mensah" userId="01491a5c-1787-4286-9275-7d5e1cf25d2d" providerId="ADAL" clId="{709B012D-EEB0-4BBC-813E-6BF8CFD40912}" dt="2026-05-25T19:23:53.925" v="7" actId="20577"/>
        <pc:sldMkLst>
          <pc:docMk/>
          <pc:sldMk cId="0" sldId="263"/>
        </pc:sldMkLst>
      </pc:sldChg>
      <pc:sldChg chg="modNotesTx">
        <pc:chgData name="Monica Mensah" userId="01491a5c-1787-4286-9275-7d5e1cf25d2d" providerId="ADAL" clId="{709B012D-EEB0-4BBC-813E-6BF8CFD40912}" dt="2026-05-25T19:24:04.442" v="8" actId="20577"/>
        <pc:sldMkLst>
          <pc:docMk/>
          <pc:sldMk cId="0" sldId="264"/>
        </pc:sldMkLst>
      </pc:sldChg>
      <pc:sldChg chg="modNotesTx">
        <pc:chgData name="Monica Mensah" userId="01491a5c-1787-4286-9275-7d5e1cf25d2d" providerId="ADAL" clId="{709B012D-EEB0-4BBC-813E-6BF8CFD40912}" dt="2026-05-25T19:24:09.931" v="9" actId="20577"/>
        <pc:sldMkLst>
          <pc:docMk/>
          <pc:sldMk cId="0" sldId="265"/>
        </pc:sldMkLst>
      </pc:sldChg>
      <pc:sldChg chg="modNotesTx">
        <pc:chgData name="Monica Mensah" userId="01491a5c-1787-4286-9275-7d5e1cf25d2d" providerId="ADAL" clId="{709B012D-EEB0-4BBC-813E-6BF8CFD40912}" dt="2026-05-25T19:27:40.442" v="39" actId="20577"/>
        <pc:sldMkLst>
          <pc:docMk/>
          <pc:sldMk cId="0" sldId="266"/>
        </pc:sldMkLst>
      </pc:sldChg>
      <pc:sldChg chg="modNotesTx">
        <pc:chgData name="Monica Mensah" userId="01491a5c-1787-4286-9275-7d5e1cf25d2d" providerId="ADAL" clId="{709B012D-EEB0-4BBC-813E-6BF8CFD40912}" dt="2026-05-25T19:24:17.200" v="10" actId="20577"/>
        <pc:sldMkLst>
          <pc:docMk/>
          <pc:sldMk cId="0" sldId="267"/>
        </pc:sldMkLst>
      </pc:sldChg>
      <pc:sldChg chg="modNotesTx">
        <pc:chgData name="Monica Mensah" userId="01491a5c-1787-4286-9275-7d5e1cf25d2d" providerId="ADAL" clId="{709B012D-EEB0-4BBC-813E-6BF8CFD40912}" dt="2026-05-25T19:24:22.198" v="11" actId="20577"/>
        <pc:sldMkLst>
          <pc:docMk/>
          <pc:sldMk cId="0" sldId="268"/>
        </pc:sldMkLst>
      </pc:sldChg>
      <pc:sldChg chg="modNotesTx">
        <pc:chgData name="Monica Mensah" userId="01491a5c-1787-4286-9275-7d5e1cf25d2d" providerId="ADAL" clId="{709B012D-EEB0-4BBC-813E-6BF8CFD40912}" dt="2026-05-25T19:24:27.620" v="12" actId="20577"/>
        <pc:sldMkLst>
          <pc:docMk/>
          <pc:sldMk cId="0" sldId="269"/>
        </pc:sldMkLst>
      </pc:sldChg>
      <pc:sldChg chg="modNotesTx">
        <pc:chgData name="Monica Mensah" userId="01491a5c-1787-4286-9275-7d5e1cf25d2d" providerId="ADAL" clId="{709B012D-EEB0-4BBC-813E-6BF8CFD40912}" dt="2026-05-25T19:24:30.760" v="13" actId="20577"/>
        <pc:sldMkLst>
          <pc:docMk/>
          <pc:sldMk cId="0" sldId="270"/>
        </pc:sldMkLst>
      </pc:sldChg>
      <pc:sldChg chg="modNotesTx">
        <pc:chgData name="Monica Mensah" userId="01491a5c-1787-4286-9275-7d5e1cf25d2d" providerId="ADAL" clId="{709B012D-EEB0-4BBC-813E-6BF8CFD40912}" dt="2026-05-25T19:24:35.146" v="14" actId="20577"/>
        <pc:sldMkLst>
          <pc:docMk/>
          <pc:sldMk cId="0" sldId="271"/>
        </pc:sldMkLst>
      </pc:sldChg>
      <pc:sldChg chg="modNotesTx">
        <pc:chgData name="Monica Mensah" userId="01491a5c-1787-4286-9275-7d5e1cf25d2d" providerId="ADAL" clId="{709B012D-EEB0-4BBC-813E-6BF8CFD40912}" dt="2026-05-25T19:24:47.367" v="15" actId="20577"/>
        <pc:sldMkLst>
          <pc:docMk/>
          <pc:sldMk cId="0" sldId="272"/>
        </pc:sldMkLst>
      </pc:sldChg>
      <pc:sldChg chg="modNotesTx">
        <pc:chgData name="Monica Mensah" userId="01491a5c-1787-4286-9275-7d5e1cf25d2d" providerId="ADAL" clId="{709B012D-EEB0-4BBC-813E-6BF8CFD40912}" dt="2026-05-25T19:24:52.486" v="16" actId="20577"/>
        <pc:sldMkLst>
          <pc:docMk/>
          <pc:sldMk cId="0" sldId="273"/>
        </pc:sldMkLst>
      </pc:sldChg>
      <pc:sldChg chg="modNotesTx">
        <pc:chgData name="Monica Mensah" userId="01491a5c-1787-4286-9275-7d5e1cf25d2d" providerId="ADAL" clId="{709B012D-EEB0-4BBC-813E-6BF8CFD40912}" dt="2026-05-25T19:24:55.720" v="17" actId="20577"/>
        <pc:sldMkLst>
          <pc:docMk/>
          <pc:sldMk cId="0" sldId="274"/>
        </pc:sldMkLst>
      </pc:sldChg>
      <pc:sldChg chg="modNotesTx">
        <pc:chgData name="Monica Mensah" userId="01491a5c-1787-4286-9275-7d5e1cf25d2d" providerId="ADAL" clId="{709B012D-EEB0-4BBC-813E-6BF8CFD40912}" dt="2026-05-25T19:27:52.782" v="44" actId="20577"/>
        <pc:sldMkLst>
          <pc:docMk/>
          <pc:sldMk cId="0" sldId="275"/>
        </pc:sldMkLst>
      </pc:sldChg>
      <pc:sldChg chg="modNotesTx">
        <pc:chgData name="Monica Mensah" userId="01491a5c-1787-4286-9275-7d5e1cf25d2d" providerId="ADAL" clId="{709B012D-EEB0-4BBC-813E-6BF8CFD40912}" dt="2026-05-25T19:25:09.143" v="20" actId="20577"/>
        <pc:sldMkLst>
          <pc:docMk/>
          <pc:sldMk cId="0" sldId="276"/>
        </pc:sldMkLst>
      </pc:sldChg>
      <pc:sldChg chg="modNotesTx">
        <pc:chgData name="Monica Mensah" userId="01491a5c-1787-4286-9275-7d5e1cf25d2d" providerId="ADAL" clId="{709B012D-EEB0-4BBC-813E-6BF8CFD40912}" dt="2026-05-25T19:25:13.889" v="21" actId="20577"/>
        <pc:sldMkLst>
          <pc:docMk/>
          <pc:sldMk cId="0" sldId="277"/>
        </pc:sldMkLst>
      </pc:sldChg>
      <pc:sldChg chg="modNotesTx">
        <pc:chgData name="Monica Mensah" userId="01491a5c-1787-4286-9275-7d5e1cf25d2d" providerId="ADAL" clId="{709B012D-EEB0-4BBC-813E-6BF8CFD40912}" dt="2026-05-25T19:25:16.909" v="22" actId="20577"/>
        <pc:sldMkLst>
          <pc:docMk/>
          <pc:sldMk cId="0" sldId="278"/>
        </pc:sldMkLst>
      </pc:sldChg>
      <pc:sldChg chg="modNotesTx">
        <pc:chgData name="Monica Mensah" userId="01491a5c-1787-4286-9275-7d5e1cf25d2d" providerId="ADAL" clId="{709B012D-EEB0-4BBC-813E-6BF8CFD40912}" dt="2026-05-25T19:25:21.140" v="23" actId="20577"/>
        <pc:sldMkLst>
          <pc:docMk/>
          <pc:sldMk cId="0" sldId="279"/>
        </pc:sldMkLst>
      </pc:sldChg>
      <pc:sldChg chg="modNotesTx">
        <pc:chgData name="Monica Mensah" userId="01491a5c-1787-4286-9275-7d5e1cf25d2d" providerId="ADAL" clId="{709B012D-EEB0-4BBC-813E-6BF8CFD40912}" dt="2026-05-25T19:25:25.159" v="24" actId="20577"/>
        <pc:sldMkLst>
          <pc:docMk/>
          <pc:sldMk cId="0" sldId="280"/>
        </pc:sldMkLst>
      </pc:sldChg>
      <pc:sldChg chg="modNotesTx">
        <pc:chgData name="Monica Mensah" userId="01491a5c-1787-4286-9275-7d5e1cf25d2d" providerId="ADAL" clId="{709B012D-EEB0-4BBC-813E-6BF8CFD40912}" dt="2026-05-25T19:25:29.096" v="25" actId="20577"/>
        <pc:sldMkLst>
          <pc:docMk/>
          <pc:sldMk cId="0" sldId="281"/>
        </pc:sldMkLst>
      </pc:sldChg>
      <pc:sldChg chg="modNotesTx">
        <pc:chgData name="Monica Mensah" userId="01491a5c-1787-4286-9275-7d5e1cf25d2d" providerId="ADAL" clId="{709B012D-EEB0-4BBC-813E-6BF8CFD40912}" dt="2026-05-25T19:25:33.405" v="26" actId="20577"/>
        <pc:sldMkLst>
          <pc:docMk/>
          <pc:sldMk cId="0" sldId="282"/>
        </pc:sldMkLst>
      </pc:sldChg>
      <pc:sldChg chg="modNotesTx">
        <pc:chgData name="Monica Mensah" userId="01491a5c-1787-4286-9275-7d5e1cf25d2d" providerId="ADAL" clId="{709B012D-EEB0-4BBC-813E-6BF8CFD40912}" dt="2026-05-25T19:25:37.334" v="27" actId="20577"/>
        <pc:sldMkLst>
          <pc:docMk/>
          <pc:sldMk cId="0" sldId="283"/>
        </pc:sldMkLst>
      </pc:sldChg>
      <pc:sldChg chg="modNotesTx">
        <pc:chgData name="Monica Mensah" userId="01491a5c-1787-4286-9275-7d5e1cf25d2d" providerId="ADAL" clId="{709B012D-EEB0-4BBC-813E-6BF8CFD40912}" dt="2026-05-25T19:25:41.182" v="28" actId="20577"/>
        <pc:sldMkLst>
          <pc:docMk/>
          <pc:sldMk cId="0" sldId="284"/>
        </pc:sldMkLst>
      </pc:sldChg>
      <pc:sldChg chg="modNotesTx">
        <pc:chgData name="Monica Mensah" userId="01491a5c-1787-4286-9275-7d5e1cf25d2d" providerId="ADAL" clId="{709B012D-EEB0-4BBC-813E-6BF8CFD40912}" dt="2026-05-25T19:25:46.950" v="29" actId="20577"/>
        <pc:sldMkLst>
          <pc:docMk/>
          <pc:sldMk cId="0" sldId="285"/>
        </pc:sldMkLst>
      </pc:sldChg>
      <pc:sldChg chg="modNotesTx">
        <pc:chgData name="Monica Mensah" userId="01491a5c-1787-4286-9275-7d5e1cf25d2d" providerId="ADAL" clId="{709B012D-EEB0-4BBC-813E-6BF8CFD40912}" dt="2026-05-25T19:25:51.719" v="30" actId="20577"/>
        <pc:sldMkLst>
          <pc:docMk/>
          <pc:sldMk cId="0" sldId="286"/>
        </pc:sldMkLst>
      </pc:sldChg>
      <pc:sldChg chg="modNotesTx">
        <pc:chgData name="Monica Mensah" userId="01491a5c-1787-4286-9275-7d5e1cf25d2d" providerId="ADAL" clId="{709B012D-EEB0-4BBC-813E-6BF8CFD40912}" dt="2026-05-25T19:25:55.626" v="32" actId="20577"/>
        <pc:sldMkLst>
          <pc:docMk/>
          <pc:sldMk cId="0" sldId="287"/>
        </pc:sldMkLst>
      </pc:sldChg>
      <pc:sldChg chg="modNotesTx">
        <pc:chgData name="Monica Mensah" userId="01491a5c-1787-4286-9275-7d5e1cf25d2d" providerId="ADAL" clId="{709B012D-EEB0-4BBC-813E-6BF8CFD40912}" dt="2026-05-25T19:25:59.068" v="33" actId="20577"/>
        <pc:sldMkLst>
          <pc:docMk/>
          <pc:sldMk cId="0" sldId="288"/>
        </pc:sldMkLst>
      </pc:sldChg>
      <pc:sldChg chg="modNotesTx">
        <pc:chgData name="Monica Mensah" userId="01491a5c-1787-4286-9275-7d5e1cf25d2d" providerId="ADAL" clId="{709B012D-EEB0-4BBC-813E-6BF8CFD40912}" dt="2026-05-25T19:26:05.409" v="34" actId="20577"/>
        <pc:sldMkLst>
          <pc:docMk/>
          <pc:sldMk cId="0" sldId="289"/>
        </pc:sldMkLst>
      </pc:sldChg>
      <pc:sldChg chg="modNotesTx">
        <pc:chgData name="Monica Mensah" userId="01491a5c-1787-4286-9275-7d5e1cf25d2d" providerId="ADAL" clId="{709B012D-EEB0-4BBC-813E-6BF8CFD40912}" dt="2026-05-25T19:26:08.374" v="35" actId="20577"/>
        <pc:sldMkLst>
          <pc:docMk/>
          <pc:sldMk cId="0" sldId="2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449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3.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4"/>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F9E3D"/>
          </a:solidFill>
          <a:ln/>
        </p:spPr>
        <p:txBody>
          <a:bodyPr/>
          <a:lstStyle/>
          <a:p>
            <a:endParaRPr lang="en-GB"/>
          </a:p>
        </p:txBody>
      </p:sp>
      <p:sp>
        <p:nvSpPr>
          <p:cNvPr id="3" name="Text 1"/>
          <p:cNvSpPr/>
          <p:nvPr/>
        </p:nvSpPr>
        <p:spPr>
          <a:xfrm>
            <a:off x="731520" y="914400"/>
            <a:ext cx="10058400" cy="365760"/>
          </a:xfrm>
          <a:prstGeom prst="rect">
            <a:avLst/>
          </a:prstGeom>
          <a:noFill/>
          <a:ln/>
        </p:spPr>
        <p:txBody>
          <a:bodyPr wrap="square" lIns="0" tIns="0" rIns="0" bIns="0" rtlCol="0" anchor="ctr"/>
          <a:lstStyle/>
          <a:p>
            <a:pPr marL="0" indent="0">
              <a:buNone/>
            </a:pPr>
            <a:r>
              <a:rPr lang="en-US" sz="1400" dirty="0">
                <a:solidFill>
                  <a:srgbClr val="5EB3F5"/>
                </a:solidFill>
                <a:latin typeface="Consolas" pitchFamily="34" charset="0"/>
                <a:ea typeface="Consolas" pitchFamily="34" charset="-122"/>
                <a:cs typeface="Consolas" pitchFamily="34" charset="-120"/>
              </a:rPr>
              <a:t>~/claude-architect</a:t>
            </a:r>
            <a:r>
              <a:rPr lang="en-US" sz="1400" dirty="0">
                <a:solidFill>
                  <a:srgbClr val="8AE65C"/>
                </a:solidFill>
                <a:latin typeface="Consolas" pitchFamily="34" charset="0"/>
                <a:ea typeface="Consolas" pitchFamily="34" charset="-122"/>
                <a:cs typeface="Consolas" pitchFamily="34" charset="-120"/>
              </a:rPr>
              <a:t> $ </a:t>
            </a:r>
            <a:r>
              <a:rPr lang="en-US" sz="1400" dirty="0">
                <a:solidFill>
                  <a:srgbClr val="B9C4D0"/>
                </a:solidFill>
                <a:latin typeface="Consolas" pitchFamily="34" charset="0"/>
                <a:ea typeface="Consolas" pitchFamily="34" charset="-122"/>
                <a:cs typeface="Consolas" pitchFamily="34" charset="-120"/>
              </a:rPr>
              <a:t>load --domain 3</a:t>
            </a:r>
            <a:endParaRPr lang="en-US" sz="1400" dirty="0"/>
          </a:p>
        </p:txBody>
      </p:sp>
      <p:sp>
        <p:nvSpPr>
          <p:cNvPr id="4" name="Text 2"/>
          <p:cNvSpPr/>
          <p:nvPr/>
        </p:nvSpPr>
        <p:spPr>
          <a:xfrm>
            <a:off x="731520" y="1554480"/>
            <a:ext cx="10058400" cy="548640"/>
          </a:xfrm>
          <a:prstGeom prst="rect">
            <a:avLst/>
          </a:prstGeom>
          <a:noFill/>
          <a:ln/>
        </p:spPr>
        <p:txBody>
          <a:bodyPr wrap="square" lIns="0" tIns="0" rIns="0" bIns="0" rtlCol="0" anchor="ctr"/>
          <a:lstStyle/>
          <a:p>
            <a:pPr marL="0" indent="0">
              <a:buNone/>
            </a:pPr>
            <a:r>
              <a:rPr lang="en-US" sz="1800" b="1" kern="0" spc="800" dirty="0">
                <a:solidFill>
                  <a:srgbClr val="FF9E3D"/>
                </a:solidFill>
                <a:latin typeface="Consolas" pitchFamily="34" charset="0"/>
                <a:ea typeface="Consolas" pitchFamily="34" charset="-122"/>
                <a:cs typeface="Consolas" pitchFamily="34" charset="-120"/>
              </a:rPr>
              <a:t>DOMAIN 3</a:t>
            </a:r>
            <a:endParaRPr lang="en-US" sz="1800" dirty="0"/>
          </a:p>
        </p:txBody>
      </p:sp>
      <p:sp>
        <p:nvSpPr>
          <p:cNvPr id="5" name="Text 3"/>
          <p:cNvSpPr/>
          <p:nvPr/>
        </p:nvSpPr>
        <p:spPr>
          <a:xfrm>
            <a:off x="731520" y="2194560"/>
            <a:ext cx="10058400" cy="1188720"/>
          </a:xfrm>
          <a:prstGeom prst="rect">
            <a:avLst/>
          </a:prstGeom>
          <a:noFill/>
          <a:ln/>
        </p:spPr>
        <p:txBody>
          <a:bodyPr wrap="square" lIns="0" tIns="0" rIns="0" bIns="0" rtlCol="0" anchor="ctr"/>
          <a:lstStyle/>
          <a:p>
            <a:pPr marL="0" indent="0">
              <a:buNone/>
            </a:pPr>
            <a:r>
              <a:rPr lang="en-US" sz="8000" b="1" dirty="0">
                <a:solidFill>
                  <a:srgbClr val="E6EDF3"/>
                </a:solidFill>
                <a:latin typeface="Consolas" pitchFamily="34" charset="0"/>
                <a:ea typeface="Consolas" pitchFamily="34" charset="-122"/>
                <a:cs typeface="Consolas" pitchFamily="34" charset="-120"/>
              </a:rPr>
              <a:t>Claude Code</a:t>
            </a:r>
            <a:endParaRPr lang="en-US" sz="8000" dirty="0"/>
          </a:p>
        </p:txBody>
      </p:sp>
      <p:sp>
        <p:nvSpPr>
          <p:cNvPr id="6" name="Text 4"/>
          <p:cNvSpPr/>
          <p:nvPr/>
        </p:nvSpPr>
        <p:spPr>
          <a:xfrm>
            <a:off x="731520" y="3657600"/>
            <a:ext cx="10058400" cy="548640"/>
          </a:xfrm>
          <a:prstGeom prst="rect">
            <a:avLst/>
          </a:prstGeom>
          <a:noFill/>
          <a:ln/>
        </p:spPr>
        <p:txBody>
          <a:bodyPr wrap="square" lIns="0" tIns="0" rIns="0" bIns="0" rtlCol="0" anchor="ctr"/>
          <a:lstStyle/>
          <a:p>
            <a:pPr marL="0" indent="0">
              <a:buNone/>
            </a:pPr>
            <a:r>
              <a:rPr lang="en-US" sz="2000" i="1" dirty="0">
                <a:solidFill>
                  <a:srgbClr val="B9C4D0"/>
                </a:solidFill>
                <a:latin typeface="Calibri" pitchFamily="34" charset="0"/>
                <a:ea typeface="Calibri" pitchFamily="34" charset="-122"/>
                <a:cs typeface="Calibri" pitchFamily="34" charset="-120"/>
              </a:rPr>
              <a:t>From coding assistant fundamentals to custom hooks, MCP servers, and the SDK.</a:t>
            </a:r>
            <a:endParaRPr lang="en-US" sz="2000" dirty="0"/>
          </a:p>
        </p:txBody>
      </p:sp>
      <p:sp>
        <p:nvSpPr>
          <p:cNvPr id="7" name="Shape 5"/>
          <p:cNvSpPr/>
          <p:nvPr/>
        </p:nvSpPr>
        <p:spPr>
          <a:xfrm>
            <a:off x="731520" y="4572000"/>
            <a:ext cx="164592" cy="320040"/>
          </a:xfrm>
          <a:prstGeom prst="rect">
            <a:avLst/>
          </a:prstGeom>
          <a:solidFill>
            <a:srgbClr val="8AE65C"/>
          </a:solidFill>
          <a:ln/>
        </p:spPr>
        <p:txBody>
          <a:bodyPr/>
          <a:lstStyle/>
          <a:p>
            <a:endParaRPr lang="en-GB"/>
          </a:p>
        </p:txBody>
      </p:sp>
      <p:sp>
        <p:nvSpPr>
          <p:cNvPr id="8" name="Text 6"/>
          <p:cNvSpPr/>
          <p:nvPr/>
        </p:nvSpPr>
        <p:spPr>
          <a:xfrm>
            <a:off x="731520" y="5943600"/>
            <a:ext cx="10058400" cy="274320"/>
          </a:xfrm>
          <a:prstGeom prst="rect">
            <a:avLst/>
          </a:prstGeom>
          <a:noFill/>
          <a:ln/>
        </p:spPr>
        <p:txBody>
          <a:bodyPr wrap="square" lIns="0" tIns="0" rIns="0" bIns="0" rtlCol="0" anchor="ctr"/>
          <a:lstStyle/>
          <a:p>
            <a:pPr marL="0" indent="0">
              <a:buNone/>
            </a:pPr>
            <a:r>
              <a:rPr lang="en-US" sz="1200" kern="0" spc="500" dirty="0">
                <a:solidFill>
                  <a:srgbClr val="6B7785"/>
                </a:solidFill>
                <a:latin typeface="Consolas" pitchFamily="34" charset="0"/>
                <a:ea typeface="Consolas" pitchFamily="34" charset="-122"/>
                <a:cs typeface="Consolas" pitchFamily="34" charset="-120"/>
              </a:rPr>
              <a:t>Claude Architect Certification  ·  Technical Track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agenda</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02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What we'll cover</a:t>
            </a:r>
            <a:endParaRPr lang="en-US" sz="3000" dirty="0"/>
          </a:p>
        </p:txBody>
      </p:sp>
      <p:sp>
        <p:nvSpPr>
          <p:cNvPr id="6" name="Shape 4"/>
          <p:cNvSpPr/>
          <p:nvPr/>
        </p:nvSpPr>
        <p:spPr>
          <a:xfrm>
            <a:off x="731520" y="1737360"/>
            <a:ext cx="10698480" cy="1051560"/>
          </a:xfrm>
          <a:prstGeom prst="rect">
            <a:avLst/>
          </a:prstGeom>
          <a:solidFill>
            <a:srgbClr val="131820"/>
          </a:solidFill>
          <a:ln/>
        </p:spPr>
        <p:txBody>
          <a:bodyPr/>
          <a:lstStyle/>
          <a:p>
            <a:endParaRPr lang="en-GB"/>
          </a:p>
        </p:txBody>
      </p:sp>
      <p:sp>
        <p:nvSpPr>
          <p:cNvPr id="7" name="Shape 5"/>
          <p:cNvSpPr/>
          <p:nvPr/>
        </p:nvSpPr>
        <p:spPr>
          <a:xfrm>
            <a:off x="731520" y="1737360"/>
            <a:ext cx="73152" cy="1051560"/>
          </a:xfrm>
          <a:prstGeom prst="rect">
            <a:avLst/>
          </a:prstGeom>
          <a:solidFill>
            <a:srgbClr val="FF9E3D"/>
          </a:solidFill>
          <a:ln/>
        </p:spPr>
        <p:txBody>
          <a:bodyPr/>
          <a:lstStyle/>
          <a:p>
            <a:endParaRPr lang="en-GB"/>
          </a:p>
        </p:txBody>
      </p:sp>
      <p:sp>
        <p:nvSpPr>
          <p:cNvPr id="8" name="Text 6"/>
          <p:cNvSpPr/>
          <p:nvPr/>
        </p:nvSpPr>
        <p:spPr>
          <a:xfrm>
            <a:off x="1005840" y="1874520"/>
            <a:ext cx="1097280" cy="777240"/>
          </a:xfrm>
          <a:prstGeom prst="rect">
            <a:avLst/>
          </a:prstGeom>
          <a:noFill/>
          <a:ln/>
        </p:spPr>
        <p:txBody>
          <a:bodyPr wrap="square" lIns="0" tIns="0" rIns="0" bIns="0" rtlCol="0" anchor="ctr"/>
          <a:lstStyle/>
          <a:p>
            <a:pPr marL="0" indent="0">
              <a:buNone/>
            </a:pPr>
            <a:r>
              <a:rPr lang="en-US" sz="4400" b="1" dirty="0">
                <a:solidFill>
                  <a:srgbClr val="FF9E3D"/>
                </a:solidFill>
                <a:latin typeface="Consolas" pitchFamily="34" charset="0"/>
                <a:ea typeface="Consolas" pitchFamily="34" charset="-122"/>
                <a:cs typeface="Consolas" pitchFamily="34" charset="-120"/>
              </a:rPr>
              <a:t>01</a:t>
            </a:r>
            <a:endParaRPr lang="en-US" sz="4400" dirty="0"/>
          </a:p>
        </p:txBody>
      </p:sp>
      <p:sp>
        <p:nvSpPr>
          <p:cNvPr id="9" name="Text 7"/>
          <p:cNvSpPr/>
          <p:nvPr/>
        </p:nvSpPr>
        <p:spPr>
          <a:xfrm>
            <a:off x="2194560" y="1901952"/>
            <a:ext cx="8961120" cy="411480"/>
          </a:xfrm>
          <a:prstGeom prst="rect">
            <a:avLst/>
          </a:prstGeom>
          <a:noFill/>
          <a:ln/>
        </p:spPr>
        <p:txBody>
          <a:bodyPr wrap="square" lIns="0" tIns="0" rIns="0" bIns="0" rtlCol="0" anchor="ctr"/>
          <a:lstStyle/>
          <a:p>
            <a:pPr marL="0" indent="0">
              <a:buNone/>
            </a:pPr>
            <a:r>
              <a:rPr lang="en-US" sz="2000" b="1" dirty="0">
                <a:solidFill>
                  <a:srgbClr val="E6EDF3"/>
                </a:solidFill>
                <a:latin typeface="Consolas" pitchFamily="34" charset="0"/>
                <a:ea typeface="Consolas" pitchFamily="34" charset="-122"/>
                <a:cs typeface="Consolas" pitchFamily="34" charset="-120"/>
              </a:rPr>
              <a:t>What's a coding assistant?</a:t>
            </a:r>
            <a:endParaRPr lang="en-US" sz="2000" dirty="0"/>
          </a:p>
        </p:txBody>
      </p:sp>
      <p:sp>
        <p:nvSpPr>
          <p:cNvPr id="10" name="Text 8"/>
          <p:cNvSpPr/>
          <p:nvPr/>
        </p:nvSpPr>
        <p:spPr>
          <a:xfrm>
            <a:off x="2194560" y="2304288"/>
            <a:ext cx="8961120" cy="41148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How LLMs use tools to read files, run commands, and edit code.</a:t>
            </a:r>
            <a:endParaRPr lang="en-US" sz="1300" dirty="0"/>
          </a:p>
        </p:txBody>
      </p:sp>
      <p:sp>
        <p:nvSpPr>
          <p:cNvPr id="11" name="Shape 9"/>
          <p:cNvSpPr/>
          <p:nvPr/>
        </p:nvSpPr>
        <p:spPr>
          <a:xfrm>
            <a:off x="731520" y="2926080"/>
            <a:ext cx="10698480" cy="1051560"/>
          </a:xfrm>
          <a:prstGeom prst="rect">
            <a:avLst/>
          </a:prstGeom>
          <a:solidFill>
            <a:srgbClr val="131820"/>
          </a:solidFill>
          <a:ln/>
        </p:spPr>
        <p:txBody>
          <a:bodyPr/>
          <a:lstStyle/>
          <a:p>
            <a:endParaRPr lang="en-GB"/>
          </a:p>
        </p:txBody>
      </p:sp>
      <p:sp>
        <p:nvSpPr>
          <p:cNvPr id="12" name="Shape 10"/>
          <p:cNvSpPr/>
          <p:nvPr/>
        </p:nvSpPr>
        <p:spPr>
          <a:xfrm>
            <a:off x="731520" y="2926080"/>
            <a:ext cx="73152" cy="1051560"/>
          </a:xfrm>
          <a:prstGeom prst="rect">
            <a:avLst/>
          </a:prstGeom>
          <a:solidFill>
            <a:srgbClr val="FF9E3D"/>
          </a:solidFill>
          <a:ln/>
        </p:spPr>
        <p:txBody>
          <a:bodyPr/>
          <a:lstStyle/>
          <a:p>
            <a:endParaRPr lang="en-GB"/>
          </a:p>
        </p:txBody>
      </p:sp>
      <p:sp>
        <p:nvSpPr>
          <p:cNvPr id="13" name="Text 11"/>
          <p:cNvSpPr/>
          <p:nvPr/>
        </p:nvSpPr>
        <p:spPr>
          <a:xfrm>
            <a:off x="1005840" y="3063240"/>
            <a:ext cx="1097280" cy="777240"/>
          </a:xfrm>
          <a:prstGeom prst="rect">
            <a:avLst/>
          </a:prstGeom>
          <a:noFill/>
          <a:ln/>
        </p:spPr>
        <p:txBody>
          <a:bodyPr wrap="square" lIns="0" tIns="0" rIns="0" bIns="0" rtlCol="0" anchor="ctr"/>
          <a:lstStyle/>
          <a:p>
            <a:pPr marL="0" indent="0">
              <a:buNone/>
            </a:pPr>
            <a:r>
              <a:rPr lang="en-US" sz="4400" b="1" dirty="0">
                <a:solidFill>
                  <a:srgbClr val="FF9E3D"/>
                </a:solidFill>
                <a:latin typeface="Consolas" pitchFamily="34" charset="0"/>
                <a:ea typeface="Consolas" pitchFamily="34" charset="-122"/>
                <a:cs typeface="Consolas" pitchFamily="34" charset="-120"/>
              </a:rPr>
              <a:t>02</a:t>
            </a:r>
            <a:endParaRPr lang="en-US" sz="4400" dirty="0"/>
          </a:p>
        </p:txBody>
      </p:sp>
      <p:sp>
        <p:nvSpPr>
          <p:cNvPr id="14" name="Text 12"/>
          <p:cNvSpPr/>
          <p:nvPr/>
        </p:nvSpPr>
        <p:spPr>
          <a:xfrm>
            <a:off x="2194560" y="3090672"/>
            <a:ext cx="8961120" cy="411480"/>
          </a:xfrm>
          <a:prstGeom prst="rect">
            <a:avLst/>
          </a:prstGeom>
          <a:noFill/>
          <a:ln/>
        </p:spPr>
        <p:txBody>
          <a:bodyPr wrap="square" lIns="0" tIns="0" rIns="0" bIns="0" rtlCol="0" anchor="ctr"/>
          <a:lstStyle/>
          <a:p>
            <a:pPr marL="0" indent="0">
              <a:buNone/>
            </a:pPr>
            <a:r>
              <a:rPr lang="en-US" sz="2000" b="1" dirty="0">
                <a:solidFill>
                  <a:srgbClr val="E6EDF3"/>
                </a:solidFill>
                <a:latin typeface="Consolas" pitchFamily="34" charset="0"/>
                <a:ea typeface="Consolas" pitchFamily="34" charset="-122"/>
                <a:cs typeface="Consolas" pitchFamily="34" charset="-120"/>
              </a:rPr>
              <a:t>Why Claude Code stands out</a:t>
            </a:r>
            <a:endParaRPr lang="en-US" sz="2000" dirty="0"/>
          </a:p>
        </p:txBody>
      </p:sp>
      <p:sp>
        <p:nvSpPr>
          <p:cNvPr id="15" name="Text 13"/>
          <p:cNvSpPr/>
          <p:nvPr/>
        </p:nvSpPr>
        <p:spPr>
          <a:xfrm>
            <a:off x="2194560" y="3493008"/>
            <a:ext cx="8961120" cy="41148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Built-in tools, extensibility, security, and the install.</a:t>
            </a:r>
            <a:endParaRPr lang="en-US" sz="1300" dirty="0"/>
          </a:p>
        </p:txBody>
      </p:sp>
      <p:sp>
        <p:nvSpPr>
          <p:cNvPr id="16" name="Shape 14"/>
          <p:cNvSpPr/>
          <p:nvPr/>
        </p:nvSpPr>
        <p:spPr>
          <a:xfrm>
            <a:off x="731520" y="4114800"/>
            <a:ext cx="10698480" cy="1051560"/>
          </a:xfrm>
          <a:prstGeom prst="rect">
            <a:avLst/>
          </a:prstGeom>
          <a:solidFill>
            <a:srgbClr val="131820"/>
          </a:solidFill>
          <a:ln/>
        </p:spPr>
        <p:txBody>
          <a:bodyPr/>
          <a:lstStyle/>
          <a:p>
            <a:endParaRPr lang="en-GB"/>
          </a:p>
        </p:txBody>
      </p:sp>
      <p:sp>
        <p:nvSpPr>
          <p:cNvPr id="17" name="Shape 15"/>
          <p:cNvSpPr/>
          <p:nvPr/>
        </p:nvSpPr>
        <p:spPr>
          <a:xfrm>
            <a:off x="731520" y="4114800"/>
            <a:ext cx="73152" cy="1051560"/>
          </a:xfrm>
          <a:prstGeom prst="rect">
            <a:avLst/>
          </a:prstGeom>
          <a:solidFill>
            <a:srgbClr val="FF9E3D"/>
          </a:solidFill>
          <a:ln/>
        </p:spPr>
        <p:txBody>
          <a:bodyPr/>
          <a:lstStyle/>
          <a:p>
            <a:endParaRPr lang="en-GB"/>
          </a:p>
        </p:txBody>
      </p:sp>
      <p:sp>
        <p:nvSpPr>
          <p:cNvPr id="18" name="Text 16"/>
          <p:cNvSpPr/>
          <p:nvPr/>
        </p:nvSpPr>
        <p:spPr>
          <a:xfrm>
            <a:off x="1005840" y="4251960"/>
            <a:ext cx="1097280" cy="777240"/>
          </a:xfrm>
          <a:prstGeom prst="rect">
            <a:avLst/>
          </a:prstGeom>
          <a:noFill/>
          <a:ln/>
        </p:spPr>
        <p:txBody>
          <a:bodyPr wrap="square" lIns="0" tIns="0" rIns="0" bIns="0" rtlCol="0" anchor="ctr"/>
          <a:lstStyle/>
          <a:p>
            <a:pPr marL="0" indent="0">
              <a:buNone/>
            </a:pPr>
            <a:r>
              <a:rPr lang="en-US" sz="4400" b="1" dirty="0">
                <a:solidFill>
                  <a:srgbClr val="FF9E3D"/>
                </a:solidFill>
                <a:latin typeface="Consolas" pitchFamily="34" charset="0"/>
                <a:ea typeface="Consolas" pitchFamily="34" charset="-122"/>
                <a:cs typeface="Consolas" pitchFamily="34" charset="-120"/>
              </a:rPr>
              <a:t>03</a:t>
            </a:r>
            <a:endParaRPr lang="en-US" sz="4400" dirty="0"/>
          </a:p>
        </p:txBody>
      </p:sp>
      <p:sp>
        <p:nvSpPr>
          <p:cNvPr id="19" name="Text 17"/>
          <p:cNvSpPr/>
          <p:nvPr/>
        </p:nvSpPr>
        <p:spPr>
          <a:xfrm>
            <a:off x="2194560" y="4279392"/>
            <a:ext cx="8961120" cy="411480"/>
          </a:xfrm>
          <a:prstGeom prst="rect">
            <a:avLst/>
          </a:prstGeom>
          <a:noFill/>
          <a:ln/>
        </p:spPr>
        <p:txBody>
          <a:bodyPr wrap="square" lIns="0" tIns="0" rIns="0" bIns="0" rtlCol="0" anchor="ctr"/>
          <a:lstStyle/>
          <a:p>
            <a:pPr marL="0" indent="0">
              <a:buNone/>
            </a:pPr>
            <a:r>
              <a:rPr lang="en-US" sz="2000" b="1" dirty="0">
                <a:solidFill>
                  <a:srgbClr val="E6EDF3"/>
                </a:solidFill>
                <a:latin typeface="Consolas" pitchFamily="34" charset="0"/>
                <a:ea typeface="Consolas" pitchFamily="34" charset="-122"/>
                <a:cs typeface="Consolas" pitchFamily="34" charset="-120"/>
              </a:rPr>
              <a:t>Working with Claude Code</a:t>
            </a:r>
            <a:endParaRPr lang="en-US" sz="2000" dirty="0"/>
          </a:p>
        </p:txBody>
      </p:sp>
      <p:sp>
        <p:nvSpPr>
          <p:cNvPr id="20" name="Text 18"/>
          <p:cNvSpPr/>
          <p:nvPr/>
        </p:nvSpPr>
        <p:spPr>
          <a:xfrm>
            <a:off x="2194560" y="4681728"/>
            <a:ext cx="8961120" cy="41148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/init, CLAUDE.md, context, planning, custom commands.</a:t>
            </a:r>
            <a:endParaRPr lang="en-US" sz="1300" dirty="0"/>
          </a:p>
        </p:txBody>
      </p:sp>
      <p:sp>
        <p:nvSpPr>
          <p:cNvPr id="21" name="Shape 19"/>
          <p:cNvSpPr/>
          <p:nvPr/>
        </p:nvSpPr>
        <p:spPr>
          <a:xfrm>
            <a:off x="731520" y="5303520"/>
            <a:ext cx="10698480" cy="1051560"/>
          </a:xfrm>
          <a:prstGeom prst="rect">
            <a:avLst/>
          </a:prstGeom>
          <a:solidFill>
            <a:srgbClr val="131820"/>
          </a:solidFill>
          <a:ln/>
        </p:spPr>
        <p:txBody>
          <a:bodyPr/>
          <a:lstStyle/>
          <a:p>
            <a:endParaRPr lang="en-GB"/>
          </a:p>
        </p:txBody>
      </p:sp>
      <p:sp>
        <p:nvSpPr>
          <p:cNvPr id="22" name="Shape 20"/>
          <p:cNvSpPr/>
          <p:nvPr/>
        </p:nvSpPr>
        <p:spPr>
          <a:xfrm>
            <a:off x="731520" y="5303520"/>
            <a:ext cx="73152" cy="1051560"/>
          </a:xfrm>
          <a:prstGeom prst="rect">
            <a:avLst/>
          </a:prstGeom>
          <a:solidFill>
            <a:srgbClr val="FF9E3D"/>
          </a:solidFill>
          <a:ln/>
        </p:spPr>
        <p:txBody>
          <a:bodyPr/>
          <a:lstStyle/>
          <a:p>
            <a:endParaRPr lang="en-GB"/>
          </a:p>
        </p:txBody>
      </p:sp>
      <p:sp>
        <p:nvSpPr>
          <p:cNvPr id="23" name="Text 21"/>
          <p:cNvSpPr/>
          <p:nvPr/>
        </p:nvSpPr>
        <p:spPr>
          <a:xfrm>
            <a:off x="1005840" y="5440680"/>
            <a:ext cx="1097280" cy="777240"/>
          </a:xfrm>
          <a:prstGeom prst="rect">
            <a:avLst/>
          </a:prstGeom>
          <a:noFill/>
          <a:ln/>
        </p:spPr>
        <p:txBody>
          <a:bodyPr wrap="square" lIns="0" tIns="0" rIns="0" bIns="0" rtlCol="0" anchor="ctr"/>
          <a:lstStyle/>
          <a:p>
            <a:pPr marL="0" indent="0">
              <a:buNone/>
            </a:pPr>
            <a:r>
              <a:rPr lang="en-US" sz="4400" b="1" dirty="0">
                <a:solidFill>
                  <a:srgbClr val="FF9E3D"/>
                </a:solidFill>
                <a:latin typeface="Consolas" pitchFamily="34" charset="0"/>
                <a:ea typeface="Consolas" pitchFamily="34" charset="-122"/>
                <a:cs typeface="Consolas" pitchFamily="34" charset="-120"/>
              </a:rPr>
              <a:t>04</a:t>
            </a:r>
            <a:endParaRPr lang="en-US" sz="4400" dirty="0"/>
          </a:p>
        </p:txBody>
      </p:sp>
      <p:sp>
        <p:nvSpPr>
          <p:cNvPr id="24" name="Text 22"/>
          <p:cNvSpPr/>
          <p:nvPr/>
        </p:nvSpPr>
        <p:spPr>
          <a:xfrm>
            <a:off x="2194560" y="5468112"/>
            <a:ext cx="8961120" cy="411480"/>
          </a:xfrm>
          <a:prstGeom prst="rect">
            <a:avLst/>
          </a:prstGeom>
          <a:noFill/>
          <a:ln/>
        </p:spPr>
        <p:txBody>
          <a:bodyPr wrap="square" lIns="0" tIns="0" rIns="0" bIns="0" rtlCol="0" anchor="ctr"/>
          <a:lstStyle/>
          <a:p>
            <a:pPr marL="0" indent="0">
              <a:buNone/>
            </a:pPr>
            <a:r>
              <a:rPr lang="en-US" sz="2000" b="1" dirty="0">
                <a:solidFill>
                  <a:srgbClr val="E6EDF3"/>
                </a:solidFill>
                <a:latin typeface="Consolas" pitchFamily="34" charset="0"/>
                <a:ea typeface="Consolas" pitchFamily="34" charset="-122"/>
                <a:cs typeface="Consolas" pitchFamily="34" charset="-120"/>
              </a:rPr>
              <a:t>Getting the most out of it</a:t>
            </a:r>
            <a:endParaRPr lang="en-US" sz="2000" dirty="0"/>
          </a:p>
        </p:txBody>
      </p:sp>
      <p:sp>
        <p:nvSpPr>
          <p:cNvPr id="25" name="Text 23"/>
          <p:cNvSpPr/>
          <p:nvPr/>
        </p:nvSpPr>
        <p:spPr>
          <a:xfrm>
            <a:off x="2194560" y="5870448"/>
            <a:ext cx="8961120" cy="41148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MCP servers, GitHub Actions, hooks, and the Agent SDK.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section_1/coding_assistant.md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03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What is a coding assistant?</a:t>
            </a:r>
            <a:endParaRPr lang="en-US" sz="3000" dirty="0"/>
          </a:p>
        </p:txBody>
      </p:sp>
      <p:sp>
        <p:nvSpPr>
          <p:cNvPr id="6" name="Text 4"/>
          <p:cNvSpPr/>
          <p:nvPr/>
        </p:nvSpPr>
        <p:spPr>
          <a:xfrm>
            <a:off x="731520" y="1463040"/>
            <a:ext cx="10972800" cy="822960"/>
          </a:xfrm>
          <a:prstGeom prst="rect">
            <a:avLst/>
          </a:prstGeom>
          <a:noFill/>
          <a:ln/>
        </p:spPr>
        <p:txBody>
          <a:bodyPr wrap="square" lIns="0" tIns="0" rIns="0" bIns="0" rtlCol="0" anchor="ctr"/>
          <a:lstStyle/>
          <a:p>
            <a:pPr marL="0" indent="0">
              <a:buNone/>
            </a:pPr>
            <a:r>
              <a:rPr lang="en-US" sz="1600" dirty="0">
                <a:solidFill>
                  <a:srgbClr val="B9C4D0"/>
                </a:solidFill>
                <a:latin typeface="Calibri" pitchFamily="34" charset="0"/>
                <a:ea typeface="Calibri" pitchFamily="34" charset="-122"/>
                <a:cs typeface="Calibri" pitchFamily="34" charset="-120"/>
              </a:rPr>
              <a:t>More than a tool that writes code — a system that uses language models to tackle complex programming tasks. When you give it a job, it follows the same loop a human developer would:</a:t>
            </a:r>
            <a:endParaRPr lang="en-US" sz="1600" dirty="0"/>
          </a:p>
        </p:txBody>
      </p:sp>
      <p:sp>
        <p:nvSpPr>
          <p:cNvPr id="7" name="Shape 5"/>
          <p:cNvSpPr/>
          <p:nvPr/>
        </p:nvSpPr>
        <p:spPr>
          <a:xfrm>
            <a:off x="731520" y="2560320"/>
            <a:ext cx="3383280" cy="2926080"/>
          </a:xfrm>
          <a:prstGeom prst="rect">
            <a:avLst/>
          </a:prstGeom>
          <a:solidFill>
            <a:srgbClr val="131820"/>
          </a:solidFill>
          <a:ln w="12700">
            <a:solidFill>
              <a:srgbClr val="2A3441"/>
            </a:solidFill>
            <a:prstDash val="solid"/>
          </a:ln>
        </p:spPr>
        <p:txBody>
          <a:bodyPr/>
          <a:lstStyle/>
          <a:p>
            <a:endParaRPr lang="en-GB"/>
          </a:p>
        </p:txBody>
      </p:sp>
      <p:sp>
        <p:nvSpPr>
          <p:cNvPr id="8" name="Shape 6"/>
          <p:cNvSpPr/>
          <p:nvPr/>
        </p:nvSpPr>
        <p:spPr>
          <a:xfrm>
            <a:off x="1005840" y="2834640"/>
            <a:ext cx="457200" cy="365760"/>
          </a:xfrm>
          <a:prstGeom prst="rect">
            <a:avLst/>
          </a:prstGeom>
          <a:solidFill>
            <a:srgbClr val="FF9E3D"/>
          </a:solidFill>
          <a:ln/>
        </p:spPr>
        <p:txBody>
          <a:bodyPr/>
          <a:lstStyle/>
          <a:p>
            <a:endParaRPr lang="en-GB"/>
          </a:p>
        </p:txBody>
      </p:sp>
      <p:sp>
        <p:nvSpPr>
          <p:cNvPr id="9" name="Text 7"/>
          <p:cNvSpPr/>
          <p:nvPr/>
        </p:nvSpPr>
        <p:spPr>
          <a:xfrm>
            <a:off x="1005840" y="2834640"/>
            <a:ext cx="457200" cy="365760"/>
          </a:xfrm>
          <a:prstGeom prst="rect">
            <a:avLst/>
          </a:prstGeom>
          <a:noFill/>
          <a:ln/>
        </p:spPr>
        <p:txBody>
          <a:bodyPr wrap="square" lIns="0" tIns="0" rIns="0" bIns="0" rtlCol="0" anchor="ctr"/>
          <a:lstStyle/>
          <a:p>
            <a:pPr marL="0" indent="0" algn="ctr">
              <a:buNone/>
            </a:pPr>
            <a:r>
              <a:rPr lang="en-US" sz="1400" b="1" dirty="0">
                <a:solidFill>
                  <a:srgbClr val="0A0E14"/>
                </a:solidFill>
                <a:latin typeface="Consolas" pitchFamily="34" charset="0"/>
                <a:ea typeface="Consolas" pitchFamily="34" charset="-122"/>
                <a:cs typeface="Consolas" pitchFamily="34" charset="-120"/>
              </a:rPr>
              <a:t>01</a:t>
            </a:r>
            <a:endParaRPr lang="en-US" sz="1400" dirty="0"/>
          </a:p>
        </p:txBody>
      </p:sp>
      <p:pic>
        <p:nvPicPr>
          <p:cNvPr id="10" name="Image 0" descr="preencoded.png"/>
          <p:cNvPicPr>
            <a:picLocks noChangeAspect="1"/>
          </p:cNvPicPr>
          <p:nvPr/>
        </p:nvPicPr>
        <p:blipFill>
          <a:blip r:embed="rId3"/>
          <a:stretch>
            <a:fillRect/>
          </a:stretch>
        </p:blipFill>
        <p:spPr>
          <a:xfrm>
            <a:off x="2057400" y="3337560"/>
            <a:ext cx="731520" cy="731520"/>
          </a:xfrm>
          <a:prstGeom prst="rect">
            <a:avLst/>
          </a:prstGeom>
        </p:spPr>
      </p:pic>
      <p:sp>
        <p:nvSpPr>
          <p:cNvPr id="11" name="Text 8"/>
          <p:cNvSpPr/>
          <p:nvPr/>
        </p:nvSpPr>
        <p:spPr>
          <a:xfrm>
            <a:off x="914400" y="4206240"/>
            <a:ext cx="3017520" cy="365760"/>
          </a:xfrm>
          <a:prstGeom prst="rect">
            <a:avLst/>
          </a:prstGeom>
          <a:noFill/>
          <a:ln/>
        </p:spPr>
        <p:txBody>
          <a:bodyPr wrap="square" lIns="0" tIns="0" rIns="0" bIns="0" rtlCol="0" anchor="ctr"/>
          <a:lstStyle/>
          <a:p>
            <a:pPr marL="0" indent="0" algn="ctr">
              <a:buNone/>
            </a:pPr>
            <a:r>
              <a:rPr lang="en-US" sz="1700" b="1" dirty="0">
                <a:solidFill>
                  <a:srgbClr val="E6EDF3"/>
                </a:solidFill>
                <a:latin typeface="Consolas" pitchFamily="34" charset="0"/>
                <a:ea typeface="Consolas" pitchFamily="34" charset="-122"/>
                <a:cs typeface="Consolas" pitchFamily="34" charset="-120"/>
              </a:rPr>
              <a:t>Gather context</a:t>
            </a:r>
            <a:endParaRPr lang="en-US" sz="1700" dirty="0"/>
          </a:p>
        </p:txBody>
      </p:sp>
      <p:sp>
        <p:nvSpPr>
          <p:cNvPr id="12" name="Text 9"/>
          <p:cNvSpPr/>
          <p:nvPr/>
        </p:nvSpPr>
        <p:spPr>
          <a:xfrm>
            <a:off x="914400" y="4617720"/>
            <a:ext cx="3017520" cy="777240"/>
          </a:xfrm>
          <a:prstGeom prst="rect">
            <a:avLst/>
          </a:prstGeom>
          <a:noFill/>
          <a:ln/>
        </p:spPr>
        <p:txBody>
          <a:bodyPr wrap="square" lIns="0" tIns="0" rIns="0" bIns="0" rtlCol="0" anchor="ctr"/>
          <a:lstStyle/>
          <a:p>
            <a:pPr marL="0" indent="0" algn="ctr">
              <a:buNone/>
            </a:pPr>
            <a:r>
              <a:rPr lang="en-US" sz="1200" dirty="0">
                <a:solidFill>
                  <a:srgbClr val="B9C4D0"/>
                </a:solidFill>
                <a:latin typeface="Calibri" pitchFamily="34" charset="0"/>
                <a:ea typeface="Calibri" pitchFamily="34" charset="-122"/>
                <a:cs typeface="Calibri" pitchFamily="34" charset="-120"/>
              </a:rPr>
              <a:t>Read error messages,</a:t>
            </a:r>
            <a:endParaRPr lang="en-US" sz="1200" dirty="0"/>
          </a:p>
          <a:p>
            <a:pPr marL="0" indent="0" algn="ctr">
              <a:buNone/>
            </a:pPr>
            <a:r>
              <a:rPr lang="en-US" sz="1200" dirty="0">
                <a:solidFill>
                  <a:srgbClr val="B9C4D0"/>
                </a:solidFill>
                <a:latin typeface="Calibri" pitchFamily="34" charset="0"/>
                <a:ea typeface="Calibri" pitchFamily="34" charset="-122"/>
                <a:cs typeface="Calibri" pitchFamily="34" charset="-120"/>
              </a:rPr>
              <a:t>locate affected code,</a:t>
            </a:r>
            <a:endParaRPr lang="en-US" sz="1200" dirty="0"/>
          </a:p>
          <a:p>
            <a:pPr marL="0" indent="0" algn="ctr">
              <a:buNone/>
            </a:pPr>
            <a:r>
              <a:rPr lang="en-US" sz="1200" dirty="0">
                <a:solidFill>
                  <a:srgbClr val="B9C4D0"/>
                </a:solidFill>
                <a:latin typeface="Calibri" pitchFamily="34" charset="0"/>
                <a:ea typeface="Calibri" pitchFamily="34" charset="-122"/>
                <a:cs typeface="Calibri" pitchFamily="34" charset="-120"/>
              </a:rPr>
              <a:t>find relevant files.</a:t>
            </a:r>
            <a:endParaRPr lang="en-US" sz="1200" dirty="0"/>
          </a:p>
        </p:txBody>
      </p:sp>
      <p:pic>
        <p:nvPicPr>
          <p:cNvPr id="13" name="Image 1" descr="preencoded.png"/>
          <p:cNvPicPr>
            <a:picLocks noChangeAspect="1"/>
          </p:cNvPicPr>
          <p:nvPr/>
        </p:nvPicPr>
        <p:blipFill>
          <a:blip r:embed="rId4"/>
          <a:stretch>
            <a:fillRect/>
          </a:stretch>
        </p:blipFill>
        <p:spPr>
          <a:xfrm>
            <a:off x="4206240" y="3794760"/>
            <a:ext cx="457200" cy="457200"/>
          </a:xfrm>
          <a:prstGeom prst="rect">
            <a:avLst/>
          </a:prstGeom>
        </p:spPr>
      </p:pic>
      <p:sp>
        <p:nvSpPr>
          <p:cNvPr id="14" name="Shape 10"/>
          <p:cNvSpPr/>
          <p:nvPr/>
        </p:nvSpPr>
        <p:spPr>
          <a:xfrm>
            <a:off x="4754880" y="2560320"/>
            <a:ext cx="3383280" cy="2926080"/>
          </a:xfrm>
          <a:prstGeom prst="rect">
            <a:avLst/>
          </a:prstGeom>
          <a:solidFill>
            <a:srgbClr val="131820"/>
          </a:solidFill>
          <a:ln w="12700">
            <a:solidFill>
              <a:srgbClr val="2A3441"/>
            </a:solidFill>
            <a:prstDash val="solid"/>
          </a:ln>
        </p:spPr>
        <p:txBody>
          <a:bodyPr/>
          <a:lstStyle/>
          <a:p>
            <a:endParaRPr lang="en-GB"/>
          </a:p>
        </p:txBody>
      </p:sp>
      <p:sp>
        <p:nvSpPr>
          <p:cNvPr id="15" name="Shape 11"/>
          <p:cNvSpPr/>
          <p:nvPr/>
        </p:nvSpPr>
        <p:spPr>
          <a:xfrm>
            <a:off x="5029200" y="2834640"/>
            <a:ext cx="457200" cy="365760"/>
          </a:xfrm>
          <a:prstGeom prst="rect">
            <a:avLst/>
          </a:prstGeom>
          <a:solidFill>
            <a:srgbClr val="FF9E3D"/>
          </a:solidFill>
          <a:ln/>
        </p:spPr>
        <p:txBody>
          <a:bodyPr/>
          <a:lstStyle/>
          <a:p>
            <a:endParaRPr lang="en-GB"/>
          </a:p>
        </p:txBody>
      </p:sp>
      <p:sp>
        <p:nvSpPr>
          <p:cNvPr id="16" name="Text 12"/>
          <p:cNvSpPr/>
          <p:nvPr/>
        </p:nvSpPr>
        <p:spPr>
          <a:xfrm>
            <a:off x="5029200" y="2834640"/>
            <a:ext cx="457200" cy="365760"/>
          </a:xfrm>
          <a:prstGeom prst="rect">
            <a:avLst/>
          </a:prstGeom>
          <a:noFill/>
          <a:ln/>
        </p:spPr>
        <p:txBody>
          <a:bodyPr wrap="square" lIns="0" tIns="0" rIns="0" bIns="0" rtlCol="0" anchor="ctr"/>
          <a:lstStyle/>
          <a:p>
            <a:pPr marL="0" indent="0" algn="ctr">
              <a:buNone/>
            </a:pPr>
            <a:r>
              <a:rPr lang="en-US" sz="1400" b="1" dirty="0">
                <a:solidFill>
                  <a:srgbClr val="0A0E14"/>
                </a:solidFill>
                <a:latin typeface="Consolas" pitchFamily="34" charset="0"/>
                <a:ea typeface="Consolas" pitchFamily="34" charset="-122"/>
                <a:cs typeface="Consolas" pitchFamily="34" charset="-120"/>
              </a:rPr>
              <a:t>02</a:t>
            </a:r>
            <a:endParaRPr lang="en-US" sz="1400" dirty="0"/>
          </a:p>
        </p:txBody>
      </p:sp>
      <p:pic>
        <p:nvPicPr>
          <p:cNvPr id="17" name="Image 2" descr="preencoded.png"/>
          <p:cNvPicPr>
            <a:picLocks noChangeAspect="1"/>
          </p:cNvPicPr>
          <p:nvPr/>
        </p:nvPicPr>
        <p:blipFill>
          <a:blip r:embed="rId5"/>
          <a:stretch>
            <a:fillRect/>
          </a:stretch>
        </p:blipFill>
        <p:spPr>
          <a:xfrm>
            <a:off x="6080760" y="3337560"/>
            <a:ext cx="731520" cy="731520"/>
          </a:xfrm>
          <a:prstGeom prst="rect">
            <a:avLst/>
          </a:prstGeom>
        </p:spPr>
      </p:pic>
      <p:sp>
        <p:nvSpPr>
          <p:cNvPr id="18" name="Text 13"/>
          <p:cNvSpPr/>
          <p:nvPr/>
        </p:nvSpPr>
        <p:spPr>
          <a:xfrm>
            <a:off x="4937760" y="4206240"/>
            <a:ext cx="3017520" cy="365760"/>
          </a:xfrm>
          <a:prstGeom prst="rect">
            <a:avLst/>
          </a:prstGeom>
          <a:noFill/>
          <a:ln/>
        </p:spPr>
        <p:txBody>
          <a:bodyPr wrap="square" lIns="0" tIns="0" rIns="0" bIns="0" rtlCol="0" anchor="ctr"/>
          <a:lstStyle/>
          <a:p>
            <a:pPr marL="0" indent="0" algn="ctr">
              <a:buNone/>
            </a:pPr>
            <a:r>
              <a:rPr lang="en-US" sz="1700" b="1" dirty="0">
                <a:solidFill>
                  <a:srgbClr val="E6EDF3"/>
                </a:solidFill>
                <a:latin typeface="Consolas" pitchFamily="34" charset="0"/>
                <a:ea typeface="Consolas" pitchFamily="34" charset="-122"/>
                <a:cs typeface="Consolas" pitchFamily="34" charset="-120"/>
              </a:rPr>
              <a:t>Formulate a plan</a:t>
            </a:r>
            <a:endParaRPr lang="en-US" sz="1700" dirty="0"/>
          </a:p>
        </p:txBody>
      </p:sp>
      <p:sp>
        <p:nvSpPr>
          <p:cNvPr id="19" name="Text 14"/>
          <p:cNvSpPr/>
          <p:nvPr/>
        </p:nvSpPr>
        <p:spPr>
          <a:xfrm>
            <a:off x="4937760" y="4617720"/>
            <a:ext cx="3017520" cy="777240"/>
          </a:xfrm>
          <a:prstGeom prst="rect">
            <a:avLst/>
          </a:prstGeom>
          <a:noFill/>
          <a:ln/>
        </p:spPr>
        <p:txBody>
          <a:bodyPr wrap="square" lIns="0" tIns="0" rIns="0" bIns="0" rtlCol="0" anchor="ctr"/>
          <a:lstStyle/>
          <a:p>
            <a:pPr marL="0" indent="0" algn="ctr">
              <a:buNone/>
            </a:pPr>
            <a:r>
              <a:rPr lang="en-US" sz="1200" dirty="0">
                <a:solidFill>
                  <a:srgbClr val="B9C4D0"/>
                </a:solidFill>
                <a:latin typeface="Calibri" pitchFamily="34" charset="0"/>
                <a:ea typeface="Calibri" pitchFamily="34" charset="-122"/>
                <a:cs typeface="Calibri" pitchFamily="34" charset="-120"/>
              </a:rPr>
              <a:t>Decide what to change,</a:t>
            </a:r>
            <a:endParaRPr lang="en-US" sz="1200" dirty="0"/>
          </a:p>
          <a:p>
            <a:pPr marL="0" indent="0" algn="ctr">
              <a:buNone/>
            </a:pPr>
            <a:r>
              <a:rPr lang="en-US" sz="1200" dirty="0">
                <a:solidFill>
                  <a:srgbClr val="B9C4D0"/>
                </a:solidFill>
                <a:latin typeface="Calibri" pitchFamily="34" charset="0"/>
                <a:ea typeface="Calibri" pitchFamily="34" charset="-122"/>
                <a:cs typeface="Calibri" pitchFamily="34" charset="-120"/>
              </a:rPr>
              <a:t>what to run,</a:t>
            </a:r>
            <a:endParaRPr lang="en-US" sz="1200" dirty="0"/>
          </a:p>
          <a:p>
            <a:pPr marL="0" indent="0" algn="ctr">
              <a:buNone/>
            </a:pPr>
            <a:r>
              <a:rPr lang="en-US" sz="1200" dirty="0">
                <a:solidFill>
                  <a:srgbClr val="B9C4D0"/>
                </a:solidFill>
                <a:latin typeface="Calibri" pitchFamily="34" charset="0"/>
                <a:ea typeface="Calibri" pitchFamily="34" charset="-122"/>
                <a:cs typeface="Calibri" pitchFamily="34" charset="-120"/>
              </a:rPr>
              <a:t>how to verify.</a:t>
            </a:r>
            <a:endParaRPr lang="en-US" sz="1200" dirty="0"/>
          </a:p>
        </p:txBody>
      </p:sp>
      <p:pic>
        <p:nvPicPr>
          <p:cNvPr id="20" name="Image 3" descr="preencoded.png"/>
          <p:cNvPicPr>
            <a:picLocks noChangeAspect="1"/>
          </p:cNvPicPr>
          <p:nvPr/>
        </p:nvPicPr>
        <p:blipFill>
          <a:blip r:embed="rId4"/>
          <a:stretch>
            <a:fillRect/>
          </a:stretch>
        </p:blipFill>
        <p:spPr>
          <a:xfrm>
            <a:off x="8229600" y="3794760"/>
            <a:ext cx="457200" cy="457200"/>
          </a:xfrm>
          <a:prstGeom prst="rect">
            <a:avLst/>
          </a:prstGeom>
        </p:spPr>
      </p:pic>
      <p:sp>
        <p:nvSpPr>
          <p:cNvPr id="21" name="Shape 15"/>
          <p:cNvSpPr/>
          <p:nvPr/>
        </p:nvSpPr>
        <p:spPr>
          <a:xfrm>
            <a:off x="8778240" y="2560320"/>
            <a:ext cx="3383280" cy="2926080"/>
          </a:xfrm>
          <a:prstGeom prst="rect">
            <a:avLst/>
          </a:prstGeom>
          <a:solidFill>
            <a:srgbClr val="131820"/>
          </a:solidFill>
          <a:ln w="12700">
            <a:solidFill>
              <a:srgbClr val="2A3441"/>
            </a:solidFill>
            <a:prstDash val="solid"/>
          </a:ln>
        </p:spPr>
        <p:txBody>
          <a:bodyPr/>
          <a:lstStyle/>
          <a:p>
            <a:endParaRPr lang="en-GB"/>
          </a:p>
        </p:txBody>
      </p:sp>
      <p:sp>
        <p:nvSpPr>
          <p:cNvPr id="22" name="Shape 16"/>
          <p:cNvSpPr/>
          <p:nvPr/>
        </p:nvSpPr>
        <p:spPr>
          <a:xfrm>
            <a:off x="9052560" y="2834640"/>
            <a:ext cx="457200" cy="365760"/>
          </a:xfrm>
          <a:prstGeom prst="rect">
            <a:avLst/>
          </a:prstGeom>
          <a:solidFill>
            <a:srgbClr val="FF9E3D"/>
          </a:solidFill>
          <a:ln/>
        </p:spPr>
        <p:txBody>
          <a:bodyPr/>
          <a:lstStyle/>
          <a:p>
            <a:endParaRPr lang="en-GB"/>
          </a:p>
        </p:txBody>
      </p:sp>
      <p:sp>
        <p:nvSpPr>
          <p:cNvPr id="23" name="Text 17"/>
          <p:cNvSpPr/>
          <p:nvPr/>
        </p:nvSpPr>
        <p:spPr>
          <a:xfrm>
            <a:off x="9052560" y="2834640"/>
            <a:ext cx="457200" cy="365760"/>
          </a:xfrm>
          <a:prstGeom prst="rect">
            <a:avLst/>
          </a:prstGeom>
          <a:noFill/>
          <a:ln/>
        </p:spPr>
        <p:txBody>
          <a:bodyPr wrap="square" lIns="0" tIns="0" rIns="0" bIns="0" rtlCol="0" anchor="ctr"/>
          <a:lstStyle/>
          <a:p>
            <a:pPr marL="0" indent="0" algn="ctr">
              <a:buNone/>
            </a:pPr>
            <a:r>
              <a:rPr lang="en-US" sz="1400" b="1" dirty="0">
                <a:solidFill>
                  <a:srgbClr val="0A0E14"/>
                </a:solidFill>
                <a:latin typeface="Consolas" pitchFamily="34" charset="0"/>
                <a:ea typeface="Consolas" pitchFamily="34" charset="-122"/>
                <a:cs typeface="Consolas" pitchFamily="34" charset="-120"/>
              </a:rPr>
              <a:t>03</a:t>
            </a:r>
            <a:endParaRPr lang="en-US" sz="1400" dirty="0"/>
          </a:p>
        </p:txBody>
      </p:sp>
      <p:pic>
        <p:nvPicPr>
          <p:cNvPr id="24" name="Image 4" descr="preencoded.png"/>
          <p:cNvPicPr>
            <a:picLocks noChangeAspect="1"/>
          </p:cNvPicPr>
          <p:nvPr/>
        </p:nvPicPr>
        <p:blipFill>
          <a:blip r:embed="rId6"/>
          <a:stretch>
            <a:fillRect/>
          </a:stretch>
        </p:blipFill>
        <p:spPr>
          <a:xfrm>
            <a:off x="10104120" y="3337560"/>
            <a:ext cx="731520" cy="731520"/>
          </a:xfrm>
          <a:prstGeom prst="rect">
            <a:avLst/>
          </a:prstGeom>
        </p:spPr>
      </p:pic>
      <p:sp>
        <p:nvSpPr>
          <p:cNvPr id="25" name="Text 18"/>
          <p:cNvSpPr/>
          <p:nvPr/>
        </p:nvSpPr>
        <p:spPr>
          <a:xfrm>
            <a:off x="8961120" y="4206240"/>
            <a:ext cx="3017520" cy="365760"/>
          </a:xfrm>
          <a:prstGeom prst="rect">
            <a:avLst/>
          </a:prstGeom>
          <a:noFill/>
          <a:ln/>
        </p:spPr>
        <p:txBody>
          <a:bodyPr wrap="square" lIns="0" tIns="0" rIns="0" bIns="0" rtlCol="0" anchor="ctr"/>
          <a:lstStyle/>
          <a:p>
            <a:pPr marL="0" indent="0" algn="ctr">
              <a:buNone/>
            </a:pPr>
            <a:r>
              <a:rPr lang="en-US" sz="1700" b="1" dirty="0">
                <a:solidFill>
                  <a:srgbClr val="E6EDF3"/>
                </a:solidFill>
                <a:latin typeface="Consolas" pitchFamily="34" charset="0"/>
                <a:ea typeface="Consolas" pitchFamily="34" charset="-122"/>
                <a:cs typeface="Consolas" pitchFamily="34" charset="-120"/>
              </a:rPr>
              <a:t>Take action</a:t>
            </a:r>
            <a:endParaRPr lang="en-US" sz="1700" dirty="0"/>
          </a:p>
        </p:txBody>
      </p:sp>
      <p:sp>
        <p:nvSpPr>
          <p:cNvPr id="26" name="Text 19"/>
          <p:cNvSpPr/>
          <p:nvPr/>
        </p:nvSpPr>
        <p:spPr>
          <a:xfrm>
            <a:off x="8961120" y="4617720"/>
            <a:ext cx="3017520" cy="777240"/>
          </a:xfrm>
          <a:prstGeom prst="rect">
            <a:avLst/>
          </a:prstGeom>
          <a:noFill/>
          <a:ln/>
        </p:spPr>
        <p:txBody>
          <a:bodyPr wrap="square" lIns="0" tIns="0" rIns="0" bIns="0" rtlCol="0" anchor="ctr"/>
          <a:lstStyle/>
          <a:p>
            <a:pPr marL="0" indent="0" algn="ctr">
              <a:buNone/>
            </a:pPr>
            <a:r>
              <a:rPr lang="en-US" sz="1200" dirty="0">
                <a:solidFill>
                  <a:srgbClr val="B9C4D0"/>
                </a:solidFill>
                <a:latin typeface="Calibri" pitchFamily="34" charset="0"/>
                <a:ea typeface="Calibri" pitchFamily="34" charset="-122"/>
                <a:cs typeface="Calibri" pitchFamily="34" charset="-120"/>
              </a:rPr>
              <a:t>Edit files,</a:t>
            </a:r>
            <a:endParaRPr lang="en-US" sz="1200" dirty="0"/>
          </a:p>
          <a:p>
            <a:pPr marL="0" indent="0" algn="ctr">
              <a:buNone/>
            </a:pPr>
            <a:r>
              <a:rPr lang="en-US" sz="1200" dirty="0">
                <a:solidFill>
                  <a:srgbClr val="B9C4D0"/>
                </a:solidFill>
                <a:latin typeface="Calibri" pitchFamily="34" charset="0"/>
                <a:ea typeface="Calibri" pitchFamily="34" charset="-122"/>
                <a:cs typeface="Calibri" pitchFamily="34" charset="-120"/>
              </a:rPr>
              <a:t>run commands,</a:t>
            </a:r>
            <a:endParaRPr lang="en-US" sz="1200" dirty="0"/>
          </a:p>
          <a:p>
            <a:pPr marL="0" indent="0" algn="ctr">
              <a:buNone/>
            </a:pPr>
            <a:r>
              <a:rPr lang="en-US" sz="1200" dirty="0">
                <a:solidFill>
                  <a:srgbClr val="B9C4D0"/>
                </a:solidFill>
                <a:latin typeface="Calibri" pitchFamily="34" charset="0"/>
                <a:ea typeface="Calibri" pitchFamily="34" charset="-122"/>
                <a:cs typeface="Calibri" pitchFamily="34" charset="-120"/>
              </a:rPr>
              <a:t>verify the result.</a:t>
            </a:r>
            <a:endParaRPr lang="en-US" sz="1200" dirty="0"/>
          </a:p>
        </p:txBody>
      </p:sp>
      <p:sp>
        <p:nvSpPr>
          <p:cNvPr id="27" name="Text 20"/>
          <p:cNvSpPr/>
          <p:nvPr/>
        </p:nvSpPr>
        <p:spPr>
          <a:xfrm>
            <a:off x="731520" y="5760720"/>
            <a:ext cx="10972800" cy="365760"/>
          </a:xfrm>
          <a:prstGeom prst="rect">
            <a:avLst/>
          </a:prstGeom>
          <a:noFill/>
          <a:ln/>
        </p:spPr>
        <p:txBody>
          <a:bodyPr wrap="square" lIns="0" tIns="0" rIns="0" bIns="0" rtlCol="0" anchor="ctr"/>
          <a:lstStyle/>
          <a:p>
            <a:pPr marL="0" indent="0">
              <a:buNone/>
            </a:pPr>
            <a:r>
              <a:rPr lang="en-US" sz="1300" i="1" dirty="0">
                <a:solidFill>
                  <a:srgbClr val="6B7785"/>
                </a:solidFill>
                <a:latin typeface="Calibri" pitchFamily="34" charset="0"/>
                <a:ea typeface="Calibri" pitchFamily="34" charset="-122"/>
                <a:cs typeface="Calibri" pitchFamily="34" charset="-120"/>
              </a:rPr>
              <a:t>The first and last steps require interacting with the outside world — reading files, fetching docs, running commands.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section_1/tool_use_challenge.md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04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The tool use challenge</a:t>
            </a:r>
            <a:endParaRPr lang="en-US" sz="3000" dirty="0"/>
          </a:p>
        </p:txBody>
      </p:sp>
      <p:sp>
        <p:nvSpPr>
          <p:cNvPr id="6" name="Shape 4"/>
          <p:cNvSpPr/>
          <p:nvPr/>
        </p:nvSpPr>
        <p:spPr>
          <a:xfrm>
            <a:off x="731520" y="1554480"/>
            <a:ext cx="5349240" cy="4480560"/>
          </a:xfrm>
          <a:prstGeom prst="rect">
            <a:avLst/>
          </a:prstGeom>
          <a:solidFill>
            <a:srgbClr val="131820"/>
          </a:solidFill>
          <a:ln w="12700">
            <a:solidFill>
              <a:srgbClr val="2A3441"/>
            </a:solidFill>
            <a:prstDash val="solid"/>
          </a:ln>
        </p:spPr>
        <p:txBody>
          <a:bodyPr/>
          <a:lstStyle/>
          <a:p>
            <a:endParaRPr lang="en-GB"/>
          </a:p>
        </p:txBody>
      </p:sp>
      <p:sp>
        <p:nvSpPr>
          <p:cNvPr id="7" name="Shape 5"/>
          <p:cNvSpPr/>
          <p:nvPr/>
        </p:nvSpPr>
        <p:spPr>
          <a:xfrm>
            <a:off x="731520" y="1554480"/>
            <a:ext cx="5349240" cy="457200"/>
          </a:xfrm>
          <a:prstGeom prst="rect">
            <a:avLst/>
          </a:prstGeom>
          <a:solidFill>
            <a:srgbClr val="F87171"/>
          </a:solidFill>
          <a:ln/>
        </p:spPr>
        <p:txBody>
          <a:bodyPr/>
          <a:lstStyle/>
          <a:p>
            <a:endParaRPr lang="en-GB"/>
          </a:p>
        </p:txBody>
      </p:sp>
      <p:pic>
        <p:nvPicPr>
          <p:cNvPr id="8" name="Image 0" descr="preencoded.png"/>
          <p:cNvPicPr>
            <a:picLocks noChangeAspect="1"/>
          </p:cNvPicPr>
          <p:nvPr/>
        </p:nvPicPr>
        <p:blipFill>
          <a:blip r:embed="rId3"/>
          <a:stretch>
            <a:fillRect/>
          </a:stretch>
        </p:blipFill>
        <p:spPr>
          <a:xfrm>
            <a:off x="914400" y="1645920"/>
            <a:ext cx="274320" cy="274320"/>
          </a:xfrm>
          <a:prstGeom prst="rect">
            <a:avLst/>
          </a:prstGeom>
        </p:spPr>
      </p:pic>
      <p:sp>
        <p:nvSpPr>
          <p:cNvPr id="9" name="Text 6"/>
          <p:cNvSpPr/>
          <p:nvPr/>
        </p:nvSpPr>
        <p:spPr>
          <a:xfrm>
            <a:off x="1325880" y="1600200"/>
            <a:ext cx="4572000" cy="365760"/>
          </a:xfrm>
          <a:prstGeom prst="rect">
            <a:avLst/>
          </a:prstGeom>
          <a:noFill/>
          <a:ln/>
        </p:spPr>
        <p:txBody>
          <a:bodyPr wrap="square" lIns="0" tIns="0" rIns="0" bIns="0" rtlCol="0" anchor="ctr"/>
          <a:lstStyle/>
          <a:p>
            <a:pPr marL="0" indent="0">
              <a:buNone/>
            </a:pPr>
            <a:r>
              <a:rPr lang="en-US" sz="1700" b="1" dirty="0">
                <a:solidFill>
                  <a:srgbClr val="0A0E14"/>
                </a:solidFill>
                <a:latin typeface="Consolas" pitchFamily="34" charset="0"/>
                <a:ea typeface="Consolas" pitchFamily="34" charset="-122"/>
                <a:cs typeface="Consolas" pitchFamily="34" charset="-120"/>
              </a:rPr>
              <a:t>The problem</a:t>
            </a:r>
            <a:endParaRPr lang="en-US" sz="1700" dirty="0"/>
          </a:p>
        </p:txBody>
      </p:sp>
      <p:sp>
        <p:nvSpPr>
          <p:cNvPr id="10" name="Text 7"/>
          <p:cNvSpPr/>
          <p:nvPr/>
        </p:nvSpPr>
        <p:spPr>
          <a:xfrm>
            <a:off x="1005840" y="2240280"/>
            <a:ext cx="4937760" cy="548640"/>
          </a:xfrm>
          <a:prstGeom prst="rect">
            <a:avLst/>
          </a:prstGeom>
          <a:noFill/>
          <a:ln/>
        </p:spPr>
        <p:txBody>
          <a:bodyPr wrap="square" lIns="0" tIns="0" rIns="0" bIns="0" rtlCol="0" anchor="ctr"/>
          <a:lstStyle/>
          <a:p>
            <a:pPr marL="0" indent="0">
              <a:buNone/>
            </a:pPr>
            <a:r>
              <a:rPr lang="en-US" sz="1600" b="1" dirty="0">
                <a:solidFill>
                  <a:srgbClr val="E6EDF3"/>
                </a:solidFill>
                <a:latin typeface="Calibri" pitchFamily="34" charset="0"/>
                <a:ea typeface="Calibri" pitchFamily="34" charset="-122"/>
                <a:cs typeface="Calibri" pitchFamily="34" charset="-120"/>
              </a:rPr>
              <a:t>Language models can only process text and return text.</a:t>
            </a:r>
            <a:endParaRPr lang="en-US" sz="1600" dirty="0"/>
          </a:p>
        </p:txBody>
      </p:sp>
      <p:sp>
        <p:nvSpPr>
          <p:cNvPr id="11" name="Text 8"/>
          <p:cNvSpPr/>
          <p:nvPr/>
        </p:nvSpPr>
        <p:spPr>
          <a:xfrm>
            <a:off x="1005840" y="2834640"/>
            <a:ext cx="4937760" cy="73152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They can't read files. They can't run commands. They can't edit code.</a:t>
            </a:r>
            <a:endParaRPr lang="en-US" sz="1400" dirty="0"/>
          </a:p>
        </p:txBody>
      </p:sp>
      <p:sp>
        <p:nvSpPr>
          <p:cNvPr id="12" name="Shape 9"/>
          <p:cNvSpPr/>
          <p:nvPr/>
        </p:nvSpPr>
        <p:spPr>
          <a:xfrm>
            <a:off x="1005840" y="3749040"/>
            <a:ext cx="4937760" cy="2103120"/>
          </a:xfrm>
          <a:prstGeom prst="rect">
            <a:avLst/>
          </a:prstGeom>
          <a:solidFill>
            <a:srgbClr val="1A2030"/>
          </a:solidFill>
          <a:ln w="12700">
            <a:solidFill>
              <a:srgbClr val="2A3441"/>
            </a:solidFill>
            <a:prstDash val="solid"/>
          </a:ln>
        </p:spPr>
        <p:txBody>
          <a:bodyPr/>
          <a:lstStyle/>
          <a:p>
            <a:endParaRPr lang="en-GB"/>
          </a:p>
        </p:txBody>
      </p:sp>
      <p:sp>
        <p:nvSpPr>
          <p:cNvPr id="13" name="Text 10"/>
          <p:cNvSpPr/>
          <p:nvPr/>
        </p:nvSpPr>
        <p:spPr>
          <a:xfrm>
            <a:off x="1188720" y="3886200"/>
            <a:ext cx="4572000" cy="1828800"/>
          </a:xfrm>
          <a:prstGeom prst="rect">
            <a:avLst/>
          </a:prstGeom>
          <a:noFill/>
          <a:ln/>
        </p:spPr>
        <p:txBody>
          <a:bodyPr wrap="square" lIns="0" tIns="0" rIns="0" bIns="0" rtlCol="0" anchor="t"/>
          <a:lstStyle/>
          <a:p>
            <a:pPr marL="0" indent="0">
              <a:buNone/>
            </a:pPr>
            <a:r>
              <a:rPr lang="en-US" sz="1200" dirty="0">
                <a:solidFill>
                  <a:srgbClr val="5EB3F5"/>
                </a:solidFill>
                <a:latin typeface="Consolas" pitchFamily="34" charset="0"/>
                <a:ea typeface="Consolas" pitchFamily="34" charset="-122"/>
                <a:cs typeface="Consolas" pitchFamily="34" charset="-120"/>
              </a:rPr>
              <a:t>&gt; read main.go</a:t>
            </a:r>
            <a:endParaRPr lang="en-US" sz="1200" dirty="0"/>
          </a:p>
          <a:p>
            <a:pPr marL="0" indent="0">
              <a:buNone/>
            </a:pPr>
            <a:endParaRPr lang="en-US" sz="1200" dirty="0"/>
          </a:p>
          <a:p>
            <a:pPr marL="0" indent="0">
              <a:buNone/>
            </a:pPr>
            <a:r>
              <a:rPr lang="en-US" sz="1200" dirty="0">
                <a:solidFill>
                  <a:srgbClr val="F87171"/>
                </a:solidFill>
                <a:latin typeface="Consolas" pitchFamily="34" charset="0"/>
                <a:ea typeface="Consolas" pitchFamily="34" charset="-122"/>
                <a:cs typeface="Consolas" pitchFamily="34" charset="-120"/>
              </a:rPr>
              <a:t>I'm sorry — I don't have</a:t>
            </a:r>
            <a:endParaRPr lang="en-US" sz="1200" dirty="0"/>
          </a:p>
          <a:p>
            <a:pPr marL="0" indent="0">
              <a:buNone/>
            </a:pPr>
            <a:r>
              <a:rPr lang="en-US" sz="1200" dirty="0">
                <a:solidFill>
                  <a:srgbClr val="F87171"/>
                </a:solidFill>
                <a:latin typeface="Consolas" pitchFamily="34" charset="0"/>
                <a:ea typeface="Consolas" pitchFamily="34" charset="-122"/>
                <a:cs typeface="Consolas" pitchFamily="34" charset="-120"/>
              </a:rPr>
              <a:t>the ability to access files</a:t>
            </a:r>
            <a:endParaRPr lang="en-US" sz="1200" dirty="0"/>
          </a:p>
          <a:p>
            <a:pPr marL="0" indent="0">
              <a:buNone/>
            </a:pPr>
            <a:r>
              <a:rPr lang="en-US" sz="1200" dirty="0">
                <a:solidFill>
                  <a:srgbClr val="F87171"/>
                </a:solidFill>
                <a:latin typeface="Consolas" pitchFamily="34" charset="0"/>
                <a:ea typeface="Consolas" pitchFamily="34" charset="-122"/>
                <a:cs typeface="Consolas" pitchFamily="34" charset="-120"/>
              </a:rPr>
              <a:t>on your system.</a:t>
            </a:r>
            <a:endParaRPr lang="en-US" sz="1200" dirty="0"/>
          </a:p>
        </p:txBody>
      </p:sp>
      <p:sp>
        <p:nvSpPr>
          <p:cNvPr id="14" name="Shape 11"/>
          <p:cNvSpPr/>
          <p:nvPr/>
        </p:nvSpPr>
        <p:spPr>
          <a:xfrm>
            <a:off x="6309360" y="1554480"/>
            <a:ext cx="5349240" cy="4480560"/>
          </a:xfrm>
          <a:prstGeom prst="rect">
            <a:avLst/>
          </a:prstGeom>
          <a:solidFill>
            <a:srgbClr val="131820"/>
          </a:solidFill>
          <a:ln w="12700">
            <a:solidFill>
              <a:srgbClr val="2A3441"/>
            </a:solidFill>
            <a:prstDash val="solid"/>
          </a:ln>
        </p:spPr>
        <p:txBody>
          <a:bodyPr/>
          <a:lstStyle/>
          <a:p>
            <a:endParaRPr lang="en-GB"/>
          </a:p>
        </p:txBody>
      </p:sp>
      <p:sp>
        <p:nvSpPr>
          <p:cNvPr id="15" name="Shape 12"/>
          <p:cNvSpPr/>
          <p:nvPr/>
        </p:nvSpPr>
        <p:spPr>
          <a:xfrm>
            <a:off x="6309360" y="1554480"/>
            <a:ext cx="5349240" cy="457200"/>
          </a:xfrm>
          <a:prstGeom prst="rect">
            <a:avLst/>
          </a:prstGeom>
          <a:solidFill>
            <a:srgbClr val="8AE65C"/>
          </a:solidFill>
          <a:ln/>
        </p:spPr>
        <p:txBody>
          <a:bodyPr/>
          <a:lstStyle/>
          <a:p>
            <a:endParaRPr lang="en-GB"/>
          </a:p>
        </p:txBody>
      </p:sp>
      <p:pic>
        <p:nvPicPr>
          <p:cNvPr id="16" name="Image 1" descr="preencoded.png"/>
          <p:cNvPicPr>
            <a:picLocks noChangeAspect="1"/>
          </p:cNvPicPr>
          <p:nvPr/>
        </p:nvPicPr>
        <p:blipFill>
          <a:blip r:embed="rId4"/>
          <a:stretch>
            <a:fillRect/>
          </a:stretch>
        </p:blipFill>
        <p:spPr>
          <a:xfrm>
            <a:off x="6492240" y="1645920"/>
            <a:ext cx="274320" cy="274320"/>
          </a:xfrm>
          <a:prstGeom prst="rect">
            <a:avLst/>
          </a:prstGeom>
        </p:spPr>
      </p:pic>
      <p:sp>
        <p:nvSpPr>
          <p:cNvPr id="17" name="Text 13"/>
          <p:cNvSpPr/>
          <p:nvPr/>
        </p:nvSpPr>
        <p:spPr>
          <a:xfrm>
            <a:off x="6903720" y="1600200"/>
            <a:ext cx="4754880" cy="365760"/>
          </a:xfrm>
          <a:prstGeom prst="rect">
            <a:avLst/>
          </a:prstGeom>
          <a:noFill/>
          <a:ln/>
        </p:spPr>
        <p:txBody>
          <a:bodyPr wrap="square" lIns="0" tIns="0" rIns="0" bIns="0" rtlCol="0" anchor="ctr"/>
          <a:lstStyle/>
          <a:p>
            <a:pPr marL="0" indent="0">
              <a:buNone/>
            </a:pPr>
            <a:r>
              <a:rPr lang="en-US" sz="1700" b="1" dirty="0">
                <a:solidFill>
                  <a:srgbClr val="0A0E14"/>
                </a:solidFill>
                <a:latin typeface="Consolas" pitchFamily="34" charset="0"/>
                <a:ea typeface="Consolas" pitchFamily="34" charset="-122"/>
                <a:cs typeface="Consolas" pitchFamily="34" charset="-120"/>
              </a:rPr>
              <a:t>The solution: tool use</a:t>
            </a:r>
            <a:endParaRPr lang="en-US" sz="1700" dirty="0"/>
          </a:p>
        </p:txBody>
      </p:sp>
      <p:sp>
        <p:nvSpPr>
          <p:cNvPr id="18" name="Text 14"/>
          <p:cNvSpPr/>
          <p:nvPr/>
        </p:nvSpPr>
        <p:spPr>
          <a:xfrm>
            <a:off x="6583680" y="2240280"/>
            <a:ext cx="4846320" cy="548640"/>
          </a:xfrm>
          <a:prstGeom prst="rect">
            <a:avLst/>
          </a:prstGeom>
          <a:noFill/>
          <a:ln/>
        </p:spPr>
        <p:txBody>
          <a:bodyPr wrap="square" lIns="0" tIns="0" rIns="0" bIns="0" rtlCol="0" anchor="ctr"/>
          <a:lstStyle/>
          <a:p>
            <a:pPr marL="0" indent="0">
              <a:buNone/>
            </a:pPr>
            <a:r>
              <a:rPr lang="en-US" sz="1600" b="1" dirty="0">
                <a:solidFill>
                  <a:srgbClr val="E6EDF3"/>
                </a:solidFill>
                <a:latin typeface="Calibri" pitchFamily="34" charset="0"/>
                <a:ea typeface="Calibri" pitchFamily="34" charset="-122"/>
                <a:cs typeface="Calibri" pitchFamily="34" charset="-120"/>
              </a:rPr>
              <a:t>The assistant injects instructions teaching the model how to request actions.</a:t>
            </a:r>
            <a:endParaRPr lang="en-US" sz="1600" dirty="0"/>
          </a:p>
        </p:txBody>
      </p:sp>
      <p:sp>
        <p:nvSpPr>
          <p:cNvPr id="19" name="Text 15"/>
          <p:cNvSpPr/>
          <p:nvPr/>
        </p:nvSpPr>
        <p:spPr>
          <a:xfrm>
            <a:off x="6583680" y="2834640"/>
            <a:ext cx="4846320" cy="82296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It tells the model: "If you need to read a file, respond with ReadFile: &lt;filename&gt;."</a:t>
            </a:r>
            <a:endParaRPr lang="en-US" sz="1400" dirty="0"/>
          </a:p>
        </p:txBody>
      </p:sp>
      <p:sp>
        <p:nvSpPr>
          <p:cNvPr id="20" name="Shape 16"/>
          <p:cNvSpPr/>
          <p:nvPr/>
        </p:nvSpPr>
        <p:spPr>
          <a:xfrm>
            <a:off x="6583680" y="3749040"/>
            <a:ext cx="4937760" cy="2103120"/>
          </a:xfrm>
          <a:prstGeom prst="rect">
            <a:avLst/>
          </a:prstGeom>
          <a:solidFill>
            <a:srgbClr val="1A2030"/>
          </a:solidFill>
          <a:ln w="12700">
            <a:solidFill>
              <a:srgbClr val="2A3441"/>
            </a:solidFill>
            <a:prstDash val="solid"/>
          </a:ln>
        </p:spPr>
        <p:txBody>
          <a:bodyPr/>
          <a:lstStyle/>
          <a:p>
            <a:endParaRPr lang="en-GB"/>
          </a:p>
        </p:txBody>
      </p:sp>
      <p:sp>
        <p:nvSpPr>
          <p:cNvPr id="21" name="Text 17"/>
          <p:cNvSpPr/>
          <p:nvPr/>
        </p:nvSpPr>
        <p:spPr>
          <a:xfrm>
            <a:off x="6766560" y="3886200"/>
            <a:ext cx="4572000" cy="1828800"/>
          </a:xfrm>
          <a:prstGeom prst="rect">
            <a:avLst/>
          </a:prstGeom>
          <a:noFill/>
          <a:ln/>
        </p:spPr>
        <p:txBody>
          <a:bodyPr wrap="square" lIns="0" tIns="0" rIns="0" bIns="0" rtlCol="0" anchor="t"/>
          <a:lstStyle/>
          <a:p>
            <a:pPr marL="0" indent="0">
              <a:buNone/>
            </a:pPr>
            <a:r>
              <a:rPr lang="en-US" sz="1200" dirty="0">
                <a:solidFill>
                  <a:srgbClr val="5EB3F5"/>
                </a:solidFill>
                <a:latin typeface="Consolas" pitchFamily="34" charset="0"/>
                <a:ea typeface="Consolas" pitchFamily="34" charset="-122"/>
                <a:cs typeface="Consolas" pitchFamily="34" charset="-120"/>
              </a:rPr>
              <a:t>&gt; read main.go</a:t>
            </a:r>
            <a:endParaRPr lang="en-US" sz="1200" dirty="0"/>
          </a:p>
          <a:p>
            <a:pPr marL="0" indent="0">
              <a:buNone/>
            </a:pPr>
            <a:endParaRPr lang="en-US" sz="1200" dirty="0"/>
          </a:p>
          <a:p>
            <a:pPr marL="0" indent="0">
              <a:buNone/>
            </a:pPr>
            <a:r>
              <a:rPr lang="en-US" sz="1200" dirty="0">
                <a:solidFill>
                  <a:srgbClr val="8AE65C"/>
                </a:solidFill>
                <a:latin typeface="Consolas" pitchFamily="34" charset="0"/>
                <a:ea typeface="Consolas" pitchFamily="34" charset="-122"/>
                <a:cs typeface="Consolas" pitchFamily="34" charset="-120"/>
              </a:rPr>
              <a:t>ReadFile: main.go</a:t>
            </a:r>
            <a:endParaRPr lang="en-US" sz="1200" dirty="0"/>
          </a:p>
          <a:p>
            <a:pPr marL="0" indent="0">
              <a:buNone/>
            </a:pPr>
            <a:endParaRPr lang="en-US" sz="1200" dirty="0"/>
          </a:p>
          <a:p>
            <a:pPr marL="0" indent="0">
              <a:buNone/>
            </a:pPr>
            <a:r>
              <a:rPr lang="en-US" sz="1200" i="1" dirty="0">
                <a:solidFill>
                  <a:srgbClr val="6B7785"/>
                </a:solidFill>
                <a:latin typeface="Consolas" pitchFamily="34" charset="0"/>
                <a:ea typeface="Consolas" pitchFamily="34" charset="-122"/>
                <a:cs typeface="Consolas" pitchFamily="34" charset="-120"/>
              </a:rPr>
              <a:t>[file contents returned]</a:t>
            </a:r>
            <a:endParaRPr lang="en-US" sz="1200" dirty="0"/>
          </a:p>
          <a:p>
            <a:pPr marL="0" indent="0">
              <a:buNone/>
            </a:pPr>
            <a:r>
              <a:rPr lang="en-US" sz="1200" dirty="0">
                <a:solidFill>
                  <a:srgbClr val="FF9E3D"/>
                </a:solidFill>
                <a:latin typeface="Consolas" pitchFamily="34" charset="0"/>
                <a:ea typeface="Consolas" pitchFamily="34" charset="-122"/>
                <a:cs typeface="Consolas" pitchFamily="34" charset="-120"/>
              </a:rPr>
              <a:t>→ Final answer follows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section_1/tool_use_flow.md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05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How tool use works — the flow</a:t>
            </a:r>
            <a:endParaRPr lang="en-US" sz="3000" dirty="0"/>
          </a:p>
        </p:txBody>
      </p:sp>
      <p:sp>
        <p:nvSpPr>
          <p:cNvPr id="6" name="Shape 4"/>
          <p:cNvSpPr/>
          <p:nvPr/>
        </p:nvSpPr>
        <p:spPr>
          <a:xfrm>
            <a:off x="609448" y="1828800"/>
            <a:ext cx="2011680" cy="1828800"/>
          </a:xfrm>
          <a:prstGeom prst="rect">
            <a:avLst/>
          </a:prstGeom>
          <a:solidFill>
            <a:srgbClr val="131820"/>
          </a:solidFill>
          <a:ln w="25400">
            <a:solidFill>
              <a:srgbClr val="5EB3F5"/>
            </a:solidFill>
            <a:prstDash val="solid"/>
          </a:ln>
        </p:spPr>
        <p:txBody>
          <a:bodyPr/>
          <a:lstStyle/>
          <a:p>
            <a:endParaRPr lang="en-GB"/>
          </a:p>
        </p:txBody>
      </p:sp>
      <p:sp>
        <p:nvSpPr>
          <p:cNvPr id="7" name="Shape 5"/>
          <p:cNvSpPr/>
          <p:nvPr/>
        </p:nvSpPr>
        <p:spPr>
          <a:xfrm>
            <a:off x="1386688" y="1600200"/>
            <a:ext cx="457200" cy="457200"/>
          </a:xfrm>
          <a:prstGeom prst="ellipse">
            <a:avLst/>
          </a:prstGeom>
          <a:solidFill>
            <a:srgbClr val="5EB3F5"/>
          </a:solidFill>
          <a:ln/>
        </p:spPr>
        <p:txBody>
          <a:bodyPr/>
          <a:lstStyle/>
          <a:p>
            <a:endParaRPr lang="en-GB"/>
          </a:p>
        </p:txBody>
      </p:sp>
      <p:sp>
        <p:nvSpPr>
          <p:cNvPr id="8" name="Text 6"/>
          <p:cNvSpPr/>
          <p:nvPr/>
        </p:nvSpPr>
        <p:spPr>
          <a:xfrm>
            <a:off x="1386688" y="1600200"/>
            <a:ext cx="457200" cy="457200"/>
          </a:xfrm>
          <a:prstGeom prst="rect">
            <a:avLst/>
          </a:prstGeom>
          <a:noFill/>
          <a:ln/>
        </p:spPr>
        <p:txBody>
          <a:bodyPr wrap="square" lIns="0" tIns="0" rIns="0" bIns="0" rtlCol="0" anchor="ctr"/>
          <a:lstStyle/>
          <a:p>
            <a:pPr marL="0" indent="0" algn="ctr">
              <a:buNone/>
            </a:pPr>
            <a:r>
              <a:rPr lang="en-US" sz="1600" b="1" dirty="0">
                <a:solidFill>
                  <a:srgbClr val="0A0E14"/>
                </a:solidFill>
                <a:latin typeface="Consolas" pitchFamily="34" charset="0"/>
                <a:ea typeface="Consolas" pitchFamily="34" charset="-122"/>
                <a:cs typeface="Consolas" pitchFamily="34" charset="-120"/>
              </a:rPr>
              <a:t>1</a:t>
            </a:r>
            <a:endParaRPr lang="en-US" sz="1600" dirty="0"/>
          </a:p>
        </p:txBody>
      </p:sp>
      <p:sp>
        <p:nvSpPr>
          <p:cNvPr id="9" name="Text 7"/>
          <p:cNvSpPr/>
          <p:nvPr/>
        </p:nvSpPr>
        <p:spPr>
          <a:xfrm>
            <a:off x="700888" y="2148840"/>
            <a:ext cx="1828800" cy="457200"/>
          </a:xfrm>
          <a:prstGeom prst="rect">
            <a:avLst/>
          </a:prstGeom>
          <a:noFill/>
          <a:ln/>
        </p:spPr>
        <p:txBody>
          <a:bodyPr wrap="square" lIns="0" tIns="0" rIns="0" bIns="0" rtlCol="0" anchor="ctr"/>
          <a:lstStyle/>
          <a:p>
            <a:pPr marL="0" indent="0" algn="ctr">
              <a:buNone/>
            </a:pPr>
            <a:r>
              <a:rPr lang="en-US" sz="1400" b="1" dirty="0">
                <a:solidFill>
                  <a:srgbClr val="E6EDF3"/>
                </a:solidFill>
                <a:latin typeface="Consolas" pitchFamily="34" charset="0"/>
                <a:ea typeface="Consolas" pitchFamily="34" charset="-122"/>
                <a:cs typeface="Consolas" pitchFamily="34" charset="-120"/>
              </a:rPr>
              <a:t>User asks</a:t>
            </a:r>
            <a:endParaRPr lang="en-US" sz="1400" dirty="0"/>
          </a:p>
        </p:txBody>
      </p:sp>
      <p:sp>
        <p:nvSpPr>
          <p:cNvPr id="10" name="Text 8"/>
          <p:cNvSpPr/>
          <p:nvPr/>
        </p:nvSpPr>
        <p:spPr>
          <a:xfrm>
            <a:off x="700888" y="2697480"/>
            <a:ext cx="1828800" cy="914400"/>
          </a:xfrm>
          <a:prstGeom prst="rect">
            <a:avLst/>
          </a:prstGeom>
          <a:noFill/>
          <a:ln/>
        </p:spPr>
        <p:txBody>
          <a:bodyPr wrap="square" lIns="0" tIns="0" rIns="0" bIns="0" rtlCol="0" anchor="ctr"/>
          <a:lstStyle/>
          <a:p>
            <a:pPr marL="0" indent="0" algn="ctr">
              <a:buNone/>
            </a:pPr>
            <a:r>
              <a:rPr lang="en-US" sz="1200" dirty="0">
                <a:solidFill>
                  <a:srgbClr val="B9C4D0"/>
                </a:solidFill>
                <a:latin typeface="Consolas" pitchFamily="34" charset="0"/>
                <a:ea typeface="Consolas" pitchFamily="34" charset="-122"/>
                <a:cs typeface="Consolas" pitchFamily="34" charset="-120"/>
              </a:rPr>
              <a:t>"What's in</a:t>
            </a:r>
            <a:endParaRPr lang="en-US" sz="1200" dirty="0"/>
          </a:p>
          <a:p>
            <a:pPr marL="0" indent="0" algn="ctr">
              <a:buNone/>
            </a:pPr>
            <a:r>
              <a:rPr lang="en-US" sz="1200" dirty="0">
                <a:solidFill>
                  <a:srgbClr val="B9C4D0"/>
                </a:solidFill>
                <a:latin typeface="Consolas" pitchFamily="34" charset="0"/>
                <a:ea typeface="Consolas" pitchFamily="34" charset="-122"/>
                <a:cs typeface="Consolas" pitchFamily="34" charset="-120"/>
              </a:rPr>
              <a:t>main.go?"</a:t>
            </a:r>
            <a:endParaRPr lang="en-US" sz="1200" dirty="0"/>
          </a:p>
        </p:txBody>
      </p:sp>
      <p:sp>
        <p:nvSpPr>
          <p:cNvPr id="11" name="Shape 9"/>
          <p:cNvSpPr/>
          <p:nvPr/>
        </p:nvSpPr>
        <p:spPr>
          <a:xfrm>
            <a:off x="2639416" y="2743200"/>
            <a:ext cx="192024" cy="0"/>
          </a:xfrm>
          <a:prstGeom prst="line">
            <a:avLst/>
          </a:prstGeom>
          <a:noFill/>
          <a:ln w="25400">
            <a:solidFill>
              <a:srgbClr val="6B7785"/>
            </a:solidFill>
            <a:prstDash val="solid"/>
            <a:tailEnd type="triangle"/>
          </a:ln>
        </p:spPr>
        <p:txBody>
          <a:bodyPr/>
          <a:lstStyle/>
          <a:p>
            <a:endParaRPr lang="en-GB"/>
          </a:p>
        </p:txBody>
      </p:sp>
      <p:sp>
        <p:nvSpPr>
          <p:cNvPr id="12" name="Shape 10"/>
          <p:cNvSpPr/>
          <p:nvPr/>
        </p:nvSpPr>
        <p:spPr>
          <a:xfrm>
            <a:off x="2849728" y="1828800"/>
            <a:ext cx="2011680" cy="1828800"/>
          </a:xfrm>
          <a:prstGeom prst="rect">
            <a:avLst/>
          </a:prstGeom>
          <a:solidFill>
            <a:srgbClr val="131820"/>
          </a:solidFill>
          <a:ln w="25400">
            <a:solidFill>
              <a:srgbClr val="FF9E3D"/>
            </a:solidFill>
            <a:prstDash val="solid"/>
          </a:ln>
        </p:spPr>
        <p:txBody>
          <a:bodyPr/>
          <a:lstStyle/>
          <a:p>
            <a:endParaRPr lang="en-GB"/>
          </a:p>
        </p:txBody>
      </p:sp>
      <p:sp>
        <p:nvSpPr>
          <p:cNvPr id="13" name="Shape 11"/>
          <p:cNvSpPr/>
          <p:nvPr/>
        </p:nvSpPr>
        <p:spPr>
          <a:xfrm>
            <a:off x="3626968" y="1600200"/>
            <a:ext cx="457200" cy="457200"/>
          </a:xfrm>
          <a:prstGeom prst="ellipse">
            <a:avLst/>
          </a:prstGeom>
          <a:solidFill>
            <a:srgbClr val="FF9E3D"/>
          </a:solidFill>
          <a:ln/>
        </p:spPr>
        <p:txBody>
          <a:bodyPr/>
          <a:lstStyle/>
          <a:p>
            <a:endParaRPr lang="en-GB"/>
          </a:p>
        </p:txBody>
      </p:sp>
      <p:sp>
        <p:nvSpPr>
          <p:cNvPr id="14" name="Text 12"/>
          <p:cNvSpPr/>
          <p:nvPr/>
        </p:nvSpPr>
        <p:spPr>
          <a:xfrm>
            <a:off x="3626968" y="1600200"/>
            <a:ext cx="457200" cy="457200"/>
          </a:xfrm>
          <a:prstGeom prst="rect">
            <a:avLst/>
          </a:prstGeom>
          <a:noFill/>
          <a:ln/>
        </p:spPr>
        <p:txBody>
          <a:bodyPr wrap="square" lIns="0" tIns="0" rIns="0" bIns="0" rtlCol="0" anchor="ctr"/>
          <a:lstStyle/>
          <a:p>
            <a:pPr marL="0" indent="0" algn="ctr">
              <a:buNone/>
            </a:pPr>
            <a:r>
              <a:rPr lang="en-US" sz="1600" b="1" dirty="0">
                <a:solidFill>
                  <a:srgbClr val="0A0E14"/>
                </a:solidFill>
                <a:latin typeface="Consolas" pitchFamily="34" charset="0"/>
                <a:ea typeface="Consolas" pitchFamily="34" charset="-122"/>
                <a:cs typeface="Consolas" pitchFamily="34" charset="-120"/>
              </a:rPr>
              <a:t>2</a:t>
            </a:r>
            <a:endParaRPr lang="en-US" sz="1600" dirty="0"/>
          </a:p>
        </p:txBody>
      </p:sp>
      <p:sp>
        <p:nvSpPr>
          <p:cNvPr id="15" name="Text 13"/>
          <p:cNvSpPr/>
          <p:nvPr/>
        </p:nvSpPr>
        <p:spPr>
          <a:xfrm>
            <a:off x="2941168" y="2148840"/>
            <a:ext cx="1828800" cy="457200"/>
          </a:xfrm>
          <a:prstGeom prst="rect">
            <a:avLst/>
          </a:prstGeom>
          <a:noFill/>
          <a:ln/>
        </p:spPr>
        <p:txBody>
          <a:bodyPr wrap="square" lIns="0" tIns="0" rIns="0" bIns="0" rtlCol="0" anchor="ctr"/>
          <a:lstStyle/>
          <a:p>
            <a:pPr marL="0" indent="0" algn="ctr">
              <a:buNone/>
            </a:pPr>
            <a:r>
              <a:rPr lang="en-US" sz="1400" b="1" dirty="0">
                <a:solidFill>
                  <a:srgbClr val="E6EDF3"/>
                </a:solidFill>
                <a:latin typeface="Consolas" pitchFamily="34" charset="0"/>
                <a:ea typeface="Consolas" pitchFamily="34" charset="-122"/>
                <a:cs typeface="Consolas" pitchFamily="34" charset="-120"/>
              </a:rPr>
              <a:t>Claude Code</a:t>
            </a:r>
            <a:endParaRPr lang="en-US" sz="1400" dirty="0"/>
          </a:p>
        </p:txBody>
      </p:sp>
      <p:sp>
        <p:nvSpPr>
          <p:cNvPr id="16" name="Text 14"/>
          <p:cNvSpPr/>
          <p:nvPr/>
        </p:nvSpPr>
        <p:spPr>
          <a:xfrm>
            <a:off x="2941168" y="2697480"/>
            <a:ext cx="1828800" cy="914400"/>
          </a:xfrm>
          <a:prstGeom prst="rect">
            <a:avLst/>
          </a:prstGeom>
          <a:noFill/>
          <a:ln/>
        </p:spPr>
        <p:txBody>
          <a:bodyPr wrap="square" lIns="0" tIns="0" rIns="0" bIns="0" rtlCol="0" anchor="ctr"/>
          <a:lstStyle/>
          <a:p>
            <a:pPr marL="0" indent="0" algn="ctr">
              <a:buNone/>
            </a:pPr>
            <a:r>
              <a:rPr lang="en-US" sz="1200" dirty="0">
                <a:solidFill>
                  <a:srgbClr val="B9C4D0"/>
                </a:solidFill>
                <a:latin typeface="Consolas" pitchFamily="34" charset="0"/>
                <a:ea typeface="Consolas" pitchFamily="34" charset="-122"/>
                <a:cs typeface="Consolas" pitchFamily="34" charset="-120"/>
              </a:rPr>
              <a:t>Adds tool</a:t>
            </a:r>
            <a:endParaRPr lang="en-US" sz="1200" dirty="0"/>
          </a:p>
          <a:p>
            <a:pPr marL="0" indent="0" algn="ctr">
              <a:buNone/>
            </a:pPr>
            <a:r>
              <a:rPr lang="en-US" sz="1200" dirty="0">
                <a:solidFill>
                  <a:srgbClr val="B9C4D0"/>
                </a:solidFill>
                <a:latin typeface="Consolas" pitchFamily="34" charset="0"/>
                <a:ea typeface="Consolas" pitchFamily="34" charset="-122"/>
                <a:cs typeface="Consolas" pitchFamily="34" charset="-120"/>
              </a:rPr>
              <a:t>instructions</a:t>
            </a:r>
            <a:endParaRPr lang="en-US" sz="1200" dirty="0"/>
          </a:p>
        </p:txBody>
      </p:sp>
      <p:sp>
        <p:nvSpPr>
          <p:cNvPr id="17" name="Shape 15"/>
          <p:cNvSpPr/>
          <p:nvPr/>
        </p:nvSpPr>
        <p:spPr>
          <a:xfrm>
            <a:off x="4879696" y="2743200"/>
            <a:ext cx="192024" cy="0"/>
          </a:xfrm>
          <a:prstGeom prst="line">
            <a:avLst/>
          </a:prstGeom>
          <a:noFill/>
          <a:ln w="25400">
            <a:solidFill>
              <a:srgbClr val="6B7785"/>
            </a:solidFill>
            <a:prstDash val="solid"/>
            <a:tailEnd type="triangle"/>
          </a:ln>
        </p:spPr>
        <p:txBody>
          <a:bodyPr/>
          <a:lstStyle/>
          <a:p>
            <a:endParaRPr lang="en-GB"/>
          </a:p>
        </p:txBody>
      </p:sp>
      <p:sp>
        <p:nvSpPr>
          <p:cNvPr id="18" name="Shape 16"/>
          <p:cNvSpPr/>
          <p:nvPr/>
        </p:nvSpPr>
        <p:spPr>
          <a:xfrm>
            <a:off x="5090008" y="1828800"/>
            <a:ext cx="2011680" cy="1828800"/>
          </a:xfrm>
          <a:prstGeom prst="rect">
            <a:avLst/>
          </a:prstGeom>
          <a:solidFill>
            <a:srgbClr val="131820"/>
          </a:solidFill>
          <a:ln w="25400">
            <a:solidFill>
              <a:srgbClr val="C792EA"/>
            </a:solidFill>
            <a:prstDash val="solid"/>
          </a:ln>
        </p:spPr>
        <p:txBody>
          <a:bodyPr/>
          <a:lstStyle/>
          <a:p>
            <a:endParaRPr lang="en-GB"/>
          </a:p>
        </p:txBody>
      </p:sp>
      <p:sp>
        <p:nvSpPr>
          <p:cNvPr id="19" name="Shape 17"/>
          <p:cNvSpPr/>
          <p:nvPr/>
        </p:nvSpPr>
        <p:spPr>
          <a:xfrm>
            <a:off x="5867248" y="1600200"/>
            <a:ext cx="457200" cy="457200"/>
          </a:xfrm>
          <a:prstGeom prst="ellipse">
            <a:avLst/>
          </a:prstGeom>
          <a:solidFill>
            <a:srgbClr val="C792EA"/>
          </a:solidFill>
          <a:ln/>
        </p:spPr>
        <p:txBody>
          <a:bodyPr/>
          <a:lstStyle/>
          <a:p>
            <a:endParaRPr lang="en-GB"/>
          </a:p>
        </p:txBody>
      </p:sp>
      <p:sp>
        <p:nvSpPr>
          <p:cNvPr id="20" name="Text 18"/>
          <p:cNvSpPr/>
          <p:nvPr/>
        </p:nvSpPr>
        <p:spPr>
          <a:xfrm>
            <a:off x="5867248" y="1600200"/>
            <a:ext cx="457200" cy="457200"/>
          </a:xfrm>
          <a:prstGeom prst="rect">
            <a:avLst/>
          </a:prstGeom>
          <a:noFill/>
          <a:ln/>
        </p:spPr>
        <p:txBody>
          <a:bodyPr wrap="square" lIns="0" tIns="0" rIns="0" bIns="0" rtlCol="0" anchor="ctr"/>
          <a:lstStyle/>
          <a:p>
            <a:pPr marL="0" indent="0" algn="ctr">
              <a:buNone/>
            </a:pPr>
            <a:r>
              <a:rPr lang="en-US" sz="1600" b="1" dirty="0">
                <a:solidFill>
                  <a:srgbClr val="0A0E14"/>
                </a:solidFill>
                <a:latin typeface="Consolas" pitchFamily="34" charset="0"/>
                <a:ea typeface="Consolas" pitchFamily="34" charset="-122"/>
                <a:cs typeface="Consolas" pitchFamily="34" charset="-120"/>
              </a:rPr>
              <a:t>3</a:t>
            </a:r>
            <a:endParaRPr lang="en-US" sz="1600" dirty="0"/>
          </a:p>
        </p:txBody>
      </p:sp>
      <p:sp>
        <p:nvSpPr>
          <p:cNvPr id="21" name="Text 19"/>
          <p:cNvSpPr/>
          <p:nvPr/>
        </p:nvSpPr>
        <p:spPr>
          <a:xfrm>
            <a:off x="5181448" y="2148840"/>
            <a:ext cx="1828800" cy="457200"/>
          </a:xfrm>
          <a:prstGeom prst="rect">
            <a:avLst/>
          </a:prstGeom>
          <a:noFill/>
          <a:ln/>
        </p:spPr>
        <p:txBody>
          <a:bodyPr wrap="square" lIns="0" tIns="0" rIns="0" bIns="0" rtlCol="0" anchor="ctr"/>
          <a:lstStyle/>
          <a:p>
            <a:pPr marL="0" indent="0" algn="ctr">
              <a:buNone/>
            </a:pPr>
            <a:r>
              <a:rPr lang="en-US" sz="1400" b="1" dirty="0">
                <a:solidFill>
                  <a:srgbClr val="E6EDF3"/>
                </a:solidFill>
                <a:latin typeface="Consolas" pitchFamily="34" charset="0"/>
                <a:ea typeface="Consolas" pitchFamily="34" charset="-122"/>
                <a:cs typeface="Consolas" pitchFamily="34" charset="-120"/>
              </a:rPr>
              <a:t>Model responds</a:t>
            </a:r>
            <a:endParaRPr lang="en-US" sz="1400" dirty="0"/>
          </a:p>
        </p:txBody>
      </p:sp>
      <p:sp>
        <p:nvSpPr>
          <p:cNvPr id="22" name="Text 20"/>
          <p:cNvSpPr/>
          <p:nvPr/>
        </p:nvSpPr>
        <p:spPr>
          <a:xfrm>
            <a:off x="5181448" y="2697480"/>
            <a:ext cx="1828800" cy="914400"/>
          </a:xfrm>
          <a:prstGeom prst="rect">
            <a:avLst/>
          </a:prstGeom>
          <a:noFill/>
          <a:ln/>
        </p:spPr>
        <p:txBody>
          <a:bodyPr wrap="square" lIns="0" tIns="0" rIns="0" bIns="0" rtlCol="0" anchor="ctr"/>
          <a:lstStyle/>
          <a:p>
            <a:pPr marL="0" indent="0" algn="ctr">
              <a:buNone/>
            </a:pPr>
            <a:r>
              <a:rPr lang="en-US" sz="1200" dirty="0">
                <a:solidFill>
                  <a:srgbClr val="B9C4D0"/>
                </a:solidFill>
                <a:latin typeface="Consolas" pitchFamily="34" charset="0"/>
                <a:ea typeface="Consolas" pitchFamily="34" charset="-122"/>
                <a:cs typeface="Consolas" pitchFamily="34" charset="-120"/>
              </a:rPr>
              <a:t>"ReadFile:</a:t>
            </a:r>
            <a:endParaRPr lang="en-US" sz="1200" dirty="0"/>
          </a:p>
          <a:p>
            <a:pPr marL="0" indent="0" algn="ctr">
              <a:buNone/>
            </a:pPr>
            <a:r>
              <a:rPr lang="en-US" sz="1200" dirty="0">
                <a:solidFill>
                  <a:srgbClr val="B9C4D0"/>
                </a:solidFill>
                <a:latin typeface="Consolas" pitchFamily="34" charset="0"/>
                <a:ea typeface="Consolas" pitchFamily="34" charset="-122"/>
                <a:cs typeface="Consolas" pitchFamily="34" charset="-120"/>
              </a:rPr>
              <a:t>main.go"</a:t>
            </a:r>
            <a:endParaRPr lang="en-US" sz="1200" dirty="0"/>
          </a:p>
        </p:txBody>
      </p:sp>
      <p:sp>
        <p:nvSpPr>
          <p:cNvPr id="23" name="Shape 21"/>
          <p:cNvSpPr/>
          <p:nvPr/>
        </p:nvSpPr>
        <p:spPr>
          <a:xfrm>
            <a:off x="7119976" y="2743200"/>
            <a:ext cx="192024" cy="0"/>
          </a:xfrm>
          <a:prstGeom prst="line">
            <a:avLst/>
          </a:prstGeom>
          <a:noFill/>
          <a:ln w="25400">
            <a:solidFill>
              <a:srgbClr val="6B7785"/>
            </a:solidFill>
            <a:prstDash val="solid"/>
            <a:tailEnd type="triangle"/>
          </a:ln>
        </p:spPr>
        <p:txBody>
          <a:bodyPr/>
          <a:lstStyle/>
          <a:p>
            <a:endParaRPr lang="en-GB"/>
          </a:p>
        </p:txBody>
      </p:sp>
      <p:sp>
        <p:nvSpPr>
          <p:cNvPr id="24" name="Shape 22"/>
          <p:cNvSpPr/>
          <p:nvPr/>
        </p:nvSpPr>
        <p:spPr>
          <a:xfrm>
            <a:off x="7330288" y="1828800"/>
            <a:ext cx="2011680" cy="1828800"/>
          </a:xfrm>
          <a:prstGeom prst="rect">
            <a:avLst/>
          </a:prstGeom>
          <a:solidFill>
            <a:srgbClr val="131820"/>
          </a:solidFill>
          <a:ln w="25400">
            <a:solidFill>
              <a:srgbClr val="FF9E3D"/>
            </a:solidFill>
            <a:prstDash val="solid"/>
          </a:ln>
        </p:spPr>
        <p:txBody>
          <a:bodyPr/>
          <a:lstStyle/>
          <a:p>
            <a:endParaRPr lang="en-GB"/>
          </a:p>
        </p:txBody>
      </p:sp>
      <p:sp>
        <p:nvSpPr>
          <p:cNvPr id="25" name="Shape 23"/>
          <p:cNvSpPr/>
          <p:nvPr/>
        </p:nvSpPr>
        <p:spPr>
          <a:xfrm>
            <a:off x="8107528" y="1600200"/>
            <a:ext cx="457200" cy="457200"/>
          </a:xfrm>
          <a:prstGeom prst="ellipse">
            <a:avLst/>
          </a:prstGeom>
          <a:solidFill>
            <a:srgbClr val="FF9E3D"/>
          </a:solidFill>
          <a:ln/>
        </p:spPr>
        <p:txBody>
          <a:bodyPr/>
          <a:lstStyle/>
          <a:p>
            <a:endParaRPr lang="en-GB"/>
          </a:p>
        </p:txBody>
      </p:sp>
      <p:sp>
        <p:nvSpPr>
          <p:cNvPr id="26" name="Text 24"/>
          <p:cNvSpPr/>
          <p:nvPr/>
        </p:nvSpPr>
        <p:spPr>
          <a:xfrm>
            <a:off x="8107528" y="1600200"/>
            <a:ext cx="457200" cy="457200"/>
          </a:xfrm>
          <a:prstGeom prst="rect">
            <a:avLst/>
          </a:prstGeom>
          <a:noFill/>
          <a:ln/>
        </p:spPr>
        <p:txBody>
          <a:bodyPr wrap="square" lIns="0" tIns="0" rIns="0" bIns="0" rtlCol="0" anchor="ctr"/>
          <a:lstStyle/>
          <a:p>
            <a:pPr marL="0" indent="0" algn="ctr">
              <a:buNone/>
            </a:pPr>
            <a:r>
              <a:rPr lang="en-US" sz="1600" b="1" dirty="0">
                <a:solidFill>
                  <a:srgbClr val="0A0E14"/>
                </a:solidFill>
                <a:latin typeface="Consolas" pitchFamily="34" charset="0"/>
                <a:ea typeface="Consolas" pitchFamily="34" charset="-122"/>
                <a:cs typeface="Consolas" pitchFamily="34" charset="-120"/>
              </a:rPr>
              <a:t>4</a:t>
            </a:r>
            <a:endParaRPr lang="en-US" sz="1600" dirty="0"/>
          </a:p>
        </p:txBody>
      </p:sp>
      <p:sp>
        <p:nvSpPr>
          <p:cNvPr id="27" name="Text 25"/>
          <p:cNvSpPr/>
          <p:nvPr/>
        </p:nvSpPr>
        <p:spPr>
          <a:xfrm>
            <a:off x="7421728" y="2148840"/>
            <a:ext cx="1828800" cy="457200"/>
          </a:xfrm>
          <a:prstGeom prst="rect">
            <a:avLst/>
          </a:prstGeom>
          <a:noFill/>
          <a:ln/>
        </p:spPr>
        <p:txBody>
          <a:bodyPr wrap="square" lIns="0" tIns="0" rIns="0" bIns="0" rtlCol="0" anchor="ctr"/>
          <a:lstStyle/>
          <a:p>
            <a:pPr marL="0" indent="0" algn="ctr">
              <a:buNone/>
            </a:pPr>
            <a:r>
              <a:rPr lang="en-US" sz="1400" b="1" dirty="0">
                <a:solidFill>
                  <a:srgbClr val="E6EDF3"/>
                </a:solidFill>
                <a:latin typeface="Consolas" pitchFamily="34" charset="0"/>
                <a:ea typeface="Consolas" pitchFamily="34" charset="-122"/>
                <a:cs typeface="Consolas" pitchFamily="34" charset="-120"/>
              </a:rPr>
              <a:t>Claude Code</a:t>
            </a:r>
            <a:endParaRPr lang="en-US" sz="1400" dirty="0"/>
          </a:p>
        </p:txBody>
      </p:sp>
      <p:sp>
        <p:nvSpPr>
          <p:cNvPr id="28" name="Text 26"/>
          <p:cNvSpPr/>
          <p:nvPr/>
        </p:nvSpPr>
        <p:spPr>
          <a:xfrm>
            <a:off x="7421728" y="2697480"/>
            <a:ext cx="1828800" cy="914400"/>
          </a:xfrm>
          <a:prstGeom prst="rect">
            <a:avLst/>
          </a:prstGeom>
          <a:noFill/>
          <a:ln/>
        </p:spPr>
        <p:txBody>
          <a:bodyPr wrap="square" lIns="0" tIns="0" rIns="0" bIns="0" rtlCol="0" anchor="ctr"/>
          <a:lstStyle/>
          <a:p>
            <a:pPr marL="0" indent="0" algn="ctr">
              <a:buNone/>
            </a:pPr>
            <a:r>
              <a:rPr lang="en-US" sz="1200" dirty="0">
                <a:solidFill>
                  <a:srgbClr val="B9C4D0"/>
                </a:solidFill>
                <a:latin typeface="Consolas" pitchFamily="34" charset="0"/>
                <a:ea typeface="Consolas" pitchFamily="34" charset="-122"/>
                <a:cs typeface="Consolas" pitchFamily="34" charset="-120"/>
              </a:rPr>
              <a:t>Reads file,</a:t>
            </a:r>
            <a:endParaRPr lang="en-US" sz="1200" dirty="0"/>
          </a:p>
          <a:p>
            <a:pPr marL="0" indent="0" algn="ctr">
              <a:buNone/>
            </a:pPr>
            <a:r>
              <a:rPr lang="en-US" sz="1200" dirty="0">
                <a:solidFill>
                  <a:srgbClr val="B9C4D0"/>
                </a:solidFill>
                <a:latin typeface="Consolas" pitchFamily="34" charset="0"/>
                <a:ea typeface="Consolas" pitchFamily="34" charset="-122"/>
                <a:cs typeface="Consolas" pitchFamily="34" charset="-120"/>
              </a:rPr>
              <a:t>sends contents</a:t>
            </a:r>
            <a:endParaRPr lang="en-US" sz="1200" dirty="0"/>
          </a:p>
        </p:txBody>
      </p:sp>
      <p:sp>
        <p:nvSpPr>
          <p:cNvPr id="29" name="Shape 27"/>
          <p:cNvSpPr/>
          <p:nvPr/>
        </p:nvSpPr>
        <p:spPr>
          <a:xfrm>
            <a:off x="9360256" y="2743200"/>
            <a:ext cx="192024" cy="0"/>
          </a:xfrm>
          <a:prstGeom prst="line">
            <a:avLst/>
          </a:prstGeom>
          <a:noFill/>
          <a:ln w="25400">
            <a:solidFill>
              <a:srgbClr val="6B7785"/>
            </a:solidFill>
            <a:prstDash val="solid"/>
            <a:tailEnd type="triangle"/>
          </a:ln>
        </p:spPr>
        <p:txBody>
          <a:bodyPr/>
          <a:lstStyle/>
          <a:p>
            <a:endParaRPr lang="en-GB"/>
          </a:p>
        </p:txBody>
      </p:sp>
      <p:sp>
        <p:nvSpPr>
          <p:cNvPr id="30" name="Shape 28"/>
          <p:cNvSpPr/>
          <p:nvPr/>
        </p:nvSpPr>
        <p:spPr>
          <a:xfrm>
            <a:off x="9570568" y="1828800"/>
            <a:ext cx="2011680" cy="1828800"/>
          </a:xfrm>
          <a:prstGeom prst="rect">
            <a:avLst/>
          </a:prstGeom>
          <a:solidFill>
            <a:srgbClr val="131820"/>
          </a:solidFill>
          <a:ln w="25400">
            <a:solidFill>
              <a:srgbClr val="8AE65C"/>
            </a:solidFill>
            <a:prstDash val="solid"/>
          </a:ln>
        </p:spPr>
        <p:txBody>
          <a:bodyPr/>
          <a:lstStyle/>
          <a:p>
            <a:endParaRPr lang="en-GB"/>
          </a:p>
        </p:txBody>
      </p:sp>
      <p:sp>
        <p:nvSpPr>
          <p:cNvPr id="31" name="Shape 29"/>
          <p:cNvSpPr/>
          <p:nvPr/>
        </p:nvSpPr>
        <p:spPr>
          <a:xfrm>
            <a:off x="10347808" y="1600200"/>
            <a:ext cx="457200" cy="457200"/>
          </a:xfrm>
          <a:prstGeom prst="ellipse">
            <a:avLst/>
          </a:prstGeom>
          <a:solidFill>
            <a:srgbClr val="8AE65C"/>
          </a:solidFill>
          <a:ln/>
        </p:spPr>
        <p:txBody>
          <a:bodyPr/>
          <a:lstStyle/>
          <a:p>
            <a:endParaRPr lang="en-GB"/>
          </a:p>
        </p:txBody>
      </p:sp>
      <p:sp>
        <p:nvSpPr>
          <p:cNvPr id="32" name="Text 30"/>
          <p:cNvSpPr/>
          <p:nvPr/>
        </p:nvSpPr>
        <p:spPr>
          <a:xfrm>
            <a:off x="10347808" y="1600200"/>
            <a:ext cx="457200" cy="457200"/>
          </a:xfrm>
          <a:prstGeom prst="rect">
            <a:avLst/>
          </a:prstGeom>
          <a:noFill/>
          <a:ln/>
        </p:spPr>
        <p:txBody>
          <a:bodyPr wrap="square" lIns="0" tIns="0" rIns="0" bIns="0" rtlCol="0" anchor="ctr"/>
          <a:lstStyle/>
          <a:p>
            <a:pPr marL="0" indent="0" algn="ctr">
              <a:buNone/>
            </a:pPr>
            <a:r>
              <a:rPr lang="en-US" sz="1600" b="1" dirty="0">
                <a:solidFill>
                  <a:srgbClr val="0A0E14"/>
                </a:solidFill>
                <a:latin typeface="Consolas" pitchFamily="34" charset="0"/>
                <a:ea typeface="Consolas" pitchFamily="34" charset="-122"/>
                <a:cs typeface="Consolas" pitchFamily="34" charset="-120"/>
              </a:rPr>
              <a:t>5</a:t>
            </a:r>
            <a:endParaRPr lang="en-US" sz="1600" dirty="0"/>
          </a:p>
        </p:txBody>
      </p:sp>
      <p:sp>
        <p:nvSpPr>
          <p:cNvPr id="33" name="Text 31"/>
          <p:cNvSpPr/>
          <p:nvPr/>
        </p:nvSpPr>
        <p:spPr>
          <a:xfrm>
            <a:off x="9662008" y="2148840"/>
            <a:ext cx="1828800" cy="457200"/>
          </a:xfrm>
          <a:prstGeom prst="rect">
            <a:avLst/>
          </a:prstGeom>
          <a:noFill/>
          <a:ln/>
        </p:spPr>
        <p:txBody>
          <a:bodyPr wrap="square" lIns="0" tIns="0" rIns="0" bIns="0" rtlCol="0" anchor="ctr"/>
          <a:lstStyle/>
          <a:p>
            <a:pPr marL="0" indent="0" algn="ctr">
              <a:buNone/>
            </a:pPr>
            <a:r>
              <a:rPr lang="en-US" sz="1400" b="1" dirty="0">
                <a:solidFill>
                  <a:srgbClr val="E6EDF3"/>
                </a:solidFill>
                <a:latin typeface="Consolas" pitchFamily="34" charset="0"/>
                <a:ea typeface="Consolas" pitchFamily="34" charset="-122"/>
                <a:cs typeface="Consolas" pitchFamily="34" charset="-120"/>
              </a:rPr>
              <a:t>Model answers</a:t>
            </a:r>
            <a:endParaRPr lang="en-US" sz="1400" dirty="0"/>
          </a:p>
        </p:txBody>
      </p:sp>
      <p:sp>
        <p:nvSpPr>
          <p:cNvPr id="34" name="Text 32"/>
          <p:cNvSpPr/>
          <p:nvPr/>
        </p:nvSpPr>
        <p:spPr>
          <a:xfrm>
            <a:off x="9662008" y="2697480"/>
            <a:ext cx="1828800" cy="914400"/>
          </a:xfrm>
          <a:prstGeom prst="rect">
            <a:avLst/>
          </a:prstGeom>
          <a:noFill/>
          <a:ln/>
        </p:spPr>
        <p:txBody>
          <a:bodyPr wrap="square" lIns="0" tIns="0" rIns="0" bIns="0" rtlCol="0" anchor="ctr"/>
          <a:lstStyle/>
          <a:p>
            <a:pPr marL="0" indent="0" algn="ctr">
              <a:buNone/>
            </a:pPr>
            <a:r>
              <a:rPr lang="en-US" sz="1200" dirty="0">
                <a:solidFill>
                  <a:srgbClr val="B9C4D0"/>
                </a:solidFill>
                <a:latin typeface="Consolas" pitchFamily="34" charset="0"/>
                <a:ea typeface="Consolas" pitchFamily="34" charset="-122"/>
                <a:cs typeface="Consolas" pitchFamily="34" charset="-120"/>
              </a:rPr>
              <a:t>Final reply</a:t>
            </a:r>
            <a:endParaRPr lang="en-US" sz="1200" dirty="0"/>
          </a:p>
          <a:p>
            <a:pPr marL="0" indent="0" algn="ctr">
              <a:buNone/>
            </a:pPr>
            <a:r>
              <a:rPr lang="en-US" sz="1200" dirty="0">
                <a:solidFill>
                  <a:srgbClr val="B9C4D0"/>
                </a:solidFill>
                <a:latin typeface="Consolas" pitchFamily="34" charset="0"/>
                <a:ea typeface="Consolas" pitchFamily="34" charset="-122"/>
                <a:cs typeface="Consolas" pitchFamily="34" charset="-120"/>
              </a:rPr>
              <a:t>based on file</a:t>
            </a:r>
            <a:endParaRPr lang="en-US" sz="1200" dirty="0"/>
          </a:p>
        </p:txBody>
      </p:sp>
      <p:sp>
        <p:nvSpPr>
          <p:cNvPr id="35" name="Shape 33"/>
          <p:cNvSpPr/>
          <p:nvPr/>
        </p:nvSpPr>
        <p:spPr>
          <a:xfrm>
            <a:off x="731520" y="4572000"/>
            <a:ext cx="10698480" cy="1371600"/>
          </a:xfrm>
          <a:prstGeom prst="rect">
            <a:avLst/>
          </a:prstGeom>
          <a:solidFill>
            <a:srgbClr val="1A2030"/>
          </a:solidFill>
          <a:ln w="12700">
            <a:solidFill>
              <a:srgbClr val="FF9E3D"/>
            </a:solidFill>
            <a:prstDash val="solid"/>
          </a:ln>
        </p:spPr>
        <p:txBody>
          <a:bodyPr/>
          <a:lstStyle/>
          <a:p>
            <a:endParaRPr lang="en-GB"/>
          </a:p>
        </p:txBody>
      </p:sp>
      <p:sp>
        <p:nvSpPr>
          <p:cNvPr id="36" name="Text 34"/>
          <p:cNvSpPr/>
          <p:nvPr/>
        </p:nvSpPr>
        <p:spPr>
          <a:xfrm>
            <a:off x="914400" y="4709160"/>
            <a:ext cx="4572000" cy="36576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Key insight</a:t>
            </a:r>
            <a:endParaRPr lang="en-US" sz="1400" dirty="0"/>
          </a:p>
        </p:txBody>
      </p:sp>
      <p:sp>
        <p:nvSpPr>
          <p:cNvPr id="37" name="Text 35"/>
          <p:cNvSpPr/>
          <p:nvPr/>
        </p:nvSpPr>
        <p:spPr>
          <a:xfrm>
            <a:off x="914400" y="5074920"/>
            <a:ext cx="10332720" cy="82296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The model is still just generating text. What looks like "reading files" or "running commands" is the coding assistant interpreting carefully formatted text responses and executing the real work on the model's behalf.</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section_1/why_claude.md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06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Why Claude's tool use matters</a:t>
            </a:r>
            <a:endParaRPr lang="en-US" sz="3000" dirty="0"/>
          </a:p>
        </p:txBody>
      </p:sp>
      <p:sp>
        <p:nvSpPr>
          <p:cNvPr id="6" name="Text 4"/>
          <p:cNvSpPr/>
          <p:nvPr/>
        </p:nvSpPr>
        <p:spPr>
          <a:xfrm>
            <a:off x="731520" y="1417320"/>
            <a:ext cx="10972800" cy="64008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Not all models are equally good at this. Opus, Sonnet, and Haiku are particularly strong at understanding what tools do and using them effectively to complete complex tasks.</a:t>
            </a:r>
            <a:endParaRPr lang="en-US" sz="1400" dirty="0"/>
          </a:p>
        </p:txBody>
      </p:sp>
      <p:sp>
        <p:nvSpPr>
          <p:cNvPr id="7" name="Shape 5"/>
          <p:cNvSpPr/>
          <p:nvPr/>
        </p:nvSpPr>
        <p:spPr>
          <a:xfrm>
            <a:off x="731520" y="2331720"/>
            <a:ext cx="3520440" cy="3383280"/>
          </a:xfrm>
          <a:prstGeom prst="rect">
            <a:avLst/>
          </a:prstGeom>
          <a:solidFill>
            <a:srgbClr val="131820"/>
          </a:solidFill>
          <a:ln w="12700">
            <a:solidFill>
              <a:srgbClr val="2A3441"/>
            </a:solidFill>
            <a:prstDash val="solid"/>
          </a:ln>
        </p:spPr>
        <p:txBody>
          <a:bodyPr/>
          <a:lstStyle/>
          <a:p>
            <a:endParaRPr lang="en-GB"/>
          </a:p>
        </p:txBody>
      </p:sp>
      <p:sp>
        <p:nvSpPr>
          <p:cNvPr id="8" name="Shape 6"/>
          <p:cNvSpPr/>
          <p:nvPr/>
        </p:nvSpPr>
        <p:spPr>
          <a:xfrm>
            <a:off x="1988820" y="2788920"/>
            <a:ext cx="1005840" cy="1005840"/>
          </a:xfrm>
          <a:prstGeom prst="ellipse">
            <a:avLst/>
          </a:prstGeom>
          <a:solidFill>
            <a:srgbClr val="1A2030"/>
          </a:solidFill>
          <a:ln w="25400">
            <a:solidFill>
              <a:srgbClr val="FF9E3D"/>
            </a:solidFill>
            <a:prstDash val="solid"/>
          </a:ln>
        </p:spPr>
        <p:txBody>
          <a:bodyPr/>
          <a:lstStyle/>
          <a:p>
            <a:endParaRPr lang="en-GB"/>
          </a:p>
        </p:txBody>
      </p:sp>
      <p:pic>
        <p:nvPicPr>
          <p:cNvPr id="9" name="Image 0" descr="preencoded.png"/>
          <p:cNvPicPr>
            <a:picLocks noChangeAspect="1"/>
          </p:cNvPicPr>
          <p:nvPr/>
        </p:nvPicPr>
        <p:blipFill>
          <a:blip r:embed="rId3"/>
          <a:stretch>
            <a:fillRect/>
          </a:stretch>
        </p:blipFill>
        <p:spPr>
          <a:xfrm>
            <a:off x="2171700" y="2971800"/>
            <a:ext cx="640080" cy="640080"/>
          </a:xfrm>
          <a:prstGeom prst="rect">
            <a:avLst/>
          </a:prstGeom>
        </p:spPr>
      </p:pic>
      <p:sp>
        <p:nvSpPr>
          <p:cNvPr id="10" name="Text 7"/>
          <p:cNvSpPr/>
          <p:nvPr/>
        </p:nvSpPr>
        <p:spPr>
          <a:xfrm>
            <a:off x="914400" y="4023360"/>
            <a:ext cx="3154680" cy="457200"/>
          </a:xfrm>
          <a:prstGeom prst="rect">
            <a:avLst/>
          </a:prstGeom>
          <a:noFill/>
          <a:ln/>
        </p:spPr>
        <p:txBody>
          <a:bodyPr wrap="square" lIns="0" tIns="0" rIns="0" bIns="0" rtlCol="0" anchor="ctr"/>
          <a:lstStyle/>
          <a:p>
            <a:pPr marL="0" indent="0" algn="ctr">
              <a:buNone/>
            </a:pPr>
            <a:r>
              <a:rPr lang="en-US" sz="1800" b="1" dirty="0">
                <a:solidFill>
                  <a:srgbClr val="E6EDF3"/>
                </a:solidFill>
                <a:latin typeface="Consolas" pitchFamily="34" charset="0"/>
                <a:ea typeface="Consolas" pitchFamily="34" charset="-122"/>
                <a:cs typeface="Consolas" pitchFamily="34" charset="-120"/>
              </a:rPr>
              <a:t>Tackles harder tasks</a:t>
            </a:r>
            <a:endParaRPr lang="en-US" sz="1800" dirty="0"/>
          </a:p>
        </p:txBody>
      </p:sp>
      <p:sp>
        <p:nvSpPr>
          <p:cNvPr id="11" name="Text 8"/>
          <p:cNvSpPr/>
          <p:nvPr/>
        </p:nvSpPr>
        <p:spPr>
          <a:xfrm>
            <a:off x="1005840" y="4526280"/>
            <a:ext cx="2971800" cy="1097280"/>
          </a:xfrm>
          <a:prstGeom prst="rect">
            <a:avLst/>
          </a:prstGeom>
          <a:noFill/>
          <a:ln/>
        </p:spPr>
        <p:txBody>
          <a:bodyPr wrap="square" lIns="0" tIns="0" rIns="0" bIns="0" rtlCol="0" anchor="ctr"/>
          <a:lstStyle/>
          <a:p>
            <a:pPr marL="0" indent="0" algn="ctr">
              <a:buNone/>
            </a:pPr>
            <a:r>
              <a:rPr lang="en-US" sz="1300" dirty="0">
                <a:solidFill>
                  <a:srgbClr val="B9C4D0"/>
                </a:solidFill>
                <a:latin typeface="Calibri" pitchFamily="34" charset="0"/>
                <a:ea typeface="Calibri" pitchFamily="34" charset="-122"/>
                <a:cs typeface="Calibri" pitchFamily="34" charset="-120"/>
              </a:rPr>
              <a:t>Claude combines tools in ways it wasn't explicitly trained for — and adapts to tools it has never seen.</a:t>
            </a:r>
            <a:endParaRPr lang="en-US" sz="1300" dirty="0"/>
          </a:p>
        </p:txBody>
      </p:sp>
      <p:sp>
        <p:nvSpPr>
          <p:cNvPr id="12" name="Shape 9"/>
          <p:cNvSpPr/>
          <p:nvPr/>
        </p:nvSpPr>
        <p:spPr>
          <a:xfrm>
            <a:off x="4434840" y="2331720"/>
            <a:ext cx="3520440" cy="3383280"/>
          </a:xfrm>
          <a:prstGeom prst="rect">
            <a:avLst/>
          </a:prstGeom>
          <a:solidFill>
            <a:srgbClr val="131820"/>
          </a:solidFill>
          <a:ln w="12700">
            <a:solidFill>
              <a:srgbClr val="2A3441"/>
            </a:solidFill>
            <a:prstDash val="solid"/>
          </a:ln>
        </p:spPr>
        <p:txBody>
          <a:bodyPr/>
          <a:lstStyle/>
          <a:p>
            <a:endParaRPr lang="en-GB"/>
          </a:p>
        </p:txBody>
      </p:sp>
      <p:sp>
        <p:nvSpPr>
          <p:cNvPr id="13" name="Shape 10"/>
          <p:cNvSpPr/>
          <p:nvPr/>
        </p:nvSpPr>
        <p:spPr>
          <a:xfrm>
            <a:off x="5692140" y="2788920"/>
            <a:ext cx="1005840" cy="1005840"/>
          </a:xfrm>
          <a:prstGeom prst="ellipse">
            <a:avLst/>
          </a:prstGeom>
          <a:solidFill>
            <a:srgbClr val="1A2030"/>
          </a:solidFill>
          <a:ln w="25400">
            <a:solidFill>
              <a:srgbClr val="FF9E3D"/>
            </a:solidFill>
            <a:prstDash val="solid"/>
          </a:ln>
        </p:spPr>
        <p:txBody>
          <a:bodyPr/>
          <a:lstStyle/>
          <a:p>
            <a:endParaRPr lang="en-GB"/>
          </a:p>
        </p:txBody>
      </p:sp>
      <p:pic>
        <p:nvPicPr>
          <p:cNvPr id="14" name="Image 1" descr="preencoded.png"/>
          <p:cNvPicPr>
            <a:picLocks noChangeAspect="1"/>
          </p:cNvPicPr>
          <p:nvPr/>
        </p:nvPicPr>
        <p:blipFill>
          <a:blip r:embed="rId4"/>
          <a:stretch>
            <a:fillRect/>
          </a:stretch>
        </p:blipFill>
        <p:spPr>
          <a:xfrm>
            <a:off x="5875020" y="2971800"/>
            <a:ext cx="640080" cy="640080"/>
          </a:xfrm>
          <a:prstGeom prst="rect">
            <a:avLst/>
          </a:prstGeom>
        </p:spPr>
      </p:pic>
      <p:sp>
        <p:nvSpPr>
          <p:cNvPr id="15" name="Text 11"/>
          <p:cNvSpPr/>
          <p:nvPr/>
        </p:nvSpPr>
        <p:spPr>
          <a:xfrm>
            <a:off x="4617720" y="4023360"/>
            <a:ext cx="3154680" cy="457200"/>
          </a:xfrm>
          <a:prstGeom prst="rect">
            <a:avLst/>
          </a:prstGeom>
          <a:noFill/>
          <a:ln/>
        </p:spPr>
        <p:txBody>
          <a:bodyPr wrap="square" lIns="0" tIns="0" rIns="0" bIns="0" rtlCol="0" anchor="ctr"/>
          <a:lstStyle/>
          <a:p>
            <a:pPr marL="0" indent="0" algn="ctr">
              <a:buNone/>
            </a:pPr>
            <a:r>
              <a:rPr lang="en-US" sz="1800" b="1" dirty="0">
                <a:solidFill>
                  <a:srgbClr val="E6EDF3"/>
                </a:solidFill>
                <a:latin typeface="Consolas" pitchFamily="34" charset="0"/>
                <a:ea typeface="Consolas" pitchFamily="34" charset="-122"/>
                <a:cs typeface="Consolas" pitchFamily="34" charset="-120"/>
              </a:rPr>
              <a:t>Extensible platform</a:t>
            </a:r>
            <a:endParaRPr lang="en-US" sz="1800" dirty="0"/>
          </a:p>
        </p:txBody>
      </p:sp>
      <p:sp>
        <p:nvSpPr>
          <p:cNvPr id="16" name="Text 12"/>
          <p:cNvSpPr/>
          <p:nvPr/>
        </p:nvSpPr>
        <p:spPr>
          <a:xfrm>
            <a:off x="4709160" y="4526280"/>
            <a:ext cx="2971800" cy="1097280"/>
          </a:xfrm>
          <a:prstGeom prst="rect">
            <a:avLst/>
          </a:prstGeom>
          <a:noFill/>
          <a:ln/>
        </p:spPr>
        <p:txBody>
          <a:bodyPr wrap="square" lIns="0" tIns="0" rIns="0" bIns="0" rtlCol="0" anchor="ctr"/>
          <a:lstStyle/>
          <a:p>
            <a:pPr marL="0" indent="0" algn="ctr">
              <a:buNone/>
            </a:pPr>
            <a:r>
              <a:rPr lang="en-US" sz="1300" dirty="0">
                <a:solidFill>
                  <a:srgbClr val="B9C4D0"/>
                </a:solidFill>
                <a:latin typeface="Calibri" pitchFamily="34" charset="0"/>
                <a:ea typeface="Calibri" pitchFamily="34" charset="-122"/>
                <a:cs typeface="Calibri" pitchFamily="34" charset="-120"/>
              </a:rPr>
              <a:t>Add new tools to Claude Code and it adapts. Your workflow can evolve without waiting for product updates.</a:t>
            </a:r>
            <a:endParaRPr lang="en-US" sz="1300" dirty="0"/>
          </a:p>
        </p:txBody>
      </p:sp>
      <p:sp>
        <p:nvSpPr>
          <p:cNvPr id="17" name="Shape 13"/>
          <p:cNvSpPr/>
          <p:nvPr/>
        </p:nvSpPr>
        <p:spPr>
          <a:xfrm>
            <a:off x="8138160" y="2331720"/>
            <a:ext cx="3520440" cy="3383280"/>
          </a:xfrm>
          <a:prstGeom prst="rect">
            <a:avLst/>
          </a:prstGeom>
          <a:solidFill>
            <a:srgbClr val="131820"/>
          </a:solidFill>
          <a:ln w="12700">
            <a:solidFill>
              <a:srgbClr val="2A3441"/>
            </a:solidFill>
            <a:prstDash val="solid"/>
          </a:ln>
        </p:spPr>
        <p:txBody>
          <a:bodyPr/>
          <a:lstStyle/>
          <a:p>
            <a:endParaRPr lang="en-GB"/>
          </a:p>
        </p:txBody>
      </p:sp>
      <p:sp>
        <p:nvSpPr>
          <p:cNvPr id="18" name="Shape 14"/>
          <p:cNvSpPr/>
          <p:nvPr/>
        </p:nvSpPr>
        <p:spPr>
          <a:xfrm>
            <a:off x="9395460" y="2788920"/>
            <a:ext cx="1005840" cy="1005840"/>
          </a:xfrm>
          <a:prstGeom prst="ellipse">
            <a:avLst/>
          </a:prstGeom>
          <a:solidFill>
            <a:srgbClr val="1A2030"/>
          </a:solidFill>
          <a:ln w="25400">
            <a:solidFill>
              <a:srgbClr val="FF9E3D"/>
            </a:solidFill>
            <a:prstDash val="solid"/>
          </a:ln>
        </p:spPr>
        <p:txBody>
          <a:bodyPr/>
          <a:lstStyle/>
          <a:p>
            <a:endParaRPr lang="en-GB"/>
          </a:p>
        </p:txBody>
      </p:sp>
      <p:pic>
        <p:nvPicPr>
          <p:cNvPr id="19" name="Image 2" descr="preencoded.png"/>
          <p:cNvPicPr>
            <a:picLocks noChangeAspect="1"/>
          </p:cNvPicPr>
          <p:nvPr/>
        </p:nvPicPr>
        <p:blipFill>
          <a:blip r:embed="rId5"/>
          <a:stretch>
            <a:fillRect/>
          </a:stretch>
        </p:blipFill>
        <p:spPr>
          <a:xfrm>
            <a:off x="9578340" y="2971800"/>
            <a:ext cx="640080" cy="640080"/>
          </a:xfrm>
          <a:prstGeom prst="rect">
            <a:avLst/>
          </a:prstGeom>
        </p:spPr>
      </p:pic>
      <p:sp>
        <p:nvSpPr>
          <p:cNvPr id="20" name="Text 15"/>
          <p:cNvSpPr/>
          <p:nvPr/>
        </p:nvSpPr>
        <p:spPr>
          <a:xfrm>
            <a:off x="8321040" y="4023360"/>
            <a:ext cx="3154680" cy="457200"/>
          </a:xfrm>
          <a:prstGeom prst="rect">
            <a:avLst/>
          </a:prstGeom>
          <a:noFill/>
          <a:ln/>
        </p:spPr>
        <p:txBody>
          <a:bodyPr wrap="square" lIns="0" tIns="0" rIns="0" bIns="0" rtlCol="0" anchor="ctr"/>
          <a:lstStyle/>
          <a:p>
            <a:pPr marL="0" indent="0" algn="ctr">
              <a:buNone/>
            </a:pPr>
            <a:r>
              <a:rPr lang="en-US" sz="1800" b="1" dirty="0">
                <a:solidFill>
                  <a:srgbClr val="E6EDF3"/>
                </a:solidFill>
                <a:latin typeface="Consolas" pitchFamily="34" charset="0"/>
                <a:ea typeface="Consolas" pitchFamily="34" charset="-122"/>
                <a:cs typeface="Consolas" pitchFamily="34" charset="-120"/>
              </a:rPr>
              <a:t>Better security</a:t>
            </a:r>
            <a:endParaRPr lang="en-US" sz="1800" dirty="0"/>
          </a:p>
        </p:txBody>
      </p:sp>
      <p:sp>
        <p:nvSpPr>
          <p:cNvPr id="21" name="Text 16"/>
          <p:cNvSpPr/>
          <p:nvPr/>
        </p:nvSpPr>
        <p:spPr>
          <a:xfrm>
            <a:off x="8412480" y="4526280"/>
            <a:ext cx="2971800" cy="1097280"/>
          </a:xfrm>
          <a:prstGeom prst="rect">
            <a:avLst/>
          </a:prstGeom>
          <a:noFill/>
          <a:ln/>
        </p:spPr>
        <p:txBody>
          <a:bodyPr wrap="square" lIns="0" tIns="0" rIns="0" bIns="0" rtlCol="0" anchor="ctr"/>
          <a:lstStyle/>
          <a:p>
            <a:pPr marL="0" indent="0" algn="ctr">
              <a:buNone/>
            </a:pPr>
            <a:r>
              <a:rPr lang="en-US" sz="1300" dirty="0">
                <a:solidFill>
                  <a:srgbClr val="B9C4D0"/>
                </a:solidFill>
                <a:latin typeface="Calibri" pitchFamily="34" charset="0"/>
                <a:ea typeface="Calibri" pitchFamily="34" charset="-122"/>
                <a:cs typeface="Calibri" pitchFamily="34" charset="-120"/>
              </a:rPr>
              <a:t>Strong tool use means no codebase indexing required — your code doesn't need to be shipped to external servers.</a:t>
            </a:r>
            <a:endParaRPr lang="en-US" sz="1300" dirty="0"/>
          </a:p>
        </p:txBody>
      </p:sp>
      <p:sp>
        <p:nvSpPr>
          <p:cNvPr id="22" name="Text 17"/>
          <p:cNvSpPr/>
          <p:nvPr/>
        </p:nvSpPr>
        <p:spPr>
          <a:xfrm>
            <a:off x="731520" y="5943600"/>
            <a:ext cx="10972800" cy="320040"/>
          </a:xfrm>
          <a:prstGeom prst="rect">
            <a:avLst/>
          </a:prstGeom>
          <a:noFill/>
          <a:ln/>
        </p:spPr>
        <p:txBody>
          <a:bodyPr wrap="square" lIns="0" tIns="0" rIns="0" bIns="0" rtlCol="0" anchor="ctr"/>
          <a:lstStyle/>
          <a:p>
            <a:pPr marL="0" indent="0">
              <a:buNone/>
            </a:pPr>
            <a:r>
              <a:rPr lang="en-US" sz="1200" i="1" dirty="0">
                <a:solidFill>
                  <a:srgbClr val="FF9E3D"/>
                </a:solidFill>
                <a:latin typeface="Calibri" pitchFamily="34" charset="0"/>
                <a:ea typeface="Calibri" pitchFamily="34" charset="-122"/>
                <a:cs typeface="Calibri" pitchFamily="34" charset="-120"/>
              </a:rPr>
              <a:t>→ This is what transforms a text-generator into a powerful coding assistant.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section_1/takeaways.md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07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Section 1: key takeaways</a:t>
            </a:r>
            <a:endParaRPr lang="en-US" sz="3000" dirty="0"/>
          </a:p>
        </p:txBody>
      </p:sp>
      <p:sp>
        <p:nvSpPr>
          <p:cNvPr id="6" name="Shape 4"/>
          <p:cNvSpPr/>
          <p:nvPr/>
        </p:nvSpPr>
        <p:spPr>
          <a:xfrm>
            <a:off x="731520" y="1737360"/>
            <a:ext cx="10698480" cy="914400"/>
          </a:xfrm>
          <a:prstGeom prst="rect">
            <a:avLst/>
          </a:prstGeom>
          <a:solidFill>
            <a:srgbClr val="131820"/>
          </a:solidFill>
          <a:ln/>
        </p:spPr>
        <p:txBody>
          <a:bodyPr/>
          <a:lstStyle/>
          <a:p>
            <a:endParaRPr lang="en-GB"/>
          </a:p>
        </p:txBody>
      </p:sp>
      <p:sp>
        <p:nvSpPr>
          <p:cNvPr id="7" name="Shape 5"/>
          <p:cNvSpPr/>
          <p:nvPr/>
        </p:nvSpPr>
        <p:spPr>
          <a:xfrm>
            <a:off x="731520" y="1737360"/>
            <a:ext cx="73152" cy="914400"/>
          </a:xfrm>
          <a:prstGeom prst="rect">
            <a:avLst/>
          </a:prstGeom>
          <a:solidFill>
            <a:srgbClr val="FF9E3D"/>
          </a:solidFill>
          <a:ln/>
        </p:spPr>
        <p:txBody>
          <a:bodyPr/>
          <a:lstStyle/>
          <a:p>
            <a:endParaRPr lang="en-GB"/>
          </a:p>
        </p:txBody>
      </p:sp>
      <p:sp>
        <p:nvSpPr>
          <p:cNvPr id="8" name="Text 6"/>
          <p:cNvSpPr/>
          <p:nvPr/>
        </p:nvSpPr>
        <p:spPr>
          <a:xfrm>
            <a:off x="1005840" y="1737360"/>
            <a:ext cx="914400" cy="914400"/>
          </a:xfrm>
          <a:prstGeom prst="rect">
            <a:avLst/>
          </a:prstGeom>
          <a:noFill/>
          <a:ln/>
        </p:spPr>
        <p:txBody>
          <a:bodyPr wrap="square" lIns="0" tIns="0" rIns="0" bIns="0" rtlCol="0" anchor="ctr"/>
          <a:lstStyle/>
          <a:p>
            <a:pPr marL="0" indent="0">
              <a:buNone/>
            </a:pPr>
            <a:r>
              <a:rPr lang="en-US" sz="3200" b="1" dirty="0">
                <a:solidFill>
                  <a:srgbClr val="FF9E3D"/>
                </a:solidFill>
                <a:latin typeface="Consolas" pitchFamily="34" charset="0"/>
                <a:ea typeface="Consolas" pitchFamily="34" charset="-122"/>
                <a:cs typeface="Consolas" pitchFamily="34" charset="-120"/>
              </a:rPr>
              <a:t>01</a:t>
            </a:r>
            <a:endParaRPr lang="en-US" sz="3200" dirty="0"/>
          </a:p>
        </p:txBody>
      </p:sp>
      <p:sp>
        <p:nvSpPr>
          <p:cNvPr id="9" name="Text 7"/>
          <p:cNvSpPr/>
          <p:nvPr/>
        </p:nvSpPr>
        <p:spPr>
          <a:xfrm>
            <a:off x="2103120" y="1737360"/>
            <a:ext cx="9144000" cy="914400"/>
          </a:xfrm>
          <a:prstGeom prst="rect">
            <a:avLst/>
          </a:prstGeom>
          <a:noFill/>
          <a:ln/>
        </p:spPr>
        <p:txBody>
          <a:bodyPr wrap="square" lIns="0" tIns="0" rIns="0" bIns="0" rtlCol="0" anchor="ctr"/>
          <a:lstStyle/>
          <a:p>
            <a:pPr marL="0" indent="0">
              <a:buNone/>
            </a:pPr>
            <a:r>
              <a:rPr lang="en-US" sz="1700" dirty="0">
                <a:solidFill>
                  <a:srgbClr val="E6EDF3"/>
                </a:solidFill>
                <a:latin typeface="Calibri" pitchFamily="34" charset="0"/>
                <a:ea typeface="Calibri" pitchFamily="34" charset="-122"/>
                <a:cs typeface="Calibri" pitchFamily="34" charset="-120"/>
              </a:rPr>
              <a:t>Coding assistants use language models to complete diverse tasks.</a:t>
            </a:r>
            <a:endParaRPr lang="en-US" sz="1700" dirty="0"/>
          </a:p>
        </p:txBody>
      </p:sp>
      <p:sp>
        <p:nvSpPr>
          <p:cNvPr id="10" name="Shape 8"/>
          <p:cNvSpPr/>
          <p:nvPr/>
        </p:nvSpPr>
        <p:spPr>
          <a:xfrm>
            <a:off x="731520" y="2788920"/>
            <a:ext cx="10698480" cy="914400"/>
          </a:xfrm>
          <a:prstGeom prst="rect">
            <a:avLst/>
          </a:prstGeom>
          <a:solidFill>
            <a:srgbClr val="131820"/>
          </a:solidFill>
          <a:ln/>
        </p:spPr>
        <p:txBody>
          <a:bodyPr/>
          <a:lstStyle/>
          <a:p>
            <a:endParaRPr lang="en-GB"/>
          </a:p>
        </p:txBody>
      </p:sp>
      <p:sp>
        <p:nvSpPr>
          <p:cNvPr id="11" name="Shape 9"/>
          <p:cNvSpPr/>
          <p:nvPr/>
        </p:nvSpPr>
        <p:spPr>
          <a:xfrm>
            <a:off x="731520" y="2788920"/>
            <a:ext cx="73152" cy="914400"/>
          </a:xfrm>
          <a:prstGeom prst="rect">
            <a:avLst/>
          </a:prstGeom>
          <a:solidFill>
            <a:srgbClr val="FF9E3D"/>
          </a:solidFill>
          <a:ln/>
        </p:spPr>
        <p:txBody>
          <a:bodyPr/>
          <a:lstStyle/>
          <a:p>
            <a:endParaRPr lang="en-GB"/>
          </a:p>
        </p:txBody>
      </p:sp>
      <p:sp>
        <p:nvSpPr>
          <p:cNvPr id="12" name="Text 10"/>
          <p:cNvSpPr/>
          <p:nvPr/>
        </p:nvSpPr>
        <p:spPr>
          <a:xfrm>
            <a:off x="1005840" y="2788920"/>
            <a:ext cx="914400" cy="914400"/>
          </a:xfrm>
          <a:prstGeom prst="rect">
            <a:avLst/>
          </a:prstGeom>
          <a:noFill/>
          <a:ln/>
        </p:spPr>
        <p:txBody>
          <a:bodyPr wrap="square" lIns="0" tIns="0" rIns="0" bIns="0" rtlCol="0" anchor="ctr"/>
          <a:lstStyle/>
          <a:p>
            <a:pPr marL="0" indent="0">
              <a:buNone/>
            </a:pPr>
            <a:r>
              <a:rPr lang="en-US" sz="3200" b="1" dirty="0">
                <a:solidFill>
                  <a:srgbClr val="FF9E3D"/>
                </a:solidFill>
                <a:latin typeface="Consolas" pitchFamily="34" charset="0"/>
                <a:ea typeface="Consolas" pitchFamily="34" charset="-122"/>
                <a:cs typeface="Consolas" pitchFamily="34" charset="-120"/>
              </a:rPr>
              <a:t>02</a:t>
            </a:r>
            <a:endParaRPr lang="en-US" sz="3200" dirty="0"/>
          </a:p>
        </p:txBody>
      </p:sp>
      <p:sp>
        <p:nvSpPr>
          <p:cNvPr id="13" name="Text 11"/>
          <p:cNvSpPr/>
          <p:nvPr/>
        </p:nvSpPr>
        <p:spPr>
          <a:xfrm>
            <a:off x="2103120" y="2788920"/>
            <a:ext cx="9144000" cy="914400"/>
          </a:xfrm>
          <a:prstGeom prst="rect">
            <a:avLst/>
          </a:prstGeom>
          <a:noFill/>
          <a:ln/>
        </p:spPr>
        <p:txBody>
          <a:bodyPr wrap="square" lIns="0" tIns="0" rIns="0" bIns="0" rtlCol="0" anchor="ctr"/>
          <a:lstStyle/>
          <a:p>
            <a:pPr marL="0" indent="0">
              <a:buNone/>
            </a:pPr>
            <a:r>
              <a:rPr lang="en-US" sz="1700" dirty="0">
                <a:solidFill>
                  <a:srgbClr val="E6EDF3"/>
                </a:solidFill>
                <a:latin typeface="Calibri" pitchFamily="34" charset="0"/>
                <a:ea typeface="Calibri" pitchFamily="34" charset="-122"/>
                <a:cs typeface="Calibri" pitchFamily="34" charset="-120"/>
              </a:rPr>
              <a:t>Language models need tools to handle most real-world programming work.</a:t>
            </a:r>
            <a:endParaRPr lang="en-US" sz="1700" dirty="0"/>
          </a:p>
        </p:txBody>
      </p:sp>
      <p:sp>
        <p:nvSpPr>
          <p:cNvPr id="14" name="Shape 12"/>
          <p:cNvSpPr/>
          <p:nvPr/>
        </p:nvSpPr>
        <p:spPr>
          <a:xfrm>
            <a:off x="731520" y="3840480"/>
            <a:ext cx="10698480" cy="914400"/>
          </a:xfrm>
          <a:prstGeom prst="rect">
            <a:avLst/>
          </a:prstGeom>
          <a:solidFill>
            <a:srgbClr val="131820"/>
          </a:solidFill>
          <a:ln/>
        </p:spPr>
        <p:txBody>
          <a:bodyPr/>
          <a:lstStyle/>
          <a:p>
            <a:endParaRPr lang="en-GB"/>
          </a:p>
        </p:txBody>
      </p:sp>
      <p:sp>
        <p:nvSpPr>
          <p:cNvPr id="15" name="Shape 13"/>
          <p:cNvSpPr/>
          <p:nvPr/>
        </p:nvSpPr>
        <p:spPr>
          <a:xfrm>
            <a:off x="731520" y="3840480"/>
            <a:ext cx="73152" cy="914400"/>
          </a:xfrm>
          <a:prstGeom prst="rect">
            <a:avLst/>
          </a:prstGeom>
          <a:solidFill>
            <a:srgbClr val="FF9E3D"/>
          </a:solidFill>
          <a:ln/>
        </p:spPr>
        <p:txBody>
          <a:bodyPr/>
          <a:lstStyle/>
          <a:p>
            <a:endParaRPr lang="en-GB"/>
          </a:p>
        </p:txBody>
      </p:sp>
      <p:sp>
        <p:nvSpPr>
          <p:cNvPr id="16" name="Text 14"/>
          <p:cNvSpPr/>
          <p:nvPr/>
        </p:nvSpPr>
        <p:spPr>
          <a:xfrm>
            <a:off x="1005840" y="3840480"/>
            <a:ext cx="914400" cy="914400"/>
          </a:xfrm>
          <a:prstGeom prst="rect">
            <a:avLst/>
          </a:prstGeom>
          <a:noFill/>
          <a:ln/>
        </p:spPr>
        <p:txBody>
          <a:bodyPr wrap="square" lIns="0" tIns="0" rIns="0" bIns="0" rtlCol="0" anchor="ctr"/>
          <a:lstStyle/>
          <a:p>
            <a:pPr marL="0" indent="0">
              <a:buNone/>
            </a:pPr>
            <a:r>
              <a:rPr lang="en-US" sz="3200" b="1" dirty="0">
                <a:solidFill>
                  <a:srgbClr val="FF9E3D"/>
                </a:solidFill>
                <a:latin typeface="Consolas" pitchFamily="34" charset="0"/>
                <a:ea typeface="Consolas" pitchFamily="34" charset="-122"/>
                <a:cs typeface="Consolas" pitchFamily="34" charset="-120"/>
              </a:rPr>
              <a:t>03</a:t>
            </a:r>
            <a:endParaRPr lang="en-US" sz="3200" dirty="0"/>
          </a:p>
        </p:txBody>
      </p:sp>
      <p:sp>
        <p:nvSpPr>
          <p:cNvPr id="17" name="Text 15"/>
          <p:cNvSpPr/>
          <p:nvPr/>
        </p:nvSpPr>
        <p:spPr>
          <a:xfrm>
            <a:off x="2103120" y="3840480"/>
            <a:ext cx="9144000" cy="914400"/>
          </a:xfrm>
          <a:prstGeom prst="rect">
            <a:avLst/>
          </a:prstGeom>
          <a:noFill/>
          <a:ln/>
        </p:spPr>
        <p:txBody>
          <a:bodyPr wrap="square" lIns="0" tIns="0" rIns="0" bIns="0" rtlCol="0" anchor="ctr"/>
          <a:lstStyle/>
          <a:p>
            <a:pPr marL="0" indent="0">
              <a:buNone/>
            </a:pPr>
            <a:r>
              <a:rPr lang="en-US" sz="1700" dirty="0">
                <a:solidFill>
                  <a:srgbClr val="E6EDF3"/>
                </a:solidFill>
                <a:latin typeface="Calibri" pitchFamily="34" charset="0"/>
                <a:ea typeface="Calibri" pitchFamily="34" charset="-122"/>
                <a:cs typeface="Calibri" pitchFamily="34" charset="-120"/>
              </a:rPr>
              <a:t>Not all models use tools with the same skill level.</a:t>
            </a:r>
            <a:endParaRPr lang="en-US" sz="1700" dirty="0"/>
          </a:p>
        </p:txBody>
      </p:sp>
      <p:sp>
        <p:nvSpPr>
          <p:cNvPr id="18" name="Shape 16"/>
          <p:cNvSpPr/>
          <p:nvPr/>
        </p:nvSpPr>
        <p:spPr>
          <a:xfrm>
            <a:off x="731520" y="4892040"/>
            <a:ext cx="10698480" cy="914400"/>
          </a:xfrm>
          <a:prstGeom prst="rect">
            <a:avLst/>
          </a:prstGeom>
          <a:solidFill>
            <a:srgbClr val="131820"/>
          </a:solidFill>
          <a:ln/>
        </p:spPr>
        <p:txBody>
          <a:bodyPr/>
          <a:lstStyle/>
          <a:p>
            <a:endParaRPr lang="en-GB"/>
          </a:p>
        </p:txBody>
      </p:sp>
      <p:sp>
        <p:nvSpPr>
          <p:cNvPr id="19" name="Shape 17"/>
          <p:cNvSpPr/>
          <p:nvPr/>
        </p:nvSpPr>
        <p:spPr>
          <a:xfrm>
            <a:off x="731520" y="4892040"/>
            <a:ext cx="73152" cy="914400"/>
          </a:xfrm>
          <a:prstGeom prst="rect">
            <a:avLst/>
          </a:prstGeom>
          <a:solidFill>
            <a:srgbClr val="FF9E3D"/>
          </a:solidFill>
          <a:ln/>
        </p:spPr>
        <p:txBody>
          <a:bodyPr/>
          <a:lstStyle/>
          <a:p>
            <a:endParaRPr lang="en-GB"/>
          </a:p>
        </p:txBody>
      </p:sp>
      <p:sp>
        <p:nvSpPr>
          <p:cNvPr id="20" name="Text 18"/>
          <p:cNvSpPr/>
          <p:nvPr/>
        </p:nvSpPr>
        <p:spPr>
          <a:xfrm>
            <a:off x="1005840" y="4892040"/>
            <a:ext cx="914400" cy="914400"/>
          </a:xfrm>
          <a:prstGeom prst="rect">
            <a:avLst/>
          </a:prstGeom>
          <a:noFill/>
          <a:ln/>
        </p:spPr>
        <p:txBody>
          <a:bodyPr wrap="square" lIns="0" tIns="0" rIns="0" bIns="0" rtlCol="0" anchor="ctr"/>
          <a:lstStyle/>
          <a:p>
            <a:pPr marL="0" indent="0">
              <a:buNone/>
            </a:pPr>
            <a:r>
              <a:rPr lang="en-US" sz="3200" b="1" dirty="0">
                <a:solidFill>
                  <a:srgbClr val="FF9E3D"/>
                </a:solidFill>
                <a:latin typeface="Consolas" pitchFamily="34" charset="0"/>
                <a:ea typeface="Consolas" pitchFamily="34" charset="-122"/>
                <a:cs typeface="Consolas" pitchFamily="34" charset="-120"/>
              </a:rPr>
              <a:t>04</a:t>
            </a:r>
            <a:endParaRPr lang="en-US" sz="3200" dirty="0"/>
          </a:p>
        </p:txBody>
      </p:sp>
      <p:sp>
        <p:nvSpPr>
          <p:cNvPr id="21" name="Text 19"/>
          <p:cNvSpPr/>
          <p:nvPr/>
        </p:nvSpPr>
        <p:spPr>
          <a:xfrm>
            <a:off x="2103120" y="4892040"/>
            <a:ext cx="9144000" cy="914400"/>
          </a:xfrm>
          <a:prstGeom prst="rect">
            <a:avLst/>
          </a:prstGeom>
          <a:noFill/>
          <a:ln/>
        </p:spPr>
        <p:txBody>
          <a:bodyPr wrap="square" lIns="0" tIns="0" rIns="0" bIns="0" rtlCol="0" anchor="ctr"/>
          <a:lstStyle/>
          <a:p>
            <a:pPr marL="0" indent="0">
              <a:buNone/>
            </a:pPr>
            <a:r>
              <a:rPr lang="en-US" sz="1700" dirty="0">
                <a:solidFill>
                  <a:srgbClr val="E6EDF3"/>
                </a:solidFill>
                <a:latin typeface="Calibri" pitchFamily="34" charset="0"/>
                <a:ea typeface="Calibri" pitchFamily="34" charset="-122"/>
                <a:cs typeface="Calibri" pitchFamily="34" charset="-120"/>
              </a:rPr>
              <a:t>Claude's strong tool use enables better security, customization, and longevity.</a:t>
            </a:r>
            <a:endParaRPr lang="en-US" sz="1700" dirty="0"/>
          </a:p>
        </p:txBody>
      </p:sp>
      <p:sp>
        <p:nvSpPr>
          <p:cNvPr id="22" name="Text 20"/>
          <p:cNvSpPr/>
          <p:nvPr/>
        </p:nvSpPr>
        <p:spPr>
          <a:xfrm>
            <a:off x="731520" y="6080760"/>
            <a:ext cx="10698480" cy="365760"/>
          </a:xfrm>
          <a:prstGeom prst="rect">
            <a:avLst/>
          </a:prstGeom>
          <a:noFill/>
          <a:ln/>
        </p:spPr>
        <p:txBody>
          <a:bodyPr wrap="square" lIns="0" tIns="0" rIns="0" bIns="0" rtlCol="0" anchor="ctr"/>
          <a:lstStyle/>
          <a:p>
            <a:pPr marL="0" indent="0">
              <a:buNone/>
            </a:pPr>
            <a:r>
              <a:rPr lang="en-US" sz="1300" i="1" dirty="0">
                <a:solidFill>
                  <a:srgbClr val="5EB3F5"/>
                </a:solidFill>
                <a:latin typeface="Calibri" pitchFamily="34" charset="0"/>
                <a:ea typeface="Calibri" pitchFamily="34" charset="-122"/>
                <a:cs typeface="Calibri" pitchFamily="34" charset="-120"/>
              </a:rPr>
              <a:t>Tool use is what makes a simple text-generator capable of reading your files, understanding your codebase, and shipping real changes.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section_2/builtin_tools.md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08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Claude Code's built-in tools</a:t>
            </a:r>
            <a:endParaRPr lang="en-US" sz="3000" dirty="0"/>
          </a:p>
        </p:txBody>
      </p:sp>
      <p:sp>
        <p:nvSpPr>
          <p:cNvPr id="6" name="Text 4"/>
          <p:cNvSpPr/>
          <p:nvPr/>
        </p:nvSpPr>
        <p:spPr>
          <a:xfrm>
            <a:off x="731520" y="1417320"/>
            <a:ext cx="10972800" cy="64008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A comprehensive set of tools for file operations, search, shell, and notebooks. What makes Claude Code powerful is how intelligently it combines them.</a:t>
            </a:r>
            <a:endParaRPr lang="en-US" sz="1400" dirty="0"/>
          </a:p>
        </p:txBody>
      </p:sp>
      <p:sp>
        <p:nvSpPr>
          <p:cNvPr id="7" name="Shape 5"/>
          <p:cNvSpPr/>
          <p:nvPr/>
        </p:nvSpPr>
        <p:spPr>
          <a:xfrm>
            <a:off x="731520" y="2286000"/>
            <a:ext cx="2212848" cy="1188720"/>
          </a:xfrm>
          <a:prstGeom prst="rect">
            <a:avLst/>
          </a:prstGeom>
          <a:solidFill>
            <a:srgbClr val="131820"/>
          </a:solidFill>
          <a:ln w="12700">
            <a:solidFill>
              <a:srgbClr val="2A3441"/>
            </a:solidFill>
            <a:prstDash val="solid"/>
          </a:ln>
        </p:spPr>
        <p:txBody>
          <a:bodyPr/>
          <a:lstStyle/>
          <a:p>
            <a:endParaRPr lang="en-GB"/>
          </a:p>
        </p:txBody>
      </p:sp>
      <p:sp>
        <p:nvSpPr>
          <p:cNvPr id="8" name="Text 6"/>
          <p:cNvSpPr/>
          <p:nvPr/>
        </p:nvSpPr>
        <p:spPr>
          <a:xfrm>
            <a:off x="868680" y="2423160"/>
            <a:ext cx="1938528" cy="41148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Agent</a:t>
            </a:r>
            <a:endParaRPr lang="en-US" sz="1400" dirty="0"/>
          </a:p>
        </p:txBody>
      </p:sp>
      <p:sp>
        <p:nvSpPr>
          <p:cNvPr id="9" name="Text 7"/>
          <p:cNvSpPr/>
          <p:nvPr/>
        </p:nvSpPr>
        <p:spPr>
          <a:xfrm>
            <a:off x="868680" y="2834640"/>
            <a:ext cx="1938528" cy="54864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Launch a subagent</a:t>
            </a:r>
            <a:endParaRPr lang="en-US" sz="1100" dirty="0"/>
          </a:p>
        </p:txBody>
      </p:sp>
      <p:sp>
        <p:nvSpPr>
          <p:cNvPr id="10" name="Shape 8"/>
          <p:cNvSpPr/>
          <p:nvPr/>
        </p:nvSpPr>
        <p:spPr>
          <a:xfrm>
            <a:off x="3008376" y="2286000"/>
            <a:ext cx="2212848" cy="1188720"/>
          </a:xfrm>
          <a:prstGeom prst="rect">
            <a:avLst/>
          </a:prstGeom>
          <a:solidFill>
            <a:srgbClr val="131820"/>
          </a:solidFill>
          <a:ln w="12700">
            <a:solidFill>
              <a:srgbClr val="2A3441"/>
            </a:solidFill>
            <a:prstDash val="solid"/>
          </a:ln>
        </p:spPr>
        <p:txBody>
          <a:bodyPr/>
          <a:lstStyle/>
          <a:p>
            <a:endParaRPr lang="en-GB"/>
          </a:p>
        </p:txBody>
      </p:sp>
      <p:sp>
        <p:nvSpPr>
          <p:cNvPr id="11" name="Text 9"/>
          <p:cNvSpPr/>
          <p:nvPr/>
        </p:nvSpPr>
        <p:spPr>
          <a:xfrm>
            <a:off x="3145536" y="2423160"/>
            <a:ext cx="1938528" cy="41148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Bash</a:t>
            </a:r>
            <a:endParaRPr lang="en-US" sz="1400" dirty="0"/>
          </a:p>
        </p:txBody>
      </p:sp>
      <p:sp>
        <p:nvSpPr>
          <p:cNvPr id="12" name="Text 10"/>
          <p:cNvSpPr/>
          <p:nvPr/>
        </p:nvSpPr>
        <p:spPr>
          <a:xfrm>
            <a:off x="3145536" y="2834640"/>
            <a:ext cx="1938528" cy="54864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Run a shell command</a:t>
            </a:r>
            <a:endParaRPr lang="en-US" sz="1100" dirty="0"/>
          </a:p>
        </p:txBody>
      </p:sp>
      <p:sp>
        <p:nvSpPr>
          <p:cNvPr id="13" name="Shape 11"/>
          <p:cNvSpPr/>
          <p:nvPr/>
        </p:nvSpPr>
        <p:spPr>
          <a:xfrm>
            <a:off x="5285232" y="2286000"/>
            <a:ext cx="2212848" cy="1188720"/>
          </a:xfrm>
          <a:prstGeom prst="rect">
            <a:avLst/>
          </a:prstGeom>
          <a:solidFill>
            <a:srgbClr val="131820"/>
          </a:solidFill>
          <a:ln w="12700">
            <a:solidFill>
              <a:srgbClr val="2A3441"/>
            </a:solidFill>
            <a:prstDash val="solid"/>
          </a:ln>
        </p:spPr>
        <p:txBody>
          <a:bodyPr/>
          <a:lstStyle/>
          <a:p>
            <a:endParaRPr lang="en-GB"/>
          </a:p>
        </p:txBody>
      </p:sp>
      <p:sp>
        <p:nvSpPr>
          <p:cNvPr id="14" name="Text 12"/>
          <p:cNvSpPr/>
          <p:nvPr/>
        </p:nvSpPr>
        <p:spPr>
          <a:xfrm>
            <a:off x="5422392" y="2423160"/>
            <a:ext cx="1938528" cy="41148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Edit</a:t>
            </a:r>
            <a:endParaRPr lang="en-US" sz="1400" dirty="0"/>
          </a:p>
        </p:txBody>
      </p:sp>
      <p:sp>
        <p:nvSpPr>
          <p:cNvPr id="15" name="Text 13"/>
          <p:cNvSpPr/>
          <p:nvPr/>
        </p:nvSpPr>
        <p:spPr>
          <a:xfrm>
            <a:off x="5422392" y="2834640"/>
            <a:ext cx="1938528" cy="54864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Edit a file</a:t>
            </a:r>
            <a:endParaRPr lang="en-US" sz="1100" dirty="0"/>
          </a:p>
        </p:txBody>
      </p:sp>
      <p:sp>
        <p:nvSpPr>
          <p:cNvPr id="16" name="Shape 14"/>
          <p:cNvSpPr/>
          <p:nvPr/>
        </p:nvSpPr>
        <p:spPr>
          <a:xfrm>
            <a:off x="7562088" y="2286000"/>
            <a:ext cx="2212848" cy="1188720"/>
          </a:xfrm>
          <a:prstGeom prst="rect">
            <a:avLst/>
          </a:prstGeom>
          <a:solidFill>
            <a:srgbClr val="131820"/>
          </a:solidFill>
          <a:ln w="12700">
            <a:solidFill>
              <a:srgbClr val="2A3441"/>
            </a:solidFill>
            <a:prstDash val="solid"/>
          </a:ln>
        </p:spPr>
        <p:txBody>
          <a:bodyPr/>
          <a:lstStyle/>
          <a:p>
            <a:endParaRPr lang="en-GB"/>
          </a:p>
        </p:txBody>
      </p:sp>
      <p:sp>
        <p:nvSpPr>
          <p:cNvPr id="17" name="Text 15"/>
          <p:cNvSpPr/>
          <p:nvPr/>
        </p:nvSpPr>
        <p:spPr>
          <a:xfrm>
            <a:off x="7699248" y="2423160"/>
            <a:ext cx="1938528" cy="41148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Glob</a:t>
            </a:r>
            <a:endParaRPr lang="en-US" sz="1400" dirty="0"/>
          </a:p>
        </p:txBody>
      </p:sp>
      <p:sp>
        <p:nvSpPr>
          <p:cNvPr id="18" name="Text 16"/>
          <p:cNvSpPr/>
          <p:nvPr/>
        </p:nvSpPr>
        <p:spPr>
          <a:xfrm>
            <a:off x="7699248" y="2834640"/>
            <a:ext cx="1938528" cy="54864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Find files by pattern</a:t>
            </a:r>
            <a:endParaRPr lang="en-US" sz="1100" dirty="0"/>
          </a:p>
        </p:txBody>
      </p:sp>
      <p:sp>
        <p:nvSpPr>
          <p:cNvPr id="19" name="Shape 17"/>
          <p:cNvSpPr/>
          <p:nvPr/>
        </p:nvSpPr>
        <p:spPr>
          <a:xfrm>
            <a:off x="9838944" y="2286000"/>
            <a:ext cx="2212848" cy="1188720"/>
          </a:xfrm>
          <a:prstGeom prst="rect">
            <a:avLst/>
          </a:prstGeom>
          <a:solidFill>
            <a:srgbClr val="131820"/>
          </a:solidFill>
          <a:ln w="12700">
            <a:solidFill>
              <a:srgbClr val="2A3441"/>
            </a:solidFill>
            <a:prstDash val="solid"/>
          </a:ln>
        </p:spPr>
        <p:txBody>
          <a:bodyPr/>
          <a:lstStyle/>
          <a:p>
            <a:endParaRPr lang="en-GB"/>
          </a:p>
        </p:txBody>
      </p:sp>
      <p:sp>
        <p:nvSpPr>
          <p:cNvPr id="20" name="Text 18"/>
          <p:cNvSpPr/>
          <p:nvPr/>
        </p:nvSpPr>
        <p:spPr>
          <a:xfrm>
            <a:off x="9976104" y="2423160"/>
            <a:ext cx="1938528" cy="41148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Grep</a:t>
            </a:r>
            <a:endParaRPr lang="en-US" sz="1400" dirty="0"/>
          </a:p>
        </p:txBody>
      </p:sp>
      <p:sp>
        <p:nvSpPr>
          <p:cNvPr id="21" name="Text 19"/>
          <p:cNvSpPr/>
          <p:nvPr/>
        </p:nvSpPr>
        <p:spPr>
          <a:xfrm>
            <a:off x="9976104" y="2834640"/>
            <a:ext cx="1938528" cy="54864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Search file contents</a:t>
            </a:r>
            <a:endParaRPr lang="en-US" sz="1100" dirty="0"/>
          </a:p>
        </p:txBody>
      </p:sp>
      <p:sp>
        <p:nvSpPr>
          <p:cNvPr id="22" name="Shape 20"/>
          <p:cNvSpPr/>
          <p:nvPr/>
        </p:nvSpPr>
        <p:spPr>
          <a:xfrm>
            <a:off x="731520" y="3566160"/>
            <a:ext cx="2212848" cy="1188720"/>
          </a:xfrm>
          <a:prstGeom prst="rect">
            <a:avLst/>
          </a:prstGeom>
          <a:solidFill>
            <a:srgbClr val="131820"/>
          </a:solidFill>
          <a:ln w="12700">
            <a:solidFill>
              <a:srgbClr val="2A3441"/>
            </a:solidFill>
            <a:prstDash val="solid"/>
          </a:ln>
        </p:spPr>
        <p:txBody>
          <a:bodyPr/>
          <a:lstStyle/>
          <a:p>
            <a:endParaRPr lang="en-GB"/>
          </a:p>
        </p:txBody>
      </p:sp>
      <p:sp>
        <p:nvSpPr>
          <p:cNvPr id="23" name="Text 21"/>
          <p:cNvSpPr/>
          <p:nvPr/>
        </p:nvSpPr>
        <p:spPr>
          <a:xfrm>
            <a:off x="868680" y="3703320"/>
            <a:ext cx="1938528" cy="41148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LS</a:t>
            </a:r>
            <a:endParaRPr lang="en-US" sz="1400" dirty="0"/>
          </a:p>
        </p:txBody>
      </p:sp>
      <p:sp>
        <p:nvSpPr>
          <p:cNvPr id="24" name="Text 22"/>
          <p:cNvSpPr/>
          <p:nvPr/>
        </p:nvSpPr>
        <p:spPr>
          <a:xfrm>
            <a:off x="868680" y="4114800"/>
            <a:ext cx="1938528" cy="54864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List files &amp; dirs</a:t>
            </a:r>
            <a:endParaRPr lang="en-US" sz="1100" dirty="0"/>
          </a:p>
        </p:txBody>
      </p:sp>
      <p:sp>
        <p:nvSpPr>
          <p:cNvPr id="25" name="Shape 23"/>
          <p:cNvSpPr/>
          <p:nvPr/>
        </p:nvSpPr>
        <p:spPr>
          <a:xfrm>
            <a:off x="3008376" y="3566160"/>
            <a:ext cx="2212848" cy="1188720"/>
          </a:xfrm>
          <a:prstGeom prst="rect">
            <a:avLst/>
          </a:prstGeom>
          <a:solidFill>
            <a:srgbClr val="131820"/>
          </a:solidFill>
          <a:ln w="12700">
            <a:solidFill>
              <a:srgbClr val="2A3441"/>
            </a:solidFill>
            <a:prstDash val="solid"/>
          </a:ln>
        </p:spPr>
        <p:txBody>
          <a:bodyPr/>
          <a:lstStyle/>
          <a:p>
            <a:endParaRPr lang="en-GB"/>
          </a:p>
        </p:txBody>
      </p:sp>
      <p:sp>
        <p:nvSpPr>
          <p:cNvPr id="26" name="Text 24"/>
          <p:cNvSpPr/>
          <p:nvPr/>
        </p:nvSpPr>
        <p:spPr>
          <a:xfrm>
            <a:off x="3145536" y="3703320"/>
            <a:ext cx="1938528" cy="41148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MultiEdit</a:t>
            </a:r>
            <a:endParaRPr lang="en-US" sz="1400" dirty="0"/>
          </a:p>
        </p:txBody>
      </p:sp>
      <p:sp>
        <p:nvSpPr>
          <p:cNvPr id="27" name="Text 25"/>
          <p:cNvSpPr/>
          <p:nvPr/>
        </p:nvSpPr>
        <p:spPr>
          <a:xfrm>
            <a:off x="3145536" y="4114800"/>
            <a:ext cx="1938528" cy="54864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Multiple edits at once</a:t>
            </a:r>
            <a:endParaRPr lang="en-US" sz="1100" dirty="0"/>
          </a:p>
        </p:txBody>
      </p:sp>
      <p:sp>
        <p:nvSpPr>
          <p:cNvPr id="28" name="Shape 26"/>
          <p:cNvSpPr/>
          <p:nvPr/>
        </p:nvSpPr>
        <p:spPr>
          <a:xfrm>
            <a:off x="5285232" y="3566160"/>
            <a:ext cx="2212848" cy="1188720"/>
          </a:xfrm>
          <a:prstGeom prst="rect">
            <a:avLst/>
          </a:prstGeom>
          <a:solidFill>
            <a:srgbClr val="131820"/>
          </a:solidFill>
          <a:ln w="12700">
            <a:solidFill>
              <a:srgbClr val="2A3441"/>
            </a:solidFill>
            <a:prstDash val="solid"/>
          </a:ln>
        </p:spPr>
        <p:txBody>
          <a:bodyPr/>
          <a:lstStyle/>
          <a:p>
            <a:endParaRPr lang="en-GB"/>
          </a:p>
        </p:txBody>
      </p:sp>
      <p:sp>
        <p:nvSpPr>
          <p:cNvPr id="29" name="Text 27"/>
          <p:cNvSpPr/>
          <p:nvPr/>
        </p:nvSpPr>
        <p:spPr>
          <a:xfrm>
            <a:off x="5422392" y="3703320"/>
            <a:ext cx="1938528" cy="41148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Read</a:t>
            </a:r>
            <a:endParaRPr lang="en-US" sz="1400" dirty="0"/>
          </a:p>
        </p:txBody>
      </p:sp>
      <p:sp>
        <p:nvSpPr>
          <p:cNvPr id="30" name="Text 28"/>
          <p:cNvSpPr/>
          <p:nvPr/>
        </p:nvSpPr>
        <p:spPr>
          <a:xfrm>
            <a:off x="5422392" y="4114800"/>
            <a:ext cx="1938528" cy="54864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Read a file</a:t>
            </a:r>
            <a:endParaRPr lang="en-US" sz="1100" dirty="0"/>
          </a:p>
        </p:txBody>
      </p:sp>
      <p:sp>
        <p:nvSpPr>
          <p:cNvPr id="31" name="Shape 29"/>
          <p:cNvSpPr/>
          <p:nvPr/>
        </p:nvSpPr>
        <p:spPr>
          <a:xfrm>
            <a:off x="7562088" y="3566160"/>
            <a:ext cx="2212848" cy="1188720"/>
          </a:xfrm>
          <a:prstGeom prst="rect">
            <a:avLst/>
          </a:prstGeom>
          <a:solidFill>
            <a:srgbClr val="131820"/>
          </a:solidFill>
          <a:ln w="12700">
            <a:solidFill>
              <a:srgbClr val="2A3441"/>
            </a:solidFill>
            <a:prstDash val="solid"/>
          </a:ln>
        </p:spPr>
        <p:txBody>
          <a:bodyPr/>
          <a:lstStyle/>
          <a:p>
            <a:endParaRPr lang="en-GB"/>
          </a:p>
        </p:txBody>
      </p:sp>
      <p:sp>
        <p:nvSpPr>
          <p:cNvPr id="32" name="Text 30"/>
          <p:cNvSpPr/>
          <p:nvPr/>
        </p:nvSpPr>
        <p:spPr>
          <a:xfrm>
            <a:off x="7699248" y="3703320"/>
            <a:ext cx="1938528" cy="41148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Write</a:t>
            </a:r>
            <a:endParaRPr lang="en-US" sz="1400" dirty="0"/>
          </a:p>
        </p:txBody>
      </p:sp>
      <p:sp>
        <p:nvSpPr>
          <p:cNvPr id="33" name="Text 31"/>
          <p:cNvSpPr/>
          <p:nvPr/>
        </p:nvSpPr>
        <p:spPr>
          <a:xfrm>
            <a:off x="7699248" y="4114800"/>
            <a:ext cx="1938528" cy="54864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Write to a file</a:t>
            </a:r>
            <a:endParaRPr lang="en-US" sz="1100" dirty="0"/>
          </a:p>
        </p:txBody>
      </p:sp>
      <p:sp>
        <p:nvSpPr>
          <p:cNvPr id="34" name="Shape 32"/>
          <p:cNvSpPr/>
          <p:nvPr/>
        </p:nvSpPr>
        <p:spPr>
          <a:xfrm>
            <a:off x="9838944" y="3566160"/>
            <a:ext cx="2212848" cy="1188720"/>
          </a:xfrm>
          <a:prstGeom prst="rect">
            <a:avLst/>
          </a:prstGeom>
          <a:solidFill>
            <a:srgbClr val="131820"/>
          </a:solidFill>
          <a:ln w="12700">
            <a:solidFill>
              <a:srgbClr val="2A3441"/>
            </a:solidFill>
            <a:prstDash val="solid"/>
          </a:ln>
        </p:spPr>
        <p:txBody>
          <a:bodyPr/>
          <a:lstStyle/>
          <a:p>
            <a:endParaRPr lang="en-GB"/>
          </a:p>
        </p:txBody>
      </p:sp>
      <p:sp>
        <p:nvSpPr>
          <p:cNvPr id="35" name="Text 33"/>
          <p:cNvSpPr/>
          <p:nvPr/>
        </p:nvSpPr>
        <p:spPr>
          <a:xfrm>
            <a:off x="9976104" y="3703320"/>
            <a:ext cx="1938528" cy="41148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NotebookRead</a:t>
            </a:r>
            <a:endParaRPr lang="en-US" sz="1400" dirty="0"/>
          </a:p>
        </p:txBody>
      </p:sp>
      <p:sp>
        <p:nvSpPr>
          <p:cNvPr id="36" name="Text 34"/>
          <p:cNvSpPr/>
          <p:nvPr/>
        </p:nvSpPr>
        <p:spPr>
          <a:xfrm>
            <a:off x="9976104" y="4114800"/>
            <a:ext cx="1938528" cy="54864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Read notebook cell</a:t>
            </a:r>
            <a:endParaRPr lang="en-US" sz="1100" dirty="0"/>
          </a:p>
        </p:txBody>
      </p:sp>
      <p:sp>
        <p:nvSpPr>
          <p:cNvPr id="37" name="Shape 35"/>
          <p:cNvSpPr/>
          <p:nvPr/>
        </p:nvSpPr>
        <p:spPr>
          <a:xfrm>
            <a:off x="731520" y="4846320"/>
            <a:ext cx="2212848" cy="1188720"/>
          </a:xfrm>
          <a:prstGeom prst="rect">
            <a:avLst/>
          </a:prstGeom>
          <a:solidFill>
            <a:srgbClr val="131820"/>
          </a:solidFill>
          <a:ln w="12700">
            <a:solidFill>
              <a:srgbClr val="2A3441"/>
            </a:solidFill>
            <a:prstDash val="solid"/>
          </a:ln>
        </p:spPr>
        <p:txBody>
          <a:bodyPr/>
          <a:lstStyle/>
          <a:p>
            <a:endParaRPr lang="en-GB"/>
          </a:p>
        </p:txBody>
      </p:sp>
      <p:sp>
        <p:nvSpPr>
          <p:cNvPr id="38" name="Text 36"/>
          <p:cNvSpPr/>
          <p:nvPr/>
        </p:nvSpPr>
        <p:spPr>
          <a:xfrm>
            <a:off x="868680" y="4983480"/>
            <a:ext cx="1938528" cy="41148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NotebookEdit</a:t>
            </a:r>
            <a:endParaRPr lang="en-US" sz="1400" dirty="0"/>
          </a:p>
        </p:txBody>
      </p:sp>
      <p:sp>
        <p:nvSpPr>
          <p:cNvPr id="39" name="Text 37"/>
          <p:cNvSpPr/>
          <p:nvPr/>
        </p:nvSpPr>
        <p:spPr>
          <a:xfrm>
            <a:off x="868680" y="5394960"/>
            <a:ext cx="1938528" cy="54864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Edit notebook cell</a:t>
            </a:r>
            <a:endParaRPr lang="en-US" sz="1100" dirty="0"/>
          </a:p>
        </p:txBody>
      </p:sp>
      <p:sp>
        <p:nvSpPr>
          <p:cNvPr id="40" name="Shape 38"/>
          <p:cNvSpPr/>
          <p:nvPr/>
        </p:nvSpPr>
        <p:spPr>
          <a:xfrm>
            <a:off x="3008376" y="4846320"/>
            <a:ext cx="2212848" cy="1188720"/>
          </a:xfrm>
          <a:prstGeom prst="rect">
            <a:avLst/>
          </a:prstGeom>
          <a:solidFill>
            <a:srgbClr val="131820"/>
          </a:solidFill>
          <a:ln w="12700">
            <a:solidFill>
              <a:srgbClr val="2A3441"/>
            </a:solidFill>
            <a:prstDash val="solid"/>
          </a:ln>
        </p:spPr>
        <p:txBody>
          <a:bodyPr/>
          <a:lstStyle/>
          <a:p>
            <a:endParaRPr lang="en-GB"/>
          </a:p>
        </p:txBody>
      </p:sp>
      <p:sp>
        <p:nvSpPr>
          <p:cNvPr id="41" name="Text 39"/>
          <p:cNvSpPr/>
          <p:nvPr/>
        </p:nvSpPr>
        <p:spPr>
          <a:xfrm>
            <a:off x="3145536" y="4983480"/>
            <a:ext cx="1938528" cy="41148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TodoRead</a:t>
            </a:r>
            <a:endParaRPr lang="en-US" sz="1400" dirty="0"/>
          </a:p>
        </p:txBody>
      </p:sp>
      <p:sp>
        <p:nvSpPr>
          <p:cNvPr id="42" name="Text 40"/>
          <p:cNvSpPr/>
          <p:nvPr/>
        </p:nvSpPr>
        <p:spPr>
          <a:xfrm>
            <a:off x="3145536" y="5394960"/>
            <a:ext cx="1938528" cy="54864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Read tasks</a:t>
            </a:r>
            <a:endParaRPr lang="en-US" sz="1100" dirty="0"/>
          </a:p>
        </p:txBody>
      </p:sp>
      <p:sp>
        <p:nvSpPr>
          <p:cNvPr id="43" name="Shape 41"/>
          <p:cNvSpPr/>
          <p:nvPr/>
        </p:nvSpPr>
        <p:spPr>
          <a:xfrm>
            <a:off x="5285232" y="4846320"/>
            <a:ext cx="2212848" cy="1188720"/>
          </a:xfrm>
          <a:prstGeom prst="rect">
            <a:avLst/>
          </a:prstGeom>
          <a:solidFill>
            <a:srgbClr val="131820"/>
          </a:solidFill>
          <a:ln w="12700">
            <a:solidFill>
              <a:srgbClr val="2A3441"/>
            </a:solidFill>
            <a:prstDash val="solid"/>
          </a:ln>
        </p:spPr>
        <p:txBody>
          <a:bodyPr/>
          <a:lstStyle/>
          <a:p>
            <a:endParaRPr lang="en-GB"/>
          </a:p>
        </p:txBody>
      </p:sp>
      <p:sp>
        <p:nvSpPr>
          <p:cNvPr id="44" name="Text 42"/>
          <p:cNvSpPr/>
          <p:nvPr/>
        </p:nvSpPr>
        <p:spPr>
          <a:xfrm>
            <a:off x="5422392" y="4983480"/>
            <a:ext cx="1938528" cy="41148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TodoWrite</a:t>
            </a:r>
            <a:endParaRPr lang="en-US" sz="1400" dirty="0"/>
          </a:p>
        </p:txBody>
      </p:sp>
      <p:sp>
        <p:nvSpPr>
          <p:cNvPr id="45" name="Text 43"/>
          <p:cNvSpPr/>
          <p:nvPr/>
        </p:nvSpPr>
        <p:spPr>
          <a:xfrm>
            <a:off x="5422392" y="5394960"/>
            <a:ext cx="1938528" cy="54864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Update tasks</a:t>
            </a:r>
            <a:endParaRPr lang="en-US" sz="1100" dirty="0"/>
          </a:p>
        </p:txBody>
      </p:sp>
      <p:sp>
        <p:nvSpPr>
          <p:cNvPr id="46" name="Shape 44"/>
          <p:cNvSpPr/>
          <p:nvPr/>
        </p:nvSpPr>
        <p:spPr>
          <a:xfrm>
            <a:off x="7562088" y="4846320"/>
            <a:ext cx="2212848" cy="1188720"/>
          </a:xfrm>
          <a:prstGeom prst="rect">
            <a:avLst/>
          </a:prstGeom>
          <a:solidFill>
            <a:srgbClr val="131820"/>
          </a:solidFill>
          <a:ln w="12700">
            <a:solidFill>
              <a:srgbClr val="2A3441"/>
            </a:solidFill>
            <a:prstDash val="solid"/>
          </a:ln>
        </p:spPr>
        <p:txBody>
          <a:bodyPr/>
          <a:lstStyle/>
          <a:p>
            <a:endParaRPr lang="en-GB"/>
          </a:p>
        </p:txBody>
      </p:sp>
      <p:sp>
        <p:nvSpPr>
          <p:cNvPr id="47" name="Text 45"/>
          <p:cNvSpPr/>
          <p:nvPr/>
        </p:nvSpPr>
        <p:spPr>
          <a:xfrm>
            <a:off x="7699248" y="4983480"/>
            <a:ext cx="1938528" cy="41148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WebFetch</a:t>
            </a:r>
            <a:endParaRPr lang="en-US" sz="1400" dirty="0"/>
          </a:p>
        </p:txBody>
      </p:sp>
      <p:sp>
        <p:nvSpPr>
          <p:cNvPr id="48" name="Text 46"/>
          <p:cNvSpPr/>
          <p:nvPr/>
        </p:nvSpPr>
        <p:spPr>
          <a:xfrm>
            <a:off x="7699248" y="5394960"/>
            <a:ext cx="1938528" cy="54864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Fetch a URL</a:t>
            </a:r>
            <a:endParaRPr lang="en-US" sz="1100" dirty="0"/>
          </a:p>
        </p:txBody>
      </p:sp>
      <p:sp>
        <p:nvSpPr>
          <p:cNvPr id="49" name="Shape 47"/>
          <p:cNvSpPr/>
          <p:nvPr/>
        </p:nvSpPr>
        <p:spPr>
          <a:xfrm>
            <a:off x="9838944" y="4846320"/>
            <a:ext cx="2212848" cy="1188720"/>
          </a:xfrm>
          <a:prstGeom prst="rect">
            <a:avLst/>
          </a:prstGeom>
          <a:solidFill>
            <a:srgbClr val="131820"/>
          </a:solidFill>
          <a:ln w="12700">
            <a:solidFill>
              <a:srgbClr val="2A3441"/>
            </a:solidFill>
            <a:prstDash val="solid"/>
          </a:ln>
        </p:spPr>
        <p:txBody>
          <a:bodyPr/>
          <a:lstStyle/>
          <a:p>
            <a:endParaRPr lang="en-GB"/>
          </a:p>
        </p:txBody>
      </p:sp>
      <p:sp>
        <p:nvSpPr>
          <p:cNvPr id="50" name="Text 48"/>
          <p:cNvSpPr/>
          <p:nvPr/>
        </p:nvSpPr>
        <p:spPr>
          <a:xfrm>
            <a:off x="9976104" y="4983480"/>
            <a:ext cx="1938528" cy="41148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WebSearch</a:t>
            </a:r>
            <a:endParaRPr lang="en-US" sz="1400" dirty="0"/>
          </a:p>
        </p:txBody>
      </p:sp>
      <p:sp>
        <p:nvSpPr>
          <p:cNvPr id="51" name="Text 49"/>
          <p:cNvSpPr/>
          <p:nvPr/>
        </p:nvSpPr>
        <p:spPr>
          <a:xfrm>
            <a:off x="9976104" y="5394960"/>
            <a:ext cx="1938528" cy="54864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Search the web</a:t>
            </a:r>
            <a:endParaRPr lang="en-US" sz="1100" dirty="0"/>
          </a:p>
        </p:txBody>
      </p:sp>
      <p:sp>
        <p:nvSpPr>
          <p:cNvPr id="52" name="Text 50"/>
          <p:cNvSpPr/>
          <p:nvPr/>
        </p:nvSpPr>
        <p:spPr>
          <a:xfrm>
            <a:off x="731520" y="6126480"/>
            <a:ext cx="10972800" cy="320040"/>
          </a:xfrm>
          <a:prstGeom prst="rect">
            <a:avLst/>
          </a:prstGeom>
          <a:noFill/>
          <a:ln/>
        </p:spPr>
        <p:txBody>
          <a:bodyPr wrap="square" lIns="0" tIns="0" rIns="0" bIns="0" rtlCol="0" anchor="ctr"/>
          <a:lstStyle/>
          <a:p>
            <a:pPr marL="0" indent="0">
              <a:buNone/>
            </a:pPr>
            <a:r>
              <a:rPr lang="en-US" sz="1200" i="1" dirty="0">
                <a:solidFill>
                  <a:srgbClr val="6B7785"/>
                </a:solidFill>
                <a:latin typeface="Calibri" pitchFamily="34" charset="0"/>
                <a:ea typeface="Calibri" pitchFamily="34" charset="-122"/>
                <a:cs typeface="Calibri" pitchFamily="34" charset="-120"/>
              </a:rPr>
              <a:t>→ Want a current list? Ask Claude directly inside a session — the available tools change when you add MCP servers.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section_2/task_examples.md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09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What it actually does — four examples</a:t>
            </a:r>
            <a:endParaRPr lang="en-US" sz="3000" dirty="0"/>
          </a:p>
        </p:txBody>
      </p:sp>
      <p:sp>
        <p:nvSpPr>
          <p:cNvPr id="6" name="Shape 4"/>
          <p:cNvSpPr/>
          <p:nvPr/>
        </p:nvSpPr>
        <p:spPr>
          <a:xfrm>
            <a:off x="731520" y="1600200"/>
            <a:ext cx="5349240" cy="2148840"/>
          </a:xfrm>
          <a:prstGeom prst="rect">
            <a:avLst/>
          </a:prstGeom>
          <a:solidFill>
            <a:srgbClr val="131820"/>
          </a:solidFill>
          <a:ln w="12700">
            <a:solidFill>
              <a:srgbClr val="2A3441"/>
            </a:solidFill>
            <a:prstDash val="solid"/>
          </a:ln>
        </p:spPr>
        <p:txBody>
          <a:bodyPr/>
          <a:lstStyle/>
          <a:p>
            <a:endParaRPr lang="en-GB"/>
          </a:p>
        </p:txBody>
      </p:sp>
      <p:sp>
        <p:nvSpPr>
          <p:cNvPr id="7" name="Shape 5"/>
          <p:cNvSpPr/>
          <p:nvPr/>
        </p:nvSpPr>
        <p:spPr>
          <a:xfrm>
            <a:off x="731520" y="1600200"/>
            <a:ext cx="73152" cy="2148840"/>
          </a:xfrm>
          <a:prstGeom prst="rect">
            <a:avLst/>
          </a:prstGeom>
          <a:solidFill>
            <a:srgbClr val="FF9E3D"/>
          </a:solidFill>
          <a:ln/>
        </p:spPr>
        <p:txBody>
          <a:bodyPr/>
          <a:lstStyle/>
          <a:p>
            <a:endParaRPr lang="en-GB"/>
          </a:p>
        </p:txBody>
      </p:sp>
      <p:pic>
        <p:nvPicPr>
          <p:cNvPr id="8" name="Image 0" descr="preencoded.png"/>
          <p:cNvPicPr>
            <a:picLocks noChangeAspect="1"/>
          </p:cNvPicPr>
          <p:nvPr/>
        </p:nvPicPr>
        <p:blipFill>
          <a:blip r:embed="rId3"/>
          <a:stretch>
            <a:fillRect/>
          </a:stretch>
        </p:blipFill>
        <p:spPr>
          <a:xfrm>
            <a:off x="1005840" y="1783080"/>
            <a:ext cx="457200" cy="457200"/>
          </a:xfrm>
          <a:prstGeom prst="rect">
            <a:avLst/>
          </a:prstGeom>
        </p:spPr>
      </p:pic>
      <p:sp>
        <p:nvSpPr>
          <p:cNvPr id="9" name="Text 6"/>
          <p:cNvSpPr/>
          <p:nvPr/>
        </p:nvSpPr>
        <p:spPr>
          <a:xfrm>
            <a:off x="1600200" y="1737360"/>
            <a:ext cx="4343400" cy="457200"/>
          </a:xfrm>
          <a:prstGeom prst="rect">
            <a:avLst/>
          </a:prstGeom>
          <a:noFill/>
          <a:ln/>
        </p:spPr>
        <p:txBody>
          <a:bodyPr wrap="square" lIns="0" tIns="0" rIns="0" bIns="0" rtlCol="0" anchor="ctr"/>
          <a:lstStyle/>
          <a:p>
            <a:pPr marL="0" indent="0">
              <a:buNone/>
            </a:pPr>
            <a:r>
              <a:rPr lang="en-US" sz="1700" b="1" dirty="0">
                <a:solidFill>
                  <a:srgbClr val="E6EDF3"/>
                </a:solidFill>
                <a:latin typeface="Consolas" pitchFamily="34" charset="0"/>
                <a:ea typeface="Consolas" pitchFamily="34" charset="-122"/>
                <a:cs typeface="Consolas" pitchFamily="34" charset="-120"/>
              </a:rPr>
              <a:t>Optimization</a:t>
            </a:r>
            <a:endParaRPr lang="en-US" sz="1700" dirty="0"/>
          </a:p>
        </p:txBody>
      </p:sp>
      <p:sp>
        <p:nvSpPr>
          <p:cNvPr id="10" name="Text 7"/>
          <p:cNvSpPr/>
          <p:nvPr/>
        </p:nvSpPr>
        <p:spPr>
          <a:xfrm>
            <a:off x="1005840" y="2286000"/>
            <a:ext cx="4892040" cy="365760"/>
          </a:xfrm>
          <a:prstGeom prst="rect">
            <a:avLst/>
          </a:prstGeom>
          <a:noFill/>
          <a:ln/>
        </p:spPr>
        <p:txBody>
          <a:bodyPr wrap="square" lIns="0" tIns="0" rIns="0" bIns="0" rtlCol="0" anchor="ctr"/>
          <a:lstStyle/>
          <a:p>
            <a:pPr marL="0" indent="0">
              <a:buNone/>
            </a:pPr>
            <a:r>
              <a:rPr lang="en-US" sz="1100" i="1" dirty="0">
                <a:solidFill>
                  <a:srgbClr val="5EB3F5"/>
                </a:solidFill>
                <a:latin typeface="Consolas" pitchFamily="34" charset="0"/>
                <a:ea typeface="Consolas" pitchFamily="34" charset="-122"/>
                <a:cs typeface="Consolas" pitchFamily="34" charset="-120"/>
              </a:rPr>
              <a:t>&gt; Run benchmarks for chalk. Fix anything slow.</a:t>
            </a:r>
            <a:endParaRPr lang="en-US" sz="1100" dirty="0"/>
          </a:p>
        </p:txBody>
      </p:sp>
      <p:sp>
        <p:nvSpPr>
          <p:cNvPr id="11" name="Text 8"/>
          <p:cNvSpPr/>
          <p:nvPr/>
        </p:nvSpPr>
        <p:spPr>
          <a:xfrm>
            <a:off x="1005840" y="2651760"/>
            <a:ext cx="4892040" cy="1005840"/>
          </a:xfrm>
          <a:prstGeom prst="rect">
            <a:avLst/>
          </a:prstGeom>
          <a:noFill/>
          <a:ln/>
        </p:spPr>
        <p:txBody>
          <a:bodyPr wrap="square" lIns="0" tIns="0" rIns="0" bIns="0" rtlCol="0" anchor="ctr"/>
          <a:lstStyle/>
          <a:p>
            <a:pPr marL="342900" indent="-342900">
              <a:buSzPct val="100000"/>
              <a:buChar char="►"/>
            </a:pPr>
            <a:r>
              <a:rPr lang="en-US" sz="1100" dirty="0">
                <a:solidFill>
                  <a:srgbClr val="B9C4D0"/>
                </a:solidFill>
                <a:latin typeface="Calibri" pitchFamily="34" charset="0"/>
                <a:ea typeface="Calibri" pitchFamily="34" charset="-122"/>
                <a:cs typeface="Calibri" pitchFamily="34" charset="-120"/>
              </a:rPr>
              <a:t>Runs benchmarks</a:t>
            </a:r>
            <a:endParaRPr lang="en-US" sz="1100" dirty="0"/>
          </a:p>
          <a:p>
            <a:pPr marL="342900" indent="-342900">
              <a:buSzPct val="100000"/>
              <a:buChar char="►"/>
            </a:pPr>
            <a:r>
              <a:rPr lang="en-US" sz="1100" dirty="0">
                <a:solidFill>
                  <a:srgbClr val="B9C4D0"/>
                </a:solidFill>
                <a:latin typeface="Calibri" pitchFamily="34" charset="0"/>
                <a:ea typeface="Calibri" pitchFamily="34" charset="-122"/>
                <a:cs typeface="Calibri" pitchFamily="34" charset="-120"/>
              </a:rPr>
              <a:t>Writes worst-case sample</a:t>
            </a:r>
            <a:endParaRPr lang="en-US" sz="1100" dirty="0"/>
          </a:p>
          <a:p>
            <a:pPr marL="342900" indent="-342900">
              <a:buSzPct val="100000"/>
              <a:buChar char="►"/>
            </a:pPr>
            <a:r>
              <a:rPr lang="en-US" sz="1100" dirty="0">
                <a:solidFill>
                  <a:srgbClr val="B9C4D0"/>
                </a:solidFill>
                <a:latin typeface="Calibri" pitchFamily="34" charset="0"/>
                <a:ea typeface="Calibri" pitchFamily="34" charset="-122"/>
                <a:cs typeface="Calibri" pitchFamily="34" charset="-120"/>
              </a:rPr>
              <a:t>Profiles CPU</a:t>
            </a:r>
            <a:endParaRPr lang="en-US" sz="1100" dirty="0"/>
          </a:p>
          <a:p>
            <a:pPr marL="342900" indent="-342900">
              <a:buSzPct val="100000"/>
              <a:buChar char="►"/>
            </a:pPr>
            <a:r>
              <a:rPr lang="en-US" sz="1100" dirty="0">
                <a:solidFill>
                  <a:srgbClr val="B9C4D0"/>
                </a:solidFill>
                <a:latin typeface="Calibri" pitchFamily="34" charset="0"/>
                <a:ea typeface="Calibri" pitchFamily="34" charset="-122"/>
                <a:cs typeface="Calibri" pitchFamily="34" charset="-120"/>
              </a:rPr>
              <a:t>Implements + verifies fix</a:t>
            </a:r>
            <a:endParaRPr lang="en-US" sz="1100" dirty="0"/>
          </a:p>
        </p:txBody>
      </p:sp>
      <p:sp>
        <p:nvSpPr>
          <p:cNvPr id="12" name="Shape 9"/>
          <p:cNvSpPr/>
          <p:nvPr/>
        </p:nvSpPr>
        <p:spPr>
          <a:xfrm>
            <a:off x="6263640" y="1600200"/>
            <a:ext cx="5349240" cy="2148840"/>
          </a:xfrm>
          <a:prstGeom prst="rect">
            <a:avLst/>
          </a:prstGeom>
          <a:solidFill>
            <a:srgbClr val="131820"/>
          </a:solidFill>
          <a:ln w="12700">
            <a:solidFill>
              <a:srgbClr val="2A3441"/>
            </a:solidFill>
            <a:prstDash val="solid"/>
          </a:ln>
        </p:spPr>
        <p:txBody>
          <a:bodyPr/>
          <a:lstStyle/>
          <a:p>
            <a:endParaRPr lang="en-GB"/>
          </a:p>
        </p:txBody>
      </p:sp>
      <p:sp>
        <p:nvSpPr>
          <p:cNvPr id="13" name="Shape 10"/>
          <p:cNvSpPr/>
          <p:nvPr/>
        </p:nvSpPr>
        <p:spPr>
          <a:xfrm>
            <a:off x="6263640" y="1600200"/>
            <a:ext cx="73152" cy="2148840"/>
          </a:xfrm>
          <a:prstGeom prst="rect">
            <a:avLst/>
          </a:prstGeom>
          <a:solidFill>
            <a:srgbClr val="FF9E3D"/>
          </a:solidFill>
          <a:ln/>
        </p:spPr>
        <p:txBody>
          <a:bodyPr/>
          <a:lstStyle/>
          <a:p>
            <a:endParaRPr lang="en-GB"/>
          </a:p>
        </p:txBody>
      </p:sp>
      <p:pic>
        <p:nvPicPr>
          <p:cNvPr id="14" name="Image 1" descr="preencoded.png"/>
          <p:cNvPicPr>
            <a:picLocks noChangeAspect="1"/>
          </p:cNvPicPr>
          <p:nvPr/>
        </p:nvPicPr>
        <p:blipFill>
          <a:blip r:embed="rId4"/>
          <a:stretch>
            <a:fillRect/>
          </a:stretch>
        </p:blipFill>
        <p:spPr>
          <a:xfrm>
            <a:off x="6537960" y="1783080"/>
            <a:ext cx="457200" cy="457200"/>
          </a:xfrm>
          <a:prstGeom prst="rect">
            <a:avLst/>
          </a:prstGeom>
        </p:spPr>
      </p:pic>
      <p:sp>
        <p:nvSpPr>
          <p:cNvPr id="15" name="Text 11"/>
          <p:cNvSpPr/>
          <p:nvPr/>
        </p:nvSpPr>
        <p:spPr>
          <a:xfrm>
            <a:off x="7132320" y="1737360"/>
            <a:ext cx="4343400" cy="457200"/>
          </a:xfrm>
          <a:prstGeom prst="rect">
            <a:avLst/>
          </a:prstGeom>
          <a:noFill/>
          <a:ln/>
        </p:spPr>
        <p:txBody>
          <a:bodyPr wrap="square" lIns="0" tIns="0" rIns="0" bIns="0" rtlCol="0" anchor="ctr"/>
          <a:lstStyle/>
          <a:p>
            <a:pPr marL="0" indent="0">
              <a:buNone/>
            </a:pPr>
            <a:r>
              <a:rPr lang="en-US" sz="1700" b="1" dirty="0">
                <a:solidFill>
                  <a:srgbClr val="E6EDF3"/>
                </a:solidFill>
                <a:latin typeface="Consolas" pitchFamily="34" charset="0"/>
                <a:ea typeface="Consolas" pitchFamily="34" charset="-122"/>
                <a:cs typeface="Consolas" pitchFamily="34" charset="-120"/>
              </a:rPr>
              <a:t>Data analysis</a:t>
            </a:r>
            <a:endParaRPr lang="en-US" sz="1700" dirty="0"/>
          </a:p>
        </p:txBody>
      </p:sp>
      <p:sp>
        <p:nvSpPr>
          <p:cNvPr id="16" name="Text 12"/>
          <p:cNvSpPr/>
          <p:nvPr/>
        </p:nvSpPr>
        <p:spPr>
          <a:xfrm>
            <a:off x="6537960" y="2286000"/>
            <a:ext cx="4892040" cy="365760"/>
          </a:xfrm>
          <a:prstGeom prst="rect">
            <a:avLst/>
          </a:prstGeom>
          <a:noFill/>
          <a:ln/>
        </p:spPr>
        <p:txBody>
          <a:bodyPr wrap="square" lIns="0" tIns="0" rIns="0" bIns="0" rtlCol="0" anchor="ctr"/>
          <a:lstStyle/>
          <a:p>
            <a:pPr marL="0" indent="0">
              <a:buNone/>
            </a:pPr>
            <a:r>
              <a:rPr lang="en-US" sz="1100" i="1" dirty="0">
                <a:solidFill>
                  <a:srgbClr val="5EB3F5"/>
                </a:solidFill>
                <a:latin typeface="Consolas" pitchFamily="34" charset="0"/>
                <a:ea typeface="Consolas" pitchFamily="34" charset="-122"/>
                <a:cs typeface="Consolas" pitchFamily="34" charset="-120"/>
              </a:rPr>
              <a:t>&gt; Analyze streaming.csv.</a:t>
            </a:r>
            <a:endParaRPr lang="en-US" sz="1100" dirty="0"/>
          </a:p>
        </p:txBody>
      </p:sp>
      <p:sp>
        <p:nvSpPr>
          <p:cNvPr id="17" name="Text 13"/>
          <p:cNvSpPr/>
          <p:nvPr/>
        </p:nvSpPr>
        <p:spPr>
          <a:xfrm>
            <a:off x="6537960" y="2651760"/>
            <a:ext cx="4892040" cy="1005840"/>
          </a:xfrm>
          <a:prstGeom prst="rect">
            <a:avLst/>
          </a:prstGeom>
          <a:noFill/>
          <a:ln/>
        </p:spPr>
        <p:txBody>
          <a:bodyPr wrap="square" lIns="0" tIns="0" rIns="0" bIns="0" rtlCol="0" anchor="ctr"/>
          <a:lstStyle/>
          <a:p>
            <a:pPr marL="342900" indent="-342900">
              <a:buSzPct val="100000"/>
              <a:buChar char="►"/>
            </a:pPr>
            <a:r>
              <a:rPr lang="en-US" sz="1100" dirty="0">
                <a:solidFill>
                  <a:srgbClr val="B9C4D0"/>
                </a:solidFill>
                <a:latin typeface="Calibri" pitchFamily="34" charset="0"/>
                <a:ea typeface="Calibri" pitchFamily="34" charset="-122"/>
                <a:cs typeface="Calibri" pitchFamily="34" charset="-120"/>
              </a:rPr>
              <a:t>Writes notebook code</a:t>
            </a:r>
            <a:endParaRPr lang="en-US" sz="1100" dirty="0"/>
          </a:p>
          <a:p>
            <a:pPr marL="342900" indent="-342900">
              <a:buSzPct val="100000"/>
              <a:buChar char="►"/>
            </a:pPr>
            <a:r>
              <a:rPr lang="en-US" sz="1100" dirty="0">
                <a:solidFill>
                  <a:srgbClr val="B9C4D0"/>
                </a:solidFill>
                <a:latin typeface="Calibri" pitchFamily="34" charset="0"/>
                <a:ea typeface="Calibri" pitchFamily="34" charset="-122"/>
                <a:cs typeface="Calibri" pitchFamily="34" charset="-120"/>
              </a:rPr>
              <a:t>Examines format</a:t>
            </a:r>
            <a:endParaRPr lang="en-US" sz="1100" dirty="0"/>
          </a:p>
          <a:p>
            <a:pPr marL="342900" indent="-342900">
              <a:buSzPct val="100000"/>
              <a:buChar char="►"/>
            </a:pPr>
            <a:r>
              <a:rPr lang="en-US" sz="1100" dirty="0">
                <a:solidFill>
                  <a:srgbClr val="B9C4D0"/>
                </a:solidFill>
                <a:latin typeface="Calibri" pitchFamily="34" charset="0"/>
                <a:ea typeface="Calibri" pitchFamily="34" charset="-122"/>
                <a:cs typeface="Calibri" pitchFamily="34" charset="-120"/>
              </a:rPr>
              <a:t>Adds cells, iterates</a:t>
            </a:r>
            <a:endParaRPr lang="en-US" sz="1100" dirty="0"/>
          </a:p>
          <a:p>
            <a:pPr marL="342900" indent="-342900">
              <a:buSzPct val="100000"/>
              <a:buChar char="►"/>
            </a:pPr>
            <a:r>
              <a:rPr lang="en-US" sz="1100" dirty="0">
                <a:solidFill>
                  <a:srgbClr val="B9C4D0"/>
                </a:solidFill>
                <a:latin typeface="Calibri" pitchFamily="34" charset="0"/>
                <a:ea typeface="Calibri" pitchFamily="34" charset="-122"/>
                <a:cs typeface="Calibri" pitchFamily="34" charset="-120"/>
              </a:rPr>
              <a:t>Final summary</a:t>
            </a:r>
            <a:endParaRPr lang="en-US" sz="1100" dirty="0"/>
          </a:p>
        </p:txBody>
      </p:sp>
      <p:sp>
        <p:nvSpPr>
          <p:cNvPr id="18" name="Shape 14"/>
          <p:cNvSpPr/>
          <p:nvPr/>
        </p:nvSpPr>
        <p:spPr>
          <a:xfrm>
            <a:off x="731520" y="3931920"/>
            <a:ext cx="5349240" cy="2148840"/>
          </a:xfrm>
          <a:prstGeom prst="rect">
            <a:avLst/>
          </a:prstGeom>
          <a:solidFill>
            <a:srgbClr val="131820"/>
          </a:solidFill>
          <a:ln w="12700">
            <a:solidFill>
              <a:srgbClr val="2A3441"/>
            </a:solidFill>
            <a:prstDash val="solid"/>
          </a:ln>
        </p:spPr>
        <p:txBody>
          <a:bodyPr/>
          <a:lstStyle/>
          <a:p>
            <a:endParaRPr lang="en-GB"/>
          </a:p>
        </p:txBody>
      </p:sp>
      <p:sp>
        <p:nvSpPr>
          <p:cNvPr id="19" name="Shape 15"/>
          <p:cNvSpPr/>
          <p:nvPr/>
        </p:nvSpPr>
        <p:spPr>
          <a:xfrm>
            <a:off x="731520" y="3931920"/>
            <a:ext cx="73152" cy="2148840"/>
          </a:xfrm>
          <a:prstGeom prst="rect">
            <a:avLst/>
          </a:prstGeom>
          <a:solidFill>
            <a:srgbClr val="FF9E3D"/>
          </a:solidFill>
          <a:ln/>
        </p:spPr>
        <p:txBody>
          <a:bodyPr/>
          <a:lstStyle/>
          <a:p>
            <a:endParaRPr lang="en-GB"/>
          </a:p>
        </p:txBody>
      </p:sp>
      <p:pic>
        <p:nvPicPr>
          <p:cNvPr id="20" name="Image 2" descr="preencoded.png"/>
          <p:cNvPicPr>
            <a:picLocks noChangeAspect="1"/>
          </p:cNvPicPr>
          <p:nvPr/>
        </p:nvPicPr>
        <p:blipFill>
          <a:blip r:embed="rId5"/>
          <a:stretch>
            <a:fillRect/>
          </a:stretch>
        </p:blipFill>
        <p:spPr>
          <a:xfrm>
            <a:off x="1005840" y="4114800"/>
            <a:ext cx="457200" cy="457200"/>
          </a:xfrm>
          <a:prstGeom prst="rect">
            <a:avLst/>
          </a:prstGeom>
        </p:spPr>
      </p:pic>
      <p:sp>
        <p:nvSpPr>
          <p:cNvPr id="21" name="Text 16"/>
          <p:cNvSpPr/>
          <p:nvPr/>
        </p:nvSpPr>
        <p:spPr>
          <a:xfrm>
            <a:off x="1600200" y="4069080"/>
            <a:ext cx="4343400" cy="457200"/>
          </a:xfrm>
          <a:prstGeom prst="rect">
            <a:avLst/>
          </a:prstGeom>
          <a:noFill/>
          <a:ln/>
        </p:spPr>
        <p:txBody>
          <a:bodyPr wrap="square" lIns="0" tIns="0" rIns="0" bIns="0" rtlCol="0" anchor="ctr"/>
          <a:lstStyle/>
          <a:p>
            <a:pPr marL="0" indent="0">
              <a:buNone/>
            </a:pPr>
            <a:r>
              <a:rPr lang="en-US" sz="1700" b="1" dirty="0">
                <a:solidFill>
                  <a:srgbClr val="E6EDF3"/>
                </a:solidFill>
                <a:latin typeface="Consolas" pitchFamily="34" charset="0"/>
                <a:ea typeface="Consolas" pitchFamily="34" charset="-122"/>
                <a:cs typeface="Consolas" pitchFamily="34" charset="-120"/>
              </a:rPr>
              <a:t>UI styling (Playwright MCP)</a:t>
            </a:r>
            <a:endParaRPr lang="en-US" sz="1700" dirty="0"/>
          </a:p>
        </p:txBody>
      </p:sp>
      <p:sp>
        <p:nvSpPr>
          <p:cNvPr id="22" name="Text 17"/>
          <p:cNvSpPr/>
          <p:nvPr/>
        </p:nvSpPr>
        <p:spPr>
          <a:xfrm>
            <a:off x="1005840" y="4617720"/>
            <a:ext cx="4892040" cy="365760"/>
          </a:xfrm>
          <a:prstGeom prst="rect">
            <a:avLst/>
          </a:prstGeom>
          <a:noFill/>
          <a:ln/>
        </p:spPr>
        <p:txBody>
          <a:bodyPr wrap="square" lIns="0" tIns="0" rIns="0" bIns="0" rtlCol="0" anchor="ctr"/>
          <a:lstStyle/>
          <a:p>
            <a:pPr marL="0" indent="0">
              <a:buNone/>
            </a:pPr>
            <a:r>
              <a:rPr lang="en-US" sz="1100" i="1" dirty="0">
                <a:solidFill>
                  <a:srgbClr val="5EB3F5"/>
                </a:solidFill>
                <a:latin typeface="Consolas" pitchFamily="34" charset="0"/>
                <a:ea typeface="Consolas" pitchFamily="34" charset="-122"/>
                <a:cs typeface="Consolas" pitchFamily="34" charset="-120"/>
              </a:rPr>
              <a:t>&gt; Improve the chat interface design.</a:t>
            </a:r>
            <a:endParaRPr lang="en-US" sz="1100" dirty="0"/>
          </a:p>
        </p:txBody>
      </p:sp>
      <p:sp>
        <p:nvSpPr>
          <p:cNvPr id="23" name="Text 18"/>
          <p:cNvSpPr/>
          <p:nvPr/>
        </p:nvSpPr>
        <p:spPr>
          <a:xfrm>
            <a:off x="1005840" y="4983480"/>
            <a:ext cx="4892040" cy="1005840"/>
          </a:xfrm>
          <a:prstGeom prst="rect">
            <a:avLst/>
          </a:prstGeom>
          <a:noFill/>
          <a:ln/>
        </p:spPr>
        <p:txBody>
          <a:bodyPr wrap="square" lIns="0" tIns="0" rIns="0" bIns="0" rtlCol="0" anchor="ctr"/>
          <a:lstStyle/>
          <a:p>
            <a:pPr marL="342900" indent="-342900">
              <a:buSzPct val="100000"/>
              <a:buChar char="►"/>
            </a:pPr>
            <a:r>
              <a:rPr lang="en-US" sz="1100" dirty="0">
                <a:solidFill>
                  <a:srgbClr val="B9C4D0"/>
                </a:solidFill>
                <a:latin typeface="Calibri" pitchFamily="34" charset="0"/>
                <a:ea typeface="Calibri" pitchFamily="34" charset="-122"/>
                <a:cs typeface="Calibri" pitchFamily="34" charset="-120"/>
              </a:rPr>
              <a:t>Opens browser</a:t>
            </a:r>
            <a:endParaRPr lang="en-US" sz="1100" dirty="0"/>
          </a:p>
          <a:p>
            <a:pPr marL="342900" indent="-342900">
              <a:buSzPct val="100000"/>
              <a:buChar char="►"/>
            </a:pPr>
            <a:r>
              <a:rPr lang="en-US" sz="1100" dirty="0">
                <a:solidFill>
                  <a:srgbClr val="B9C4D0"/>
                </a:solidFill>
                <a:latin typeface="Calibri" pitchFamily="34" charset="0"/>
                <a:ea typeface="Calibri" pitchFamily="34" charset="-122"/>
                <a:cs typeface="Calibri" pitchFamily="34" charset="-120"/>
              </a:rPr>
              <a:t>Navigates to app</a:t>
            </a:r>
            <a:endParaRPr lang="en-US" sz="1100" dirty="0"/>
          </a:p>
          <a:p>
            <a:pPr marL="342900" indent="-342900">
              <a:buSzPct val="100000"/>
              <a:buChar char="►"/>
            </a:pPr>
            <a:r>
              <a:rPr lang="en-US" sz="1100" dirty="0">
                <a:solidFill>
                  <a:srgbClr val="B9C4D0"/>
                </a:solidFill>
                <a:latin typeface="Calibri" pitchFamily="34" charset="0"/>
                <a:ea typeface="Calibri" pitchFamily="34" charset="-122"/>
                <a:cs typeface="Calibri" pitchFamily="34" charset="-120"/>
              </a:rPr>
              <a:t>Takes screenshots</a:t>
            </a:r>
            <a:endParaRPr lang="en-US" sz="1100" dirty="0"/>
          </a:p>
          <a:p>
            <a:pPr marL="342900" indent="-342900">
              <a:buSzPct val="100000"/>
              <a:buChar char="►"/>
            </a:pPr>
            <a:r>
              <a:rPr lang="en-US" sz="1100" dirty="0">
                <a:solidFill>
                  <a:srgbClr val="B9C4D0"/>
                </a:solidFill>
                <a:latin typeface="Calibri" pitchFamily="34" charset="0"/>
                <a:ea typeface="Calibri" pitchFamily="34" charset="-122"/>
                <a:cs typeface="Calibri" pitchFamily="34" charset="-120"/>
              </a:rPr>
              <a:t>Updates styling</a:t>
            </a:r>
            <a:endParaRPr lang="en-US" sz="1100" dirty="0"/>
          </a:p>
        </p:txBody>
      </p:sp>
      <p:sp>
        <p:nvSpPr>
          <p:cNvPr id="24" name="Shape 19"/>
          <p:cNvSpPr/>
          <p:nvPr/>
        </p:nvSpPr>
        <p:spPr>
          <a:xfrm>
            <a:off x="6263640" y="3931920"/>
            <a:ext cx="5349240" cy="2148840"/>
          </a:xfrm>
          <a:prstGeom prst="rect">
            <a:avLst/>
          </a:prstGeom>
          <a:solidFill>
            <a:srgbClr val="131820"/>
          </a:solidFill>
          <a:ln w="12700">
            <a:solidFill>
              <a:srgbClr val="2A3441"/>
            </a:solidFill>
            <a:prstDash val="solid"/>
          </a:ln>
        </p:spPr>
        <p:txBody>
          <a:bodyPr/>
          <a:lstStyle/>
          <a:p>
            <a:endParaRPr lang="en-GB"/>
          </a:p>
        </p:txBody>
      </p:sp>
      <p:sp>
        <p:nvSpPr>
          <p:cNvPr id="25" name="Shape 20"/>
          <p:cNvSpPr/>
          <p:nvPr/>
        </p:nvSpPr>
        <p:spPr>
          <a:xfrm>
            <a:off x="6263640" y="3931920"/>
            <a:ext cx="73152" cy="2148840"/>
          </a:xfrm>
          <a:prstGeom prst="rect">
            <a:avLst/>
          </a:prstGeom>
          <a:solidFill>
            <a:srgbClr val="FF9E3D"/>
          </a:solidFill>
          <a:ln/>
        </p:spPr>
        <p:txBody>
          <a:bodyPr/>
          <a:lstStyle/>
          <a:p>
            <a:endParaRPr lang="en-GB"/>
          </a:p>
        </p:txBody>
      </p:sp>
      <p:pic>
        <p:nvPicPr>
          <p:cNvPr id="26" name="Image 3" descr="preencoded.png"/>
          <p:cNvPicPr>
            <a:picLocks noChangeAspect="1"/>
          </p:cNvPicPr>
          <p:nvPr/>
        </p:nvPicPr>
        <p:blipFill>
          <a:blip r:embed="rId6"/>
          <a:stretch>
            <a:fillRect/>
          </a:stretch>
        </p:blipFill>
        <p:spPr>
          <a:xfrm>
            <a:off x="6537960" y="4114800"/>
            <a:ext cx="457200" cy="457200"/>
          </a:xfrm>
          <a:prstGeom prst="rect">
            <a:avLst/>
          </a:prstGeom>
        </p:spPr>
      </p:pic>
      <p:sp>
        <p:nvSpPr>
          <p:cNvPr id="27" name="Text 21"/>
          <p:cNvSpPr/>
          <p:nvPr/>
        </p:nvSpPr>
        <p:spPr>
          <a:xfrm>
            <a:off x="7132320" y="4069080"/>
            <a:ext cx="4343400" cy="457200"/>
          </a:xfrm>
          <a:prstGeom prst="rect">
            <a:avLst/>
          </a:prstGeom>
          <a:noFill/>
          <a:ln/>
        </p:spPr>
        <p:txBody>
          <a:bodyPr wrap="square" lIns="0" tIns="0" rIns="0" bIns="0" rtlCol="0" anchor="ctr"/>
          <a:lstStyle/>
          <a:p>
            <a:pPr marL="0" indent="0">
              <a:buNone/>
            </a:pPr>
            <a:r>
              <a:rPr lang="en-US" sz="1700" b="1" dirty="0">
                <a:solidFill>
                  <a:srgbClr val="E6EDF3"/>
                </a:solidFill>
                <a:latin typeface="Consolas" pitchFamily="34" charset="0"/>
                <a:ea typeface="Consolas" pitchFamily="34" charset="-122"/>
                <a:cs typeface="Consolas" pitchFamily="34" charset="-120"/>
              </a:rPr>
              <a:t>GitHub (MCP)</a:t>
            </a:r>
            <a:endParaRPr lang="en-US" sz="1700" dirty="0"/>
          </a:p>
        </p:txBody>
      </p:sp>
      <p:sp>
        <p:nvSpPr>
          <p:cNvPr id="28" name="Text 22"/>
          <p:cNvSpPr/>
          <p:nvPr/>
        </p:nvSpPr>
        <p:spPr>
          <a:xfrm>
            <a:off x="6537960" y="4617720"/>
            <a:ext cx="4892040" cy="365760"/>
          </a:xfrm>
          <a:prstGeom prst="rect">
            <a:avLst/>
          </a:prstGeom>
          <a:noFill/>
          <a:ln/>
        </p:spPr>
        <p:txBody>
          <a:bodyPr wrap="square" lIns="0" tIns="0" rIns="0" bIns="0" rtlCol="0" anchor="ctr"/>
          <a:lstStyle/>
          <a:p>
            <a:pPr marL="0" indent="0">
              <a:buNone/>
            </a:pPr>
            <a:r>
              <a:rPr lang="en-US" sz="1100" i="1" dirty="0">
                <a:solidFill>
                  <a:srgbClr val="5EB3F5"/>
                </a:solidFill>
                <a:latin typeface="Consolas" pitchFamily="34" charset="0"/>
                <a:ea typeface="Consolas" pitchFamily="34" charset="-122"/>
                <a:cs typeface="Consolas" pitchFamily="34" charset="-120"/>
              </a:rPr>
              <a:t>&gt; Review changes in this PR.</a:t>
            </a:r>
            <a:endParaRPr lang="en-US" sz="1100" dirty="0"/>
          </a:p>
        </p:txBody>
      </p:sp>
      <p:sp>
        <p:nvSpPr>
          <p:cNvPr id="29" name="Text 23"/>
          <p:cNvSpPr/>
          <p:nvPr/>
        </p:nvSpPr>
        <p:spPr>
          <a:xfrm>
            <a:off x="6537960" y="4983480"/>
            <a:ext cx="4892040" cy="1005840"/>
          </a:xfrm>
          <a:prstGeom prst="rect">
            <a:avLst/>
          </a:prstGeom>
          <a:noFill/>
          <a:ln/>
        </p:spPr>
        <p:txBody>
          <a:bodyPr wrap="square" lIns="0" tIns="0" rIns="0" bIns="0" rtlCol="0" anchor="ctr"/>
          <a:lstStyle/>
          <a:p>
            <a:pPr marL="342900" indent="-342900">
              <a:buSzPct val="100000"/>
              <a:buChar char="►"/>
            </a:pPr>
            <a:r>
              <a:rPr lang="en-US" sz="1100" dirty="0">
                <a:solidFill>
                  <a:srgbClr val="B9C4D0"/>
                </a:solidFill>
                <a:latin typeface="Calibri" pitchFamily="34" charset="0"/>
                <a:ea typeface="Calibri" pitchFamily="34" charset="-122"/>
                <a:cs typeface="Calibri" pitchFamily="34" charset="-120"/>
              </a:rPr>
              <a:t>Reads PR diffs</a:t>
            </a:r>
            <a:endParaRPr lang="en-US" sz="1100" dirty="0"/>
          </a:p>
          <a:p>
            <a:pPr marL="342900" indent="-342900">
              <a:buSzPct val="100000"/>
              <a:buChar char="►"/>
            </a:pPr>
            <a:r>
              <a:rPr lang="en-US" sz="1100" dirty="0">
                <a:solidFill>
                  <a:srgbClr val="B9C4D0"/>
                </a:solidFill>
                <a:latin typeface="Calibri" pitchFamily="34" charset="0"/>
                <a:ea typeface="Calibri" pitchFamily="34" charset="-122"/>
                <a:cs typeface="Calibri" pitchFamily="34" charset="-120"/>
              </a:rPr>
              <a:t>Assesses code, perf, quality</a:t>
            </a:r>
            <a:endParaRPr lang="en-US" sz="1100" dirty="0"/>
          </a:p>
          <a:p>
            <a:pPr marL="342900" indent="-342900">
              <a:buSzPct val="100000"/>
              <a:buChar char="►"/>
            </a:pPr>
            <a:r>
              <a:rPr lang="en-US" sz="1100" dirty="0">
                <a:solidFill>
                  <a:srgbClr val="B9C4D0"/>
                </a:solidFill>
                <a:latin typeface="Calibri" pitchFamily="34" charset="0"/>
                <a:ea typeface="Calibri" pitchFamily="34" charset="-122"/>
                <a:cs typeface="Calibri" pitchFamily="34" charset="-120"/>
              </a:rPr>
              <a:t>Writes summary report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section_2/why_stands_out.md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10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Why Claude Code stands out</a:t>
            </a:r>
            <a:endParaRPr lang="en-US" sz="3000" dirty="0"/>
          </a:p>
        </p:txBody>
      </p:sp>
      <p:sp>
        <p:nvSpPr>
          <p:cNvPr id="6" name="Shape 4"/>
          <p:cNvSpPr/>
          <p:nvPr/>
        </p:nvSpPr>
        <p:spPr>
          <a:xfrm>
            <a:off x="640080" y="1965960"/>
            <a:ext cx="3611880" cy="3840480"/>
          </a:xfrm>
          <a:prstGeom prst="rect">
            <a:avLst/>
          </a:prstGeom>
          <a:solidFill>
            <a:srgbClr val="131820"/>
          </a:solidFill>
          <a:ln w="12700">
            <a:solidFill>
              <a:srgbClr val="2A3441"/>
            </a:solidFill>
            <a:prstDash val="solid"/>
          </a:ln>
        </p:spPr>
        <p:txBody>
          <a:bodyPr/>
          <a:lstStyle/>
          <a:p>
            <a:endParaRPr lang="en-GB"/>
          </a:p>
        </p:txBody>
      </p:sp>
      <p:sp>
        <p:nvSpPr>
          <p:cNvPr id="7" name="Shape 5"/>
          <p:cNvSpPr/>
          <p:nvPr/>
        </p:nvSpPr>
        <p:spPr>
          <a:xfrm>
            <a:off x="640080" y="1965960"/>
            <a:ext cx="3611880" cy="91440"/>
          </a:xfrm>
          <a:prstGeom prst="rect">
            <a:avLst/>
          </a:prstGeom>
          <a:solidFill>
            <a:srgbClr val="FF9E3D"/>
          </a:solidFill>
          <a:ln/>
        </p:spPr>
        <p:txBody>
          <a:bodyPr/>
          <a:lstStyle/>
          <a:p>
            <a:endParaRPr lang="en-GB"/>
          </a:p>
        </p:txBody>
      </p:sp>
      <p:sp>
        <p:nvSpPr>
          <p:cNvPr id="8" name="Shape 6"/>
          <p:cNvSpPr/>
          <p:nvPr/>
        </p:nvSpPr>
        <p:spPr>
          <a:xfrm>
            <a:off x="1943100" y="2377440"/>
            <a:ext cx="1005840" cy="1005840"/>
          </a:xfrm>
          <a:prstGeom prst="ellipse">
            <a:avLst/>
          </a:prstGeom>
          <a:solidFill>
            <a:srgbClr val="1A2030"/>
          </a:solidFill>
          <a:ln w="25400">
            <a:solidFill>
              <a:srgbClr val="FF9E3D"/>
            </a:solidFill>
            <a:prstDash val="solid"/>
          </a:ln>
        </p:spPr>
        <p:txBody>
          <a:bodyPr/>
          <a:lstStyle/>
          <a:p>
            <a:endParaRPr lang="en-GB"/>
          </a:p>
        </p:txBody>
      </p:sp>
      <p:pic>
        <p:nvPicPr>
          <p:cNvPr id="9" name="Image 0" descr="preencoded.png"/>
          <p:cNvPicPr>
            <a:picLocks noChangeAspect="1"/>
          </p:cNvPicPr>
          <p:nvPr/>
        </p:nvPicPr>
        <p:blipFill>
          <a:blip r:embed="rId3"/>
          <a:stretch>
            <a:fillRect/>
          </a:stretch>
        </p:blipFill>
        <p:spPr>
          <a:xfrm>
            <a:off x="2125980" y="2560320"/>
            <a:ext cx="640080" cy="640080"/>
          </a:xfrm>
          <a:prstGeom prst="rect">
            <a:avLst/>
          </a:prstGeom>
        </p:spPr>
      </p:pic>
      <p:sp>
        <p:nvSpPr>
          <p:cNvPr id="10" name="Text 7"/>
          <p:cNvSpPr/>
          <p:nvPr/>
        </p:nvSpPr>
        <p:spPr>
          <a:xfrm>
            <a:off x="822960" y="3566160"/>
            <a:ext cx="3246120" cy="457200"/>
          </a:xfrm>
          <a:prstGeom prst="rect">
            <a:avLst/>
          </a:prstGeom>
          <a:noFill/>
          <a:ln/>
        </p:spPr>
        <p:txBody>
          <a:bodyPr wrap="square" lIns="0" tIns="0" rIns="0" bIns="0" rtlCol="0" anchor="ctr"/>
          <a:lstStyle/>
          <a:p>
            <a:pPr marL="0" indent="0" algn="ctr">
              <a:buNone/>
            </a:pPr>
            <a:r>
              <a:rPr lang="en-US" sz="2200" b="1" dirty="0">
                <a:solidFill>
                  <a:srgbClr val="E6EDF3"/>
                </a:solidFill>
                <a:latin typeface="Consolas" pitchFamily="34" charset="0"/>
                <a:ea typeface="Consolas" pitchFamily="34" charset="-122"/>
                <a:cs typeface="Consolas" pitchFamily="34" charset="-120"/>
              </a:rPr>
              <a:t>Harder tasks</a:t>
            </a:r>
            <a:endParaRPr lang="en-US" sz="2200" dirty="0"/>
          </a:p>
        </p:txBody>
      </p:sp>
      <p:sp>
        <p:nvSpPr>
          <p:cNvPr id="11" name="Text 8"/>
          <p:cNvSpPr/>
          <p:nvPr/>
        </p:nvSpPr>
        <p:spPr>
          <a:xfrm>
            <a:off x="1005840" y="4160520"/>
            <a:ext cx="2880360" cy="146304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B9C4D0"/>
                </a:solidFill>
                <a:latin typeface="Calibri" pitchFamily="34" charset="0"/>
                <a:ea typeface="Calibri" pitchFamily="34" charset="-122"/>
                <a:cs typeface="Calibri" pitchFamily="34" charset="-120"/>
              </a:rPr>
              <a:t>Combines tools to handle complex work</a:t>
            </a:r>
            <a:endParaRPr lang="en-US" sz="1300" dirty="0"/>
          </a:p>
          <a:p>
            <a:pPr marL="342900" indent="-342900">
              <a:spcAft>
                <a:spcPts val="600"/>
              </a:spcAft>
              <a:buSzPct val="100000"/>
              <a:buChar char="●"/>
            </a:pPr>
            <a:r>
              <a:rPr lang="en-US" sz="1300" dirty="0">
                <a:solidFill>
                  <a:srgbClr val="B9C4D0"/>
                </a:solidFill>
                <a:latin typeface="Calibri" pitchFamily="34" charset="0"/>
                <a:ea typeface="Calibri" pitchFamily="34" charset="-122"/>
                <a:cs typeface="Calibri" pitchFamily="34" charset="-120"/>
              </a:rPr>
              <a:t>Adeptly uses tools it hasn't seen before</a:t>
            </a:r>
            <a:endParaRPr lang="en-US" sz="1300" dirty="0"/>
          </a:p>
        </p:txBody>
      </p:sp>
      <p:sp>
        <p:nvSpPr>
          <p:cNvPr id="12" name="Shape 9"/>
          <p:cNvSpPr/>
          <p:nvPr/>
        </p:nvSpPr>
        <p:spPr>
          <a:xfrm>
            <a:off x="4389120" y="1965960"/>
            <a:ext cx="3611880" cy="3840480"/>
          </a:xfrm>
          <a:prstGeom prst="rect">
            <a:avLst/>
          </a:prstGeom>
          <a:solidFill>
            <a:srgbClr val="131820"/>
          </a:solidFill>
          <a:ln w="12700">
            <a:solidFill>
              <a:srgbClr val="2A3441"/>
            </a:solidFill>
            <a:prstDash val="solid"/>
          </a:ln>
        </p:spPr>
        <p:txBody>
          <a:bodyPr/>
          <a:lstStyle/>
          <a:p>
            <a:endParaRPr lang="en-GB"/>
          </a:p>
        </p:txBody>
      </p:sp>
      <p:sp>
        <p:nvSpPr>
          <p:cNvPr id="13" name="Shape 10"/>
          <p:cNvSpPr/>
          <p:nvPr/>
        </p:nvSpPr>
        <p:spPr>
          <a:xfrm>
            <a:off x="4389120" y="1965960"/>
            <a:ext cx="3611880" cy="91440"/>
          </a:xfrm>
          <a:prstGeom prst="rect">
            <a:avLst/>
          </a:prstGeom>
          <a:solidFill>
            <a:srgbClr val="FF9E3D"/>
          </a:solidFill>
          <a:ln/>
        </p:spPr>
        <p:txBody>
          <a:bodyPr/>
          <a:lstStyle/>
          <a:p>
            <a:endParaRPr lang="en-GB"/>
          </a:p>
        </p:txBody>
      </p:sp>
      <p:sp>
        <p:nvSpPr>
          <p:cNvPr id="14" name="Shape 11"/>
          <p:cNvSpPr/>
          <p:nvPr/>
        </p:nvSpPr>
        <p:spPr>
          <a:xfrm>
            <a:off x="5692140" y="2377440"/>
            <a:ext cx="1005840" cy="1005840"/>
          </a:xfrm>
          <a:prstGeom prst="ellipse">
            <a:avLst/>
          </a:prstGeom>
          <a:solidFill>
            <a:srgbClr val="1A2030"/>
          </a:solidFill>
          <a:ln w="25400">
            <a:solidFill>
              <a:srgbClr val="FF9E3D"/>
            </a:solidFill>
            <a:prstDash val="solid"/>
          </a:ln>
        </p:spPr>
        <p:txBody>
          <a:bodyPr/>
          <a:lstStyle/>
          <a:p>
            <a:endParaRPr lang="en-GB"/>
          </a:p>
        </p:txBody>
      </p:sp>
      <p:pic>
        <p:nvPicPr>
          <p:cNvPr id="15" name="Image 1" descr="preencoded.png"/>
          <p:cNvPicPr>
            <a:picLocks noChangeAspect="1"/>
          </p:cNvPicPr>
          <p:nvPr/>
        </p:nvPicPr>
        <p:blipFill>
          <a:blip r:embed="rId4"/>
          <a:stretch>
            <a:fillRect/>
          </a:stretch>
        </p:blipFill>
        <p:spPr>
          <a:xfrm>
            <a:off x="5875020" y="2560320"/>
            <a:ext cx="640080" cy="640080"/>
          </a:xfrm>
          <a:prstGeom prst="rect">
            <a:avLst/>
          </a:prstGeom>
        </p:spPr>
      </p:pic>
      <p:sp>
        <p:nvSpPr>
          <p:cNvPr id="16" name="Text 12"/>
          <p:cNvSpPr/>
          <p:nvPr/>
        </p:nvSpPr>
        <p:spPr>
          <a:xfrm>
            <a:off x="4572000" y="3566160"/>
            <a:ext cx="3246120" cy="457200"/>
          </a:xfrm>
          <a:prstGeom prst="rect">
            <a:avLst/>
          </a:prstGeom>
          <a:noFill/>
          <a:ln/>
        </p:spPr>
        <p:txBody>
          <a:bodyPr wrap="square" lIns="0" tIns="0" rIns="0" bIns="0" rtlCol="0" anchor="ctr"/>
          <a:lstStyle/>
          <a:p>
            <a:pPr marL="0" indent="0" algn="ctr">
              <a:buNone/>
            </a:pPr>
            <a:r>
              <a:rPr lang="en-US" sz="2200" b="1" dirty="0">
                <a:solidFill>
                  <a:srgbClr val="E6EDF3"/>
                </a:solidFill>
                <a:latin typeface="Consolas" pitchFamily="34" charset="0"/>
                <a:ea typeface="Consolas" pitchFamily="34" charset="-122"/>
                <a:cs typeface="Consolas" pitchFamily="34" charset="-120"/>
              </a:rPr>
              <a:t>Extensible</a:t>
            </a:r>
            <a:endParaRPr lang="en-US" sz="2200" dirty="0"/>
          </a:p>
        </p:txBody>
      </p:sp>
      <p:sp>
        <p:nvSpPr>
          <p:cNvPr id="17" name="Text 13"/>
          <p:cNvSpPr/>
          <p:nvPr/>
        </p:nvSpPr>
        <p:spPr>
          <a:xfrm>
            <a:off x="4754880" y="4160520"/>
            <a:ext cx="2880360" cy="146304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B9C4D0"/>
                </a:solidFill>
                <a:latin typeface="Calibri" pitchFamily="34" charset="0"/>
                <a:ea typeface="Calibri" pitchFamily="34" charset="-122"/>
                <a:cs typeface="Calibri" pitchFamily="34" charset="-120"/>
              </a:rPr>
              <a:t>Easily add new capabilities</a:t>
            </a:r>
            <a:endParaRPr lang="en-US" sz="1300" dirty="0"/>
          </a:p>
          <a:p>
            <a:pPr marL="342900" indent="-342900">
              <a:spcAft>
                <a:spcPts val="600"/>
              </a:spcAft>
              <a:buSzPct val="100000"/>
              <a:buChar char="●"/>
            </a:pPr>
            <a:r>
              <a:rPr lang="en-US" sz="1300" dirty="0">
                <a:solidFill>
                  <a:srgbClr val="B9C4D0"/>
                </a:solidFill>
                <a:latin typeface="Calibri" pitchFamily="34" charset="0"/>
                <a:ea typeface="Calibri" pitchFamily="34" charset="-122"/>
                <a:cs typeface="Calibri" pitchFamily="34" charset="-120"/>
              </a:rPr>
              <a:t>Customize for your workflow</a:t>
            </a:r>
            <a:endParaRPr lang="en-US" sz="1300" dirty="0"/>
          </a:p>
          <a:p>
            <a:pPr marL="342900" indent="-342900">
              <a:spcAft>
                <a:spcPts val="600"/>
              </a:spcAft>
              <a:buSzPct val="100000"/>
              <a:buChar char="●"/>
            </a:pPr>
            <a:r>
              <a:rPr lang="en-US" sz="1300" dirty="0">
                <a:solidFill>
                  <a:srgbClr val="B9C4D0"/>
                </a:solidFill>
                <a:latin typeface="Calibri" pitchFamily="34" charset="0"/>
                <a:ea typeface="Calibri" pitchFamily="34" charset="-122"/>
                <a:cs typeface="Calibri" pitchFamily="34" charset="-120"/>
              </a:rPr>
              <a:t>Keeps up with rapid AI changes</a:t>
            </a:r>
            <a:endParaRPr lang="en-US" sz="1300" dirty="0"/>
          </a:p>
        </p:txBody>
      </p:sp>
      <p:sp>
        <p:nvSpPr>
          <p:cNvPr id="18" name="Shape 14"/>
          <p:cNvSpPr/>
          <p:nvPr/>
        </p:nvSpPr>
        <p:spPr>
          <a:xfrm>
            <a:off x="8138160" y="1965960"/>
            <a:ext cx="3611880" cy="3840480"/>
          </a:xfrm>
          <a:prstGeom prst="rect">
            <a:avLst/>
          </a:prstGeom>
          <a:solidFill>
            <a:srgbClr val="131820"/>
          </a:solidFill>
          <a:ln w="12700">
            <a:solidFill>
              <a:srgbClr val="2A3441"/>
            </a:solidFill>
            <a:prstDash val="solid"/>
          </a:ln>
        </p:spPr>
        <p:txBody>
          <a:bodyPr/>
          <a:lstStyle/>
          <a:p>
            <a:endParaRPr lang="en-GB"/>
          </a:p>
        </p:txBody>
      </p:sp>
      <p:sp>
        <p:nvSpPr>
          <p:cNvPr id="19" name="Shape 15"/>
          <p:cNvSpPr/>
          <p:nvPr/>
        </p:nvSpPr>
        <p:spPr>
          <a:xfrm>
            <a:off x="8138160" y="1965960"/>
            <a:ext cx="3611880" cy="91440"/>
          </a:xfrm>
          <a:prstGeom prst="rect">
            <a:avLst/>
          </a:prstGeom>
          <a:solidFill>
            <a:srgbClr val="FF9E3D"/>
          </a:solidFill>
          <a:ln/>
        </p:spPr>
        <p:txBody>
          <a:bodyPr/>
          <a:lstStyle/>
          <a:p>
            <a:endParaRPr lang="en-GB"/>
          </a:p>
        </p:txBody>
      </p:sp>
      <p:sp>
        <p:nvSpPr>
          <p:cNvPr id="20" name="Shape 16"/>
          <p:cNvSpPr/>
          <p:nvPr/>
        </p:nvSpPr>
        <p:spPr>
          <a:xfrm>
            <a:off x="9441180" y="2377440"/>
            <a:ext cx="1005840" cy="1005840"/>
          </a:xfrm>
          <a:prstGeom prst="ellipse">
            <a:avLst/>
          </a:prstGeom>
          <a:solidFill>
            <a:srgbClr val="1A2030"/>
          </a:solidFill>
          <a:ln w="25400">
            <a:solidFill>
              <a:srgbClr val="FF9E3D"/>
            </a:solidFill>
            <a:prstDash val="solid"/>
          </a:ln>
        </p:spPr>
        <p:txBody>
          <a:bodyPr/>
          <a:lstStyle/>
          <a:p>
            <a:endParaRPr lang="en-GB"/>
          </a:p>
        </p:txBody>
      </p:sp>
      <p:pic>
        <p:nvPicPr>
          <p:cNvPr id="21" name="Image 2" descr="preencoded.png"/>
          <p:cNvPicPr>
            <a:picLocks noChangeAspect="1"/>
          </p:cNvPicPr>
          <p:nvPr/>
        </p:nvPicPr>
        <p:blipFill>
          <a:blip r:embed="rId5"/>
          <a:stretch>
            <a:fillRect/>
          </a:stretch>
        </p:blipFill>
        <p:spPr>
          <a:xfrm>
            <a:off x="9624060" y="2560320"/>
            <a:ext cx="640080" cy="640080"/>
          </a:xfrm>
          <a:prstGeom prst="rect">
            <a:avLst/>
          </a:prstGeom>
        </p:spPr>
      </p:pic>
      <p:sp>
        <p:nvSpPr>
          <p:cNvPr id="22" name="Text 17"/>
          <p:cNvSpPr/>
          <p:nvPr/>
        </p:nvSpPr>
        <p:spPr>
          <a:xfrm>
            <a:off x="8321040" y="3566160"/>
            <a:ext cx="3246120" cy="457200"/>
          </a:xfrm>
          <a:prstGeom prst="rect">
            <a:avLst/>
          </a:prstGeom>
          <a:noFill/>
          <a:ln/>
        </p:spPr>
        <p:txBody>
          <a:bodyPr wrap="square" lIns="0" tIns="0" rIns="0" bIns="0" rtlCol="0" anchor="ctr"/>
          <a:lstStyle/>
          <a:p>
            <a:pPr marL="0" indent="0" algn="ctr">
              <a:buNone/>
            </a:pPr>
            <a:r>
              <a:rPr lang="en-US" sz="2200" b="1" dirty="0">
                <a:solidFill>
                  <a:srgbClr val="E6EDF3"/>
                </a:solidFill>
                <a:latin typeface="Consolas" pitchFamily="34" charset="0"/>
                <a:ea typeface="Consolas" pitchFamily="34" charset="-122"/>
                <a:cs typeface="Consolas" pitchFamily="34" charset="-120"/>
              </a:rPr>
              <a:t>Better security</a:t>
            </a:r>
            <a:endParaRPr lang="en-US" sz="2200" dirty="0"/>
          </a:p>
        </p:txBody>
      </p:sp>
      <p:sp>
        <p:nvSpPr>
          <p:cNvPr id="23" name="Text 18"/>
          <p:cNvSpPr/>
          <p:nvPr/>
        </p:nvSpPr>
        <p:spPr>
          <a:xfrm>
            <a:off x="8503920" y="4160520"/>
            <a:ext cx="2880360" cy="146304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B9C4D0"/>
                </a:solidFill>
                <a:latin typeface="Calibri" pitchFamily="34" charset="0"/>
                <a:ea typeface="Calibri" pitchFamily="34" charset="-122"/>
                <a:cs typeface="Calibri" pitchFamily="34" charset="-120"/>
              </a:rPr>
              <a:t>No codebase indexing required</a:t>
            </a:r>
            <a:endParaRPr lang="en-US" sz="1300" dirty="0"/>
          </a:p>
          <a:p>
            <a:pPr marL="342900" indent="-342900">
              <a:spcAft>
                <a:spcPts val="600"/>
              </a:spcAft>
              <a:buSzPct val="100000"/>
              <a:buChar char="●"/>
            </a:pPr>
            <a:r>
              <a:rPr lang="en-US" sz="1300" dirty="0">
                <a:solidFill>
                  <a:srgbClr val="B9C4D0"/>
                </a:solidFill>
                <a:latin typeface="Calibri" pitchFamily="34" charset="0"/>
                <a:ea typeface="Calibri" pitchFamily="34" charset="-122"/>
                <a:cs typeface="Calibri" pitchFamily="34" charset="-120"/>
              </a:rPr>
              <a:t>Your code stays on your machine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section_2/install.md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11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Install Claude Code</a:t>
            </a:r>
            <a:endParaRPr lang="en-US" sz="3000" dirty="0"/>
          </a:p>
        </p:txBody>
      </p:sp>
      <p:sp>
        <p:nvSpPr>
          <p:cNvPr id="6" name="Shape 4"/>
          <p:cNvSpPr/>
          <p:nvPr/>
        </p:nvSpPr>
        <p:spPr>
          <a:xfrm>
            <a:off x="731520" y="1691640"/>
            <a:ext cx="2926080" cy="777240"/>
          </a:xfrm>
          <a:prstGeom prst="rect">
            <a:avLst/>
          </a:prstGeom>
          <a:solidFill>
            <a:srgbClr val="131820"/>
          </a:solidFill>
          <a:ln/>
        </p:spPr>
        <p:txBody>
          <a:bodyPr/>
          <a:lstStyle/>
          <a:p>
            <a:endParaRPr lang="en-GB"/>
          </a:p>
        </p:txBody>
      </p:sp>
      <p:sp>
        <p:nvSpPr>
          <p:cNvPr id="7" name="Text 5"/>
          <p:cNvSpPr/>
          <p:nvPr/>
        </p:nvSpPr>
        <p:spPr>
          <a:xfrm>
            <a:off x="868680" y="1691640"/>
            <a:ext cx="2743200" cy="777240"/>
          </a:xfrm>
          <a:prstGeom prst="rect">
            <a:avLst/>
          </a:prstGeom>
          <a:noFill/>
          <a:ln/>
        </p:spPr>
        <p:txBody>
          <a:bodyPr wrap="square" lIns="0" tIns="0" rIns="0" bIns="0" rtlCol="0" anchor="ctr"/>
          <a:lstStyle/>
          <a:p>
            <a:pPr marL="0" indent="0">
              <a:buNone/>
            </a:pPr>
            <a:r>
              <a:rPr lang="en-US" sz="1300" b="1" dirty="0">
                <a:solidFill>
                  <a:srgbClr val="FF9E3D"/>
                </a:solidFill>
                <a:latin typeface="Consolas" pitchFamily="34" charset="0"/>
                <a:ea typeface="Consolas" pitchFamily="34" charset="-122"/>
                <a:cs typeface="Consolas" pitchFamily="34" charset="-120"/>
              </a:rPr>
              <a:t>macOS / Linux / WSL</a:t>
            </a:r>
            <a:endParaRPr lang="en-US" sz="1300" dirty="0"/>
          </a:p>
        </p:txBody>
      </p:sp>
      <p:sp>
        <p:nvSpPr>
          <p:cNvPr id="8" name="Shape 6"/>
          <p:cNvSpPr/>
          <p:nvPr/>
        </p:nvSpPr>
        <p:spPr>
          <a:xfrm>
            <a:off x="3749040" y="1691640"/>
            <a:ext cx="7680960" cy="777240"/>
          </a:xfrm>
          <a:prstGeom prst="rect">
            <a:avLst/>
          </a:prstGeom>
          <a:solidFill>
            <a:srgbClr val="1A2030"/>
          </a:solidFill>
          <a:ln w="12700">
            <a:solidFill>
              <a:srgbClr val="2A3441"/>
            </a:solidFill>
            <a:prstDash val="solid"/>
          </a:ln>
        </p:spPr>
        <p:txBody>
          <a:bodyPr/>
          <a:lstStyle/>
          <a:p>
            <a:endParaRPr lang="en-GB"/>
          </a:p>
        </p:txBody>
      </p:sp>
      <p:sp>
        <p:nvSpPr>
          <p:cNvPr id="9" name="Text 7"/>
          <p:cNvSpPr/>
          <p:nvPr/>
        </p:nvSpPr>
        <p:spPr>
          <a:xfrm>
            <a:off x="3886200" y="1691640"/>
            <a:ext cx="7452360" cy="777240"/>
          </a:xfrm>
          <a:prstGeom prst="rect">
            <a:avLst/>
          </a:prstGeom>
          <a:noFill/>
          <a:ln/>
        </p:spPr>
        <p:txBody>
          <a:bodyPr wrap="square" lIns="0" tIns="0" rIns="0" bIns="0" rtlCol="0" anchor="ctr"/>
          <a:lstStyle/>
          <a:p>
            <a:pPr marL="0" indent="0">
              <a:buNone/>
            </a:pPr>
            <a:r>
              <a:rPr lang="en-US" sz="1200" b="1" dirty="0">
                <a:solidFill>
                  <a:srgbClr val="8AE65C"/>
                </a:solidFill>
                <a:latin typeface="Consolas" pitchFamily="34" charset="0"/>
                <a:ea typeface="Consolas" pitchFamily="34" charset="-122"/>
                <a:cs typeface="Consolas" pitchFamily="34" charset="-120"/>
              </a:rPr>
              <a:t>$ </a:t>
            </a:r>
            <a:r>
              <a:rPr lang="en-US" sz="1200" dirty="0">
                <a:solidFill>
                  <a:srgbClr val="B9C4D0"/>
                </a:solidFill>
                <a:latin typeface="Consolas" pitchFamily="34" charset="0"/>
                <a:ea typeface="Consolas" pitchFamily="34" charset="-122"/>
                <a:cs typeface="Consolas" pitchFamily="34" charset="-120"/>
              </a:rPr>
              <a:t>curl -fsSL https://claude.ai/install.sh | bash</a:t>
            </a:r>
            <a:endParaRPr lang="en-US" sz="1200" dirty="0"/>
          </a:p>
        </p:txBody>
      </p:sp>
      <p:sp>
        <p:nvSpPr>
          <p:cNvPr id="10" name="Shape 8"/>
          <p:cNvSpPr/>
          <p:nvPr/>
        </p:nvSpPr>
        <p:spPr>
          <a:xfrm>
            <a:off x="731520" y="2578608"/>
            <a:ext cx="2926080" cy="777240"/>
          </a:xfrm>
          <a:prstGeom prst="rect">
            <a:avLst/>
          </a:prstGeom>
          <a:solidFill>
            <a:srgbClr val="131820"/>
          </a:solidFill>
          <a:ln/>
        </p:spPr>
        <p:txBody>
          <a:bodyPr/>
          <a:lstStyle/>
          <a:p>
            <a:endParaRPr lang="en-GB"/>
          </a:p>
        </p:txBody>
      </p:sp>
      <p:sp>
        <p:nvSpPr>
          <p:cNvPr id="11" name="Text 9"/>
          <p:cNvSpPr/>
          <p:nvPr/>
        </p:nvSpPr>
        <p:spPr>
          <a:xfrm>
            <a:off x="868680" y="2578608"/>
            <a:ext cx="2743200" cy="777240"/>
          </a:xfrm>
          <a:prstGeom prst="rect">
            <a:avLst/>
          </a:prstGeom>
          <a:noFill/>
          <a:ln/>
        </p:spPr>
        <p:txBody>
          <a:bodyPr wrap="square" lIns="0" tIns="0" rIns="0" bIns="0" rtlCol="0" anchor="ctr"/>
          <a:lstStyle/>
          <a:p>
            <a:pPr marL="0" indent="0">
              <a:buNone/>
            </a:pPr>
            <a:r>
              <a:rPr lang="en-US" sz="1300" b="1" dirty="0">
                <a:solidFill>
                  <a:srgbClr val="FF9E3D"/>
                </a:solidFill>
                <a:latin typeface="Consolas" pitchFamily="34" charset="0"/>
                <a:ea typeface="Consolas" pitchFamily="34" charset="-122"/>
                <a:cs typeface="Consolas" pitchFamily="34" charset="-120"/>
              </a:rPr>
              <a:t>Windows PowerShell</a:t>
            </a:r>
            <a:endParaRPr lang="en-US" sz="1300" dirty="0"/>
          </a:p>
        </p:txBody>
      </p:sp>
      <p:sp>
        <p:nvSpPr>
          <p:cNvPr id="12" name="Shape 10"/>
          <p:cNvSpPr/>
          <p:nvPr/>
        </p:nvSpPr>
        <p:spPr>
          <a:xfrm>
            <a:off x="3749040" y="2578608"/>
            <a:ext cx="7680960" cy="777240"/>
          </a:xfrm>
          <a:prstGeom prst="rect">
            <a:avLst/>
          </a:prstGeom>
          <a:solidFill>
            <a:srgbClr val="1A2030"/>
          </a:solidFill>
          <a:ln w="12700">
            <a:solidFill>
              <a:srgbClr val="2A3441"/>
            </a:solidFill>
            <a:prstDash val="solid"/>
          </a:ln>
        </p:spPr>
        <p:txBody>
          <a:bodyPr/>
          <a:lstStyle/>
          <a:p>
            <a:endParaRPr lang="en-GB"/>
          </a:p>
        </p:txBody>
      </p:sp>
      <p:sp>
        <p:nvSpPr>
          <p:cNvPr id="13" name="Text 11"/>
          <p:cNvSpPr/>
          <p:nvPr/>
        </p:nvSpPr>
        <p:spPr>
          <a:xfrm>
            <a:off x="3886200" y="2578608"/>
            <a:ext cx="7452360" cy="777240"/>
          </a:xfrm>
          <a:prstGeom prst="rect">
            <a:avLst/>
          </a:prstGeom>
          <a:noFill/>
          <a:ln/>
        </p:spPr>
        <p:txBody>
          <a:bodyPr wrap="square" lIns="0" tIns="0" rIns="0" bIns="0" rtlCol="0" anchor="ctr"/>
          <a:lstStyle/>
          <a:p>
            <a:pPr marL="0" indent="0">
              <a:buNone/>
            </a:pPr>
            <a:r>
              <a:rPr lang="en-US" sz="1200" b="1" dirty="0">
                <a:solidFill>
                  <a:srgbClr val="8AE65C"/>
                </a:solidFill>
                <a:latin typeface="Consolas" pitchFamily="34" charset="0"/>
                <a:ea typeface="Consolas" pitchFamily="34" charset="-122"/>
                <a:cs typeface="Consolas" pitchFamily="34" charset="-120"/>
              </a:rPr>
              <a:t>$ </a:t>
            </a:r>
            <a:r>
              <a:rPr lang="en-US" sz="1200" dirty="0">
                <a:solidFill>
                  <a:srgbClr val="B9C4D0"/>
                </a:solidFill>
                <a:latin typeface="Consolas" pitchFamily="34" charset="0"/>
                <a:ea typeface="Consolas" pitchFamily="34" charset="-122"/>
                <a:cs typeface="Consolas" pitchFamily="34" charset="-120"/>
              </a:rPr>
              <a:t>irm https://claude.ai/install.ps1 | iex</a:t>
            </a:r>
            <a:endParaRPr lang="en-US" sz="1200" dirty="0"/>
          </a:p>
        </p:txBody>
      </p:sp>
      <p:sp>
        <p:nvSpPr>
          <p:cNvPr id="14" name="Shape 12"/>
          <p:cNvSpPr/>
          <p:nvPr/>
        </p:nvSpPr>
        <p:spPr>
          <a:xfrm>
            <a:off x="731520" y="3465576"/>
            <a:ext cx="2926080" cy="777240"/>
          </a:xfrm>
          <a:prstGeom prst="rect">
            <a:avLst/>
          </a:prstGeom>
          <a:solidFill>
            <a:srgbClr val="131820"/>
          </a:solidFill>
          <a:ln/>
        </p:spPr>
        <p:txBody>
          <a:bodyPr/>
          <a:lstStyle/>
          <a:p>
            <a:endParaRPr lang="en-GB"/>
          </a:p>
        </p:txBody>
      </p:sp>
      <p:sp>
        <p:nvSpPr>
          <p:cNvPr id="15" name="Text 13"/>
          <p:cNvSpPr/>
          <p:nvPr/>
        </p:nvSpPr>
        <p:spPr>
          <a:xfrm>
            <a:off x="868680" y="3465576"/>
            <a:ext cx="2743200" cy="777240"/>
          </a:xfrm>
          <a:prstGeom prst="rect">
            <a:avLst/>
          </a:prstGeom>
          <a:noFill/>
          <a:ln/>
        </p:spPr>
        <p:txBody>
          <a:bodyPr wrap="square" lIns="0" tIns="0" rIns="0" bIns="0" rtlCol="0" anchor="ctr"/>
          <a:lstStyle/>
          <a:p>
            <a:pPr marL="0" indent="0">
              <a:buNone/>
            </a:pPr>
            <a:r>
              <a:rPr lang="en-US" sz="1300" b="1" dirty="0">
                <a:solidFill>
                  <a:srgbClr val="FF9E3D"/>
                </a:solidFill>
                <a:latin typeface="Consolas" pitchFamily="34" charset="0"/>
                <a:ea typeface="Consolas" pitchFamily="34" charset="-122"/>
                <a:cs typeface="Consolas" pitchFamily="34" charset="-120"/>
              </a:rPr>
              <a:t>Windows cmd.exe</a:t>
            </a:r>
            <a:endParaRPr lang="en-US" sz="1300" dirty="0"/>
          </a:p>
        </p:txBody>
      </p:sp>
      <p:sp>
        <p:nvSpPr>
          <p:cNvPr id="16" name="Shape 14"/>
          <p:cNvSpPr/>
          <p:nvPr/>
        </p:nvSpPr>
        <p:spPr>
          <a:xfrm>
            <a:off x="3749040" y="3465576"/>
            <a:ext cx="7680960" cy="777240"/>
          </a:xfrm>
          <a:prstGeom prst="rect">
            <a:avLst/>
          </a:prstGeom>
          <a:solidFill>
            <a:srgbClr val="1A2030"/>
          </a:solidFill>
          <a:ln w="12700">
            <a:solidFill>
              <a:srgbClr val="2A3441"/>
            </a:solidFill>
            <a:prstDash val="solid"/>
          </a:ln>
        </p:spPr>
        <p:txBody>
          <a:bodyPr/>
          <a:lstStyle/>
          <a:p>
            <a:endParaRPr lang="en-GB"/>
          </a:p>
        </p:txBody>
      </p:sp>
      <p:sp>
        <p:nvSpPr>
          <p:cNvPr id="17" name="Text 15"/>
          <p:cNvSpPr/>
          <p:nvPr/>
        </p:nvSpPr>
        <p:spPr>
          <a:xfrm>
            <a:off x="3886200" y="3465576"/>
            <a:ext cx="7452360" cy="777240"/>
          </a:xfrm>
          <a:prstGeom prst="rect">
            <a:avLst/>
          </a:prstGeom>
          <a:noFill/>
          <a:ln/>
        </p:spPr>
        <p:txBody>
          <a:bodyPr wrap="square" lIns="0" tIns="0" rIns="0" bIns="0" rtlCol="0" anchor="ctr"/>
          <a:lstStyle/>
          <a:p>
            <a:pPr marL="0" indent="0">
              <a:buNone/>
            </a:pPr>
            <a:r>
              <a:rPr lang="en-US" sz="1200" b="1" dirty="0">
                <a:solidFill>
                  <a:srgbClr val="8AE65C"/>
                </a:solidFill>
                <a:latin typeface="Consolas" pitchFamily="34" charset="0"/>
                <a:ea typeface="Consolas" pitchFamily="34" charset="-122"/>
                <a:cs typeface="Consolas" pitchFamily="34" charset="-120"/>
              </a:rPr>
              <a:t>$ </a:t>
            </a:r>
            <a:r>
              <a:rPr lang="en-US" sz="1200" dirty="0">
                <a:solidFill>
                  <a:srgbClr val="B9C4D0"/>
                </a:solidFill>
                <a:latin typeface="Consolas" pitchFamily="34" charset="0"/>
                <a:ea typeface="Consolas" pitchFamily="34" charset="-122"/>
                <a:cs typeface="Consolas" pitchFamily="34" charset="-120"/>
              </a:rPr>
              <a:t>curl -fsSL https://claude.ai/install.cmd -o install.cmd &amp;&amp; install.cmd &amp;&amp; del install.cmd</a:t>
            </a:r>
            <a:endParaRPr lang="en-US" sz="1200" dirty="0"/>
          </a:p>
        </p:txBody>
      </p:sp>
      <p:sp>
        <p:nvSpPr>
          <p:cNvPr id="18" name="Shape 16"/>
          <p:cNvSpPr/>
          <p:nvPr/>
        </p:nvSpPr>
        <p:spPr>
          <a:xfrm>
            <a:off x="731520" y="4352544"/>
            <a:ext cx="2926080" cy="777240"/>
          </a:xfrm>
          <a:prstGeom prst="rect">
            <a:avLst/>
          </a:prstGeom>
          <a:solidFill>
            <a:srgbClr val="131820"/>
          </a:solidFill>
          <a:ln/>
        </p:spPr>
        <p:txBody>
          <a:bodyPr/>
          <a:lstStyle/>
          <a:p>
            <a:endParaRPr lang="en-GB"/>
          </a:p>
        </p:txBody>
      </p:sp>
      <p:sp>
        <p:nvSpPr>
          <p:cNvPr id="19" name="Text 17"/>
          <p:cNvSpPr/>
          <p:nvPr/>
        </p:nvSpPr>
        <p:spPr>
          <a:xfrm>
            <a:off x="868680" y="4352544"/>
            <a:ext cx="2743200" cy="777240"/>
          </a:xfrm>
          <a:prstGeom prst="rect">
            <a:avLst/>
          </a:prstGeom>
          <a:noFill/>
          <a:ln/>
        </p:spPr>
        <p:txBody>
          <a:bodyPr wrap="square" lIns="0" tIns="0" rIns="0" bIns="0" rtlCol="0" anchor="ctr"/>
          <a:lstStyle/>
          <a:p>
            <a:pPr marL="0" indent="0">
              <a:buNone/>
            </a:pPr>
            <a:r>
              <a:rPr lang="en-US" sz="1300" b="1" dirty="0">
                <a:solidFill>
                  <a:srgbClr val="FF9E3D"/>
                </a:solidFill>
                <a:latin typeface="Consolas" pitchFamily="34" charset="0"/>
                <a:ea typeface="Consolas" pitchFamily="34" charset="-122"/>
                <a:cs typeface="Consolas" pitchFamily="34" charset="-120"/>
              </a:rPr>
              <a:t>macOS (Homebrew)</a:t>
            </a:r>
            <a:endParaRPr lang="en-US" sz="1300" dirty="0"/>
          </a:p>
        </p:txBody>
      </p:sp>
      <p:sp>
        <p:nvSpPr>
          <p:cNvPr id="20" name="Shape 18"/>
          <p:cNvSpPr/>
          <p:nvPr/>
        </p:nvSpPr>
        <p:spPr>
          <a:xfrm>
            <a:off x="3749040" y="4352544"/>
            <a:ext cx="7680960" cy="777240"/>
          </a:xfrm>
          <a:prstGeom prst="rect">
            <a:avLst/>
          </a:prstGeom>
          <a:solidFill>
            <a:srgbClr val="1A2030"/>
          </a:solidFill>
          <a:ln w="12700">
            <a:solidFill>
              <a:srgbClr val="2A3441"/>
            </a:solidFill>
            <a:prstDash val="solid"/>
          </a:ln>
        </p:spPr>
        <p:txBody>
          <a:bodyPr/>
          <a:lstStyle/>
          <a:p>
            <a:endParaRPr lang="en-GB"/>
          </a:p>
        </p:txBody>
      </p:sp>
      <p:sp>
        <p:nvSpPr>
          <p:cNvPr id="21" name="Text 19"/>
          <p:cNvSpPr/>
          <p:nvPr/>
        </p:nvSpPr>
        <p:spPr>
          <a:xfrm>
            <a:off x="3886200" y="4352544"/>
            <a:ext cx="7452360" cy="777240"/>
          </a:xfrm>
          <a:prstGeom prst="rect">
            <a:avLst/>
          </a:prstGeom>
          <a:noFill/>
          <a:ln/>
        </p:spPr>
        <p:txBody>
          <a:bodyPr wrap="square" lIns="0" tIns="0" rIns="0" bIns="0" rtlCol="0" anchor="ctr"/>
          <a:lstStyle/>
          <a:p>
            <a:pPr marL="0" indent="0">
              <a:buNone/>
            </a:pPr>
            <a:r>
              <a:rPr lang="en-US" sz="1200" b="1" dirty="0">
                <a:solidFill>
                  <a:srgbClr val="8AE65C"/>
                </a:solidFill>
                <a:latin typeface="Consolas" pitchFamily="34" charset="0"/>
                <a:ea typeface="Consolas" pitchFamily="34" charset="-122"/>
                <a:cs typeface="Consolas" pitchFamily="34" charset="-120"/>
              </a:rPr>
              <a:t>$ </a:t>
            </a:r>
            <a:r>
              <a:rPr lang="en-US" sz="1200" dirty="0">
                <a:solidFill>
                  <a:srgbClr val="B9C4D0"/>
                </a:solidFill>
                <a:latin typeface="Consolas" pitchFamily="34" charset="0"/>
                <a:ea typeface="Consolas" pitchFamily="34" charset="-122"/>
                <a:cs typeface="Consolas" pitchFamily="34" charset="-120"/>
              </a:rPr>
              <a:t>brew install --cask claude-code</a:t>
            </a:r>
            <a:endParaRPr lang="en-US" sz="1200" dirty="0"/>
          </a:p>
        </p:txBody>
      </p:sp>
      <p:sp>
        <p:nvSpPr>
          <p:cNvPr id="22" name="Shape 20"/>
          <p:cNvSpPr/>
          <p:nvPr/>
        </p:nvSpPr>
        <p:spPr>
          <a:xfrm>
            <a:off x="731520" y="5349240"/>
            <a:ext cx="10698480" cy="868680"/>
          </a:xfrm>
          <a:prstGeom prst="rect">
            <a:avLst/>
          </a:prstGeom>
          <a:solidFill>
            <a:srgbClr val="1A2030"/>
          </a:solidFill>
          <a:ln w="12700">
            <a:solidFill>
              <a:srgbClr val="5EB3F5"/>
            </a:solidFill>
            <a:prstDash val="solid"/>
          </a:ln>
        </p:spPr>
        <p:txBody>
          <a:bodyPr/>
          <a:lstStyle/>
          <a:p>
            <a:endParaRPr lang="en-GB"/>
          </a:p>
        </p:txBody>
      </p:sp>
      <p:sp>
        <p:nvSpPr>
          <p:cNvPr id="23" name="Text 21"/>
          <p:cNvSpPr/>
          <p:nvPr/>
        </p:nvSpPr>
        <p:spPr>
          <a:xfrm>
            <a:off x="914400" y="5440680"/>
            <a:ext cx="10332720" cy="68580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After install, run </a:t>
            </a:r>
            <a:r>
              <a:rPr lang="en-US" sz="1300" b="1" dirty="0">
                <a:solidFill>
                  <a:srgbClr val="8AE65C"/>
                </a:solidFill>
                <a:latin typeface="Consolas" pitchFamily="34" charset="0"/>
                <a:ea typeface="Consolas" pitchFamily="34" charset="-122"/>
                <a:cs typeface="Consolas" pitchFamily="34" charset="-120"/>
              </a:rPr>
              <a:t>claude</a:t>
            </a:r>
            <a:r>
              <a:rPr lang="en-US" sz="1300" dirty="0">
                <a:solidFill>
                  <a:srgbClr val="B9C4D0"/>
                </a:solidFill>
                <a:latin typeface="Calibri" pitchFamily="34" charset="0"/>
                <a:ea typeface="Calibri" pitchFamily="34" charset="-122"/>
                <a:cs typeface="Calibri" pitchFamily="34" charset="-120"/>
              </a:rPr>
              <a:t> in your terminal. </a:t>
            </a:r>
            <a:r>
              <a:rPr lang="en-US" sz="1300" dirty="0">
                <a:solidFill>
                  <a:srgbClr val="E6EDF3"/>
                </a:solidFill>
                <a:latin typeface="Calibri" pitchFamily="34" charset="0"/>
                <a:ea typeface="Calibri" pitchFamily="34" charset="-122"/>
                <a:cs typeface="Calibri" pitchFamily="34" charset="-120"/>
              </a:rPr>
              <a:t>First-run prompts: pick a color theme and authenticate with your claude.ai credentials.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4"/>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F9E3D"/>
          </a:solidFill>
          <a:ln/>
        </p:spPr>
        <p:txBody>
          <a:bodyPr/>
          <a:lstStyle/>
          <a:p>
            <a:endParaRPr lang="en-GB"/>
          </a:p>
        </p:txBody>
      </p:sp>
      <p:sp>
        <p:nvSpPr>
          <p:cNvPr id="3" name="Text 1"/>
          <p:cNvSpPr/>
          <p:nvPr/>
        </p:nvSpPr>
        <p:spPr>
          <a:xfrm>
            <a:off x="731520" y="2286000"/>
            <a:ext cx="10058400" cy="457200"/>
          </a:xfrm>
          <a:prstGeom prst="rect">
            <a:avLst/>
          </a:prstGeom>
          <a:noFill/>
          <a:ln/>
        </p:spPr>
        <p:txBody>
          <a:bodyPr wrap="square" lIns="0" tIns="0" rIns="0" bIns="0" rtlCol="0" anchor="ctr"/>
          <a:lstStyle/>
          <a:p>
            <a:pPr marL="0" indent="0">
              <a:buNone/>
            </a:pPr>
            <a:r>
              <a:rPr lang="en-US" sz="1600" b="1" kern="0" spc="800" dirty="0">
                <a:solidFill>
                  <a:srgbClr val="FF9E3D"/>
                </a:solidFill>
                <a:latin typeface="Consolas" pitchFamily="34" charset="0"/>
                <a:ea typeface="Consolas" pitchFamily="34" charset="-122"/>
                <a:cs typeface="Consolas" pitchFamily="34" charset="-120"/>
              </a:rPr>
              <a:t>PART 03</a:t>
            </a:r>
            <a:endParaRPr lang="en-US" sz="1600" dirty="0"/>
          </a:p>
        </p:txBody>
      </p:sp>
      <p:sp>
        <p:nvSpPr>
          <p:cNvPr id="4" name="Text 2"/>
          <p:cNvSpPr/>
          <p:nvPr/>
        </p:nvSpPr>
        <p:spPr>
          <a:xfrm>
            <a:off x="731520" y="2834640"/>
            <a:ext cx="11155680" cy="1097280"/>
          </a:xfrm>
          <a:prstGeom prst="rect">
            <a:avLst/>
          </a:prstGeom>
          <a:noFill/>
          <a:ln/>
        </p:spPr>
        <p:txBody>
          <a:bodyPr wrap="square" lIns="0" tIns="0" rIns="0" bIns="0" rtlCol="0" anchor="ctr"/>
          <a:lstStyle/>
          <a:p>
            <a:pPr marL="0" indent="0">
              <a:buNone/>
            </a:pPr>
            <a:r>
              <a:rPr lang="en-US" sz="4400" b="1" dirty="0">
                <a:solidFill>
                  <a:srgbClr val="E6EDF3"/>
                </a:solidFill>
                <a:latin typeface="Consolas" pitchFamily="34" charset="0"/>
                <a:ea typeface="Consolas" pitchFamily="34" charset="-122"/>
                <a:cs typeface="Consolas" pitchFamily="34" charset="-120"/>
              </a:rPr>
              <a:t>Working with Claude Code</a:t>
            </a:r>
            <a:endParaRPr lang="en-US" sz="4400" dirty="0"/>
          </a:p>
        </p:txBody>
      </p:sp>
      <p:sp>
        <p:nvSpPr>
          <p:cNvPr id="5" name="Text 3"/>
          <p:cNvSpPr/>
          <p:nvPr/>
        </p:nvSpPr>
        <p:spPr>
          <a:xfrm>
            <a:off x="731520" y="4023360"/>
            <a:ext cx="10058400" cy="457200"/>
          </a:xfrm>
          <a:prstGeom prst="rect">
            <a:avLst/>
          </a:prstGeom>
          <a:noFill/>
          <a:ln/>
        </p:spPr>
        <p:txBody>
          <a:bodyPr wrap="square" lIns="0" tIns="0" rIns="0" bIns="0" rtlCol="0" anchor="ctr"/>
          <a:lstStyle/>
          <a:p>
            <a:pPr marL="0" indent="0">
              <a:buNone/>
            </a:pPr>
            <a:r>
              <a:rPr lang="en-US" sz="2000" i="1" dirty="0">
                <a:solidFill>
                  <a:srgbClr val="B9C4D0"/>
                </a:solidFill>
                <a:latin typeface="Calibri" pitchFamily="34" charset="0"/>
                <a:ea typeface="Calibri" pitchFamily="34" charset="-122"/>
                <a:cs typeface="Calibri" pitchFamily="34" charset="-120"/>
              </a:rPr>
              <a:t>Context, planning, custom commands — your day-to-day toolkit.</a:t>
            </a:r>
            <a:endParaRPr lang="en-US" sz="2000" dirty="0"/>
          </a:p>
        </p:txBody>
      </p:sp>
      <p:sp>
        <p:nvSpPr>
          <p:cNvPr id="6" name="Text 4"/>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12 / 35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section_3/init.md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13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Starting in a new project: /init</a:t>
            </a:r>
            <a:endParaRPr lang="en-US" sz="3000" dirty="0"/>
          </a:p>
        </p:txBody>
      </p:sp>
      <p:sp>
        <p:nvSpPr>
          <p:cNvPr id="6" name="Text 4"/>
          <p:cNvSpPr/>
          <p:nvPr/>
        </p:nvSpPr>
        <p:spPr>
          <a:xfrm>
            <a:off x="731520" y="1417320"/>
            <a:ext cx="10972800" cy="77724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Context management is everything. Your project has hundreds of files; Claude needs the right ones. Too much irrelevant context hurts performance, so we guide Claude toward what matters.</a:t>
            </a:r>
            <a:endParaRPr lang="en-US" sz="1400" dirty="0"/>
          </a:p>
        </p:txBody>
      </p:sp>
      <p:sp>
        <p:nvSpPr>
          <p:cNvPr id="7" name="Shape 5"/>
          <p:cNvSpPr/>
          <p:nvPr/>
        </p:nvSpPr>
        <p:spPr>
          <a:xfrm>
            <a:off x="731520" y="2377440"/>
            <a:ext cx="5349240" cy="3657600"/>
          </a:xfrm>
          <a:prstGeom prst="rect">
            <a:avLst/>
          </a:prstGeom>
          <a:solidFill>
            <a:srgbClr val="131820"/>
          </a:solidFill>
          <a:ln w="12700">
            <a:solidFill>
              <a:srgbClr val="2A3441"/>
            </a:solidFill>
            <a:prstDash val="solid"/>
          </a:ln>
        </p:spPr>
        <p:txBody>
          <a:bodyPr/>
          <a:lstStyle/>
          <a:p>
            <a:endParaRPr lang="en-GB"/>
          </a:p>
        </p:txBody>
      </p:sp>
      <p:sp>
        <p:nvSpPr>
          <p:cNvPr id="8" name="Text 6"/>
          <p:cNvSpPr/>
          <p:nvPr/>
        </p:nvSpPr>
        <p:spPr>
          <a:xfrm>
            <a:off x="914400" y="2514600"/>
            <a:ext cx="5029200" cy="411480"/>
          </a:xfrm>
          <a:prstGeom prst="rect">
            <a:avLst/>
          </a:prstGeom>
          <a:noFill/>
          <a:ln/>
        </p:spPr>
        <p:txBody>
          <a:bodyPr wrap="square" lIns="0" tIns="0" rIns="0" bIns="0" rtlCol="0" anchor="ctr"/>
          <a:lstStyle/>
          <a:p>
            <a:pPr marL="0" indent="0">
              <a:buNone/>
            </a:pPr>
            <a:r>
              <a:rPr lang="en-US" sz="1600" b="1" dirty="0">
                <a:solidFill>
                  <a:srgbClr val="FF9E3D"/>
                </a:solidFill>
                <a:latin typeface="Consolas" pitchFamily="34" charset="0"/>
                <a:ea typeface="Consolas" pitchFamily="34" charset="-122"/>
                <a:cs typeface="Consolas" pitchFamily="34" charset="-120"/>
              </a:rPr>
              <a:t>/init analyzes your codebase</a:t>
            </a:r>
            <a:endParaRPr lang="en-US" sz="1600" dirty="0"/>
          </a:p>
        </p:txBody>
      </p:sp>
      <p:sp>
        <p:nvSpPr>
          <p:cNvPr id="9" name="Text 7"/>
          <p:cNvSpPr/>
          <p:nvPr/>
        </p:nvSpPr>
        <p:spPr>
          <a:xfrm>
            <a:off x="914400" y="3017520"/>
            <a:ext cx="5029200" cy="29260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Scans the whole codebase</a:t>
            </a:r>
            <a:endParaRPr lang="en-US" sz="1300" dirty="0"/>
          </a:p>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Builds a summary of purpose, architecture, key commands</a:t>
            </a:r>
            <a:endParaRPr lang="en-US" sz="1300" dirty="0"/>
          </a:p>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Identifies coding patterns</a:t>
            </a:r>
            <a:endParaRPr lang="en-US" sz="1300" dirty="0"/>
          </a:p>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Writes everything to CLAUDE.md</a:t>
            </a:r>
            <a:endParaRPr lang="en-US" sz="1300" dirty="0"/>
          </a:p>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Includes that file in every request</a:t>
            </a:r>
            <a:endParaRPr lang="en-US" sz="1300" dirty="0"/>
          </a:p>
        </p:txBody>
      </p:sp>
      <p:sp>
        <p:nvSpPr>
          <p:cNvPr id="10" name="Shape 8"/>
          <p:cNvSpPr/>
          <p:nvPr/>
        </p:nvSpPr>
        <p:spPr>
          <a:xfrm>
            <a:off x="6309360" y="2377440"/>
            <a:ext cx="5349240" cy="3657600"/>
          </a:xfrm>
          <a:prstGeom prst="rect">
            <a:avLst/>
          </a:prstGeom>
          <a:solidFill>
            <a:srgbClr val="1A2030"/>
          </a:solidFill>
          <a:ln w="12700">
            <a:solidFill>
              <a:srgbClr val="2A3441"/>
            </a:solidFill>
            <a:prstDash val="solid"/>
          </a:ln>
        </p:spPr>
        <p:txBody>
          <a:bodyPr/>
          <a:lstStyle/>
          <a:p>
            <a:endParaRPr lang="en-GB"/>
          </a:p>
        </p:txBody>
      </p:sp>
      <p:sp>
        <p:nvSpPr>
          <p:cNvPr id="11" name="Text 9"/>
          <p:cNvSpPr/>
          <p:nvPr/>
        </p:nvSpPr>
        <p:spPr>
          <a:xfrm>
            <a:off x="6492240" y="2514600"/>
            <a:ext cx="5029200" cy="3383280"/>
          </a:xfrm>
          <a:prstGeom prst="rect">
            <a:avLst/>
          </a:prstGeom>
          <a:noFill/>
          <a:ln/>
        </p:spPr>
        <p:txBody>
          <a:bodyPr wrap="square" lIns="0" tIns="0" rIns="0" bIns="0" rtlCol="0" anchor="t"/>
          <a:lstStyle/>
          <a:p>
            <a:pPr marL="0" indent="0">
              <a:buNone/>
            </a:pPr>
            <a:r>
              <a:rPr lang="en-US" sz="1300" b="1" dirty="0">
                <a:solidFill>
                  <a:srgbClr val="8AE65C"/>
                </a:solidFill>
                <a:latin typeface="Consolas" pitchFamily="34" charset="0"/>
                <a:ea typeface="Consolas" pitchFamily="34" charset="-122"/>
                <a:cs typeface="Consolas" pitchFamily="34" charset="-120"/>
              </a:rPr>
              <a:t>claude&gt; </a:t>
            </a:r>
            <a:r>
              <a:rPr lang="en-US" sz="1300" b="1" dirty="0">
                <a:solidFill>
                  <a:srgbClr val="FF9E3D"/>
                </a:solidFill>
                <a:latin typeface="Consolas" pitchFamily="34" charset="0"/>
                <a:ea typeface="Consolas" pitchFamily="34" charset="-122"/>
                <a:cs typeface="Consolas" pitchFamily="34" charset="-120"/>
              </a:rPr>
              <a:t>/init</a:t>
            </a:r>
            <a:endParaRPr lang="en-US" sz="1300" dirty="0"/>
          </a:p>
          <a:p>
            <a:pPr marL="0" indent="0">
              <a:buNone/>
            </a:pPr>
            <a:endParaRPr lang="en-US" sz="1300" dirty="0"/>
          </a:p>
          <a:p>
            <a:pPr marL="0" indent="0">
              <a:buNone/>
            </a:pPr>
            <a:r>
              <a:rPr lang="en-US" sz="1200" i="1" dirty="0">
                <a:solidFill>
                  <a:srgbClr val="6B7785"/>
                </a:solidFill>
                <a:latin typeface="Consolas" pitchFamily="34" charset="0"/>
                <a:ea typeface="Consolas" pitchFamily="34" charset="-122"/>
                <a:cs typeface="Consolas" pitchFamily="34" charset="-120"/>
              </a:rPr>
              <a:t>Analyzing codebase…</a:t>
            </a:r>
            <a:endParaRPr lang="en-US" sz="1300" dirty="0"/>
          </a:p>
          <a:p>
            <a:pPr marL="0" indent="0">
              <a:buNone/>
            </a:pPr>
            <a:r>
              <a:rPr lang="en-US" sz="1200" dirty="0">
                <a:solidFill>
                  <a:srgbClr val="8AE65C"/>
                </a:solidFill>
                <a:latin typeface="Consolas" pitchFamily="34" charset="0"/>
                <a:ea typeface="Consolas" pitchFamily="34" charset="-122"/>
                <a:cs typeface="Consolas" pitchFamily="34" charset="-120"/>
              </a:rPr>
              <a:t>  ✓ found 142 files</a:t>
            </a:r>
            <a:endParaRPr lang="en-US" sz="1300" dirty="0"/>
          </a:p>
          <a:p>
            <a:pPr marL="0" indent="0">
              <a:buNone/>
            </a:pPr>
            <a:r>
              <a:rPr lang="en-US" sz="1200" dirty="0">
                <a:solidFill>
                  <a:srgbClr val="8AE65C"/>
                </a:solidFill>
                <a:latin typeface="Consolas" pitchFamily="34" charset="0"/>
                <a:ea typeface="Consolas" pitchFamily="34" charset="-122"/>
                <a:cs typeface="Consolas" pitchFamily="34" charset="-120"/>
              </a:rPr>
              <a:t>  ✓ detected Next.js + TS</a:t>
            </a:r>
            <a:endParaRPr lang="en-US" sz="1300" dirty="0"/>
          </a:p>
          <a:p>
            <a:pPr marL="0" indent="0">
              <a:buNone/>
            </a:pPr>
            <a:r>
              <a:rPr lang="en-US" sz="1200" dirty="0">
                <a:solidFill>
                  <a:srgbClr val="8AE65C"/>
                </a:solidFill>
                <a:latin typeface="Consolas" pitchFamily="34" charset="0"/>
                <a:ea typeface="Consolas" pitchFamily="34" charset="-122"/>
                <a:cs typeface="Consolas" pitchFamily="34" charset="-120"/>
              </a:rPr>
              <a:t>  ✓ found test runner: vitest</a:t>
            </a:r>
            <a:endParaRPr lang="en-US" sz="1300" dirty="0"/>
          </a:p>
          <a:p>
            <a:pPr marL="0" indent="0">
              <a:buNone/>
            </a:pPr>
            <a:endParaRPr lang="en-US" sz="1300" dirty="0"/>
          </a:p>
          <a:p>
            <a:pPr marL="0" indent="0">
              <a:buNone/>
            </a:pPr>
            <a:r>
              <a:rPr lang="en-US" sz="1200" dirty="0">
                <a:solidFill>
                  <a:srgbClr val="5EB3F5"/>
                </a:solidFill>
                <a:latin typeface="Consolas" pitchFamily="34" charset="0"/>
                <a:ea typeface="Consolas" pitchFamily="34" charset="-122"/>
                <a:cs typeface="Consolas" pitchFamily="34" charset="-120"/>
              </a:rPr>
              <a:t>Create CLAUDE.md?  [y/N]</a:t>
            </a:r>
            <a:endParaRPr lang="en-US" sz="1300" dirty="0"/>
          </a:p>
          <a:p>
            <a:pPr marL="0" indent="0">
              <a:buNone/>
            </a:pPr>
            <a:endParaRPr lang="en-US" sz="1300" dirty="0"/>
          </a:p>
          <a:p>
            <a:pPr marL="0" indent="0">
              <a:buNone/>
            </a:pPr>
            <a:r>
              <a:rPr lang="en-US" sz="1100" i="1" dirty="0">
                <a:solidFill>
                  <a:srgbClr val="6B7785"/>
                </a:solidFill>
                <a:latin typeface="Consolas" pitchFamily="34" charset="0"/>
                <a:ea typeface="Consolas" pitchFamily="34" charset="-122"/>
                <a:cs typeface="Consolas" pitchFamily="34" charset="-120"/>
              </a:rPr>
              <a:t>Tip: Shift+Tab to let Claude</a:t>
            </a:r>
            <a:endParaRPr lang="en-US" sz="1300" dirty="0"/>
          </a:p>
          <a:p>
            <a:pPr marL="0" indent="0">
              <a:buNone/>
            </a:pPr>
            <a:r>
              <a:rPr lang="en-US" sz="1100" i="1" dirty="0">
                <a:solidFill>
                  <a:srgbClr val="6B7785"/>
                </a:solidFill>
                <a:latin typeface="Consolas" pitchFamily="34" charset="0"/>
                <a:ea typeface="Consolas" pitchFamily="34" charset="-122"/>
                <a:cs typeface="Consolas" pitchFamily="34" charset="-120"/>
              </a:rPr>
              <a:t>write freely for the session.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section_3/claude_md.md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14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The CLAUDE.md file</a:t>
            </a:r>
            <a:endParaRPr lang="en-US" sz="3000" dirty="0"/>
          </a:p>
        </p:txBody>
      </p:sp>
      <p:sp>
        <p:nvSpPr>
          <p:cNvPr id="6" name="Text 4"/>
          <p:cNvSpPr/>
          <p:nvPr/>
        </p:nvSpPr>
        <p:spPr>
          <a:xfrm>
            <a:off x="731520" y="1417320"/>
            <a:ext cx="10972800" cy="457200"/>
          </a:xfrm>
          <a:prstGeom prst="rect">
            <a:avLst/>
          </a:prstGeom>
          <a:noFill/>
          <a:ln/>
        </p:spPr>
        <p:txBody>
          <a:bodyPr wrap="square" lIns="0" tIns="0" rIns="0" bIns="0" rtlCol="0" anchor="ctr"/>
          <a:lstStyle/>
          <a:p>
            <a:pPr marL="0" indent="0">
              <a:buNone/>
            </a:pPr>
            <a:r>
              <a:rPr lang="en-US" sz="1500" i="1" dirty="0">
                <a:solidFill>
                  <a:srgbClr val="B9C4D0"/>
                </a:solidFill>
                <a:latin typeface="Calibri" pitchFamily="34" charset="0"/>
                <a:ea typeface="Calibri" pitchFamily="34" charset="-122"/>
                <a:cs typeface="Calibri" pitchFamily="34" charset="-120"/>
              </a:rPr>
              <a:t>Like a persistent system prompt for your project — included in every request.</a:t>
            </a:r>
            <a:endParaRPr lang="en-US" sz="1500" dirty="0"/>
          </a:p>
        </p:txBody>
      </p:sp>
      <p:sp>
        <p:nvSpPr>
          <p:cNvPr id="7" name="Shape 5"/>
          <p:cNvSpPr/>
          <p:nvPr/>
        </p:nvSpPr>
        <p:spPr>
          <a:xfrm>
            <a:off x="731520" y="2148840"/>
            <a:ext cx="5166360" cy="2286000"/>
          </a:xfrm>
          <a:prstGeom prst="rect">
            <a:avLst/>
          </a:prstGeom>
          <a:solidFill>
            <a:srgbClr val="131820"/>
          </a:solidFill>
          <a:ln w="12700">
            <a:solidFill>
              <a:srgbClr val="2A3441"/>
            </a:solidFill>
            <a:prstDash val="solid"/>
          </a:ln>
        </p:spPr>
        <p:txBody>
          <a:bodyPr/>
          <a:lstStyle/>
          <a:p>
            <a:endParaRPr lang="en-GB"/>
          </a:p>
        </p:txBody>
      </p:sp>
      <p:pic>
        <p:nvPicPr>
          <p:cNvPr id="8" name="Image 0" descr="preencoded.png"/>
          <p:cNvPicPr>
            <a:picLocks noChangeAspect="1"/>
          </p:cNvPicPr>
          <p:nvPr/>
        </p:nvPicPr>
        <p:blipFill>
          <a:blip r:embed="rId3"/>
          <a:stretch>
            <a:fillRect/>
          </a:stretch>
        </p:blipFill>
        <p:spPr>
          <a:xfrm>
            <a:off x="1005840" y="2423160"/>
            <a:ext cx="594360" cy="594360"/>
          </a:xfrm>
          <a:prstGeom prst="rect">
            <a:avLst/>
          </a:prstGeom>
        </p:spPr>
      </p:pic>
      <p:sp>
        <p:nvSpPr>
          <p:cNvPr id="9" name="Text 6"/>
          <p:cNvSpPr/>
          <p:nvPr/>
        </p:nvSpPr>
        <p:spPr>
          <a:xfrm>
            <a:off x="1783080" y="2468880"/>
            <a:ext cx="4023360" cy="457200"/>
          </a:xfrm>
          <a:prstGeom prst="rect">
            <a:avLst/>
          </a:prstGeom>
          <a:noFill/>
          <a:ln/>
        </p:spPr>
        <p:txBody>
          <a:bodyPr wrap="square" lIns="0" tIns="0" rIns="0" bIns="0" rtlCol="0" anchor="ctr"/>
          <a:lstStyle/>
          <a:p>
            <a:pPr marL="0" indent="0">
              <a:buNone/>
            </a:pPr>
            <a:r>
              <a:rPr lang="en-US" sz="1900" b="1" dirty="0">
                <a:solidFill>
                  <a:srgbClr val="E6EDF3"/>
                </a:solidFill>
                <a:latin typeface="Consolas" pitchFamily="34" charset="0"/>
                <a:ea typeface="Consolas" pitchFamily="34" charset="-122"/>
                <a:cs typeface="Consolas" pitchFamily="34" charset="-120"/>
              </a:rPr>
              <a:t>Codebase guide</a:t>
            </a:r>
            <a:endParaRPr lang="en-US" sz="1900" dirty="0"/>
          </a:p>
        </p:txBody>
      </p:sp>
      <p:sp>
        <p:nvSpPr>
          <p:cNvPr id="10" name="Text 7"/>
          <p:cNvSpPr/>
          <p:nvPr/>
        </p:nvSpPr>
        <p:spPr>
          <a:xfrm>
            <a:off x="1005840" y="3154680"/>
            <a:ext cx="4617720" cy="118872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Points Claude at important commands, architecture, and coding style — so it doesn't have to figure them out each time.</a:t>
            </a:r>
            <a:endParaRPr lang="en-US" sz="1300" dirty="0"/>
          </a:p>
        </p:txBody>
      </p:sp>
      <p:sp>
        <p:nvSpPr>
          <p:cNvPr id="11" name="Shape 8"/>
          <p:cNvSpPr/>
          <p:nvPr/>
        </p:nvSpPr>
        <p:spPr>
          <a:xfrm>
            <a:off x="6263640" y="2148840"/>
            <a:ext cx="5166360" cy="2286000"/>
          </a:xfrm>
          <a:prstGeom prst="rect">
            <a:avLst/>
          </a:prstGeom>
          <a:solidFill>
            <a:srgbClr val="131820"/>
          </a:solidFill>
          <a:ln w="12700">
            <a:solidFill>
              <a:srgbClr val="2A3441"/>
            </a:solidFill>
            <a:prstDash val="solid"/>
          </a:ln>
        </p:spPr>
        <p:txBody>
          <a:bodyPr/>
          <a:lstStyle/>
          <a:p>
            <a:endParaRPr lang="en-GB"/>
          </a:p>
        </p:txBody>
      </p:sp>
      <p:pic>
        <p:nvPicPr>
          <p:cNvPr id="12" name="Image 1" descr="preencoded.png"/>
          <p:cNvPicPr>
            <a:picLocks noChangeAspect="1"/>
          </p:cNvPicPr>
          <p:nvPr/>
        </p:nvPicPr>
        <p:blipFill>
          <a:blip r:embed="rId4"/>
          <a:stretch>
            <a:fillRect/>
          </a:stretch>
        </p:blipFill>
        <p:spPr>
          <a:xfrm>
            <a:off x="6537960" y="2423160"/>
            <a:ext cx="594360" cy="594360"/>
          </a:xfrm>
          <a:prstGeom prst="rect">
            <a:avLst/>
          </a:prstGeom>
        </p:spPr>
      </p:pic>
      <p:sp>
        <p:nvSpPr>
          <p:cNvPr id="13" name="Text 9"/>
          <p:cNvSpPr/>
          <p:nvPr/>
        </p:nvSpPr>
        <p:spPr>
          <a:xfrm>
            <a:off x="7315200" y="2468880"/>
            <a:ext cx="4023360" cy="457200"/>
          </a:xfrm>
          <a:prstGeom prst="rect">
            <a:avLst/>
          </a:prstGeom>
          <a:noFill/>
          <a:ln/>
        </p:spPr>
        <p:txBody>
          <a:bodyPr wrap="square" lIns="0" tIns="0" rIns="0" bIns="0" rtlCol="0" anchor="ctr"/>
          <a:lstStyle/>
          <a:p>
            <a:pPr marL="0" indent="0">
              <a:buNone/>
            </a:pPr>
            <a:r>
              <a:rPr lang="en-US" sz="1900" b="1" dirty="0">
                <a:solidFill>
                  <a:srgbClr val="E6EDF3"/>
                </a:solidFill>
                <a:latin typeface="Consolas" pitchFamily="34" charset="0"/>
                <a:ea typeface="Consolas" pitchFamily="34" charset="-122"/>
                <a:cs typeface="Consolas" pitchFamily="34" charset="-120"/>
              </a:rPr>
              <a:t>Custom directions</a:t>
            </a:r>
            <a:endParaRPr lang="en-US" sz="1900" dirty="0"/>
          </a:p>
        </p:txBody>
      </p:sp>
      <p:sp>
        <p:nvSpPr>
          <p:cNvPr id="14" name="Text 10"/>
          <p:cNvSpPr/>
          <p:nvPr/>
        </p:nvSpPr>
        <p:spPr>
          <a:xfrm>
            <a:off x="6537960" y="3154680"/>
            <a:ext cx="4617720" cy="118872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Your specific instructions — things you want Claude to always do (or never do) on this project.</a:t>
            </a:r>
            <a:endParaRPr lang="en-US" sz="1300" dirty="0"/>
          </a:p>
        </p:txBody>
      </p:sp>
      <p:sp>
        <p:nvSpPr>
          <p:cNvPr id="15" name="Shape 11"/>
          <p:cNvSpPr/>
          <p:nvPr/>
        </p:nvSpPr>
        <p:spPr>
          <a:xfrm>
            <a:off x="731520" y="4617720"/>
            <a:ext cx="10698480" cy="1554480"/>
          </a:xfrm>
          <a:prstGeom prst="rect">
            <a:avLst/>
          </a:prstGeom>
          <a:solidFill>
            <a:srgbClr val="1A2030"/>
          </a:solidFill>
          <a:ln w="12700">
            <a:solidFill>
              <a:srgbClr val="FF9E3D"/>
            </a:solidFill>
            <a:prstDash val="solid"/>
          </a:ln>
        </p:spPr>
        <p:txBody>
          <a:bodyPr/>
          <a:lstStyle/>
          <a:p>
            <a:endParaRPr lang="en-GB"/>
          </a:p>
        </p:txBody>
      </p:sp>
      <p:sp>
        <p:nvSpPr>
          <p:cNvPr id="16" name="Text 12"/>
          <p:cNvSpPr/>
          <p:nvPr/>
        </p:nvSpPr>
        <p:spPr>
          <a:xfrm>
            <a:off x="914400" y="4709160"/>
            <a:ext cx="10515600" cy="1417320"/>
          </a:xfrm>
          <a:prstGeom prst="rect">
            <a:avLst/>
          </a:prstGeom>
          <a:noFill/>
          <a:ln/>
        </p:spPr>
        <p:txBody>
          <a:bodyPr wrap="square" lIns="0" tIns="0" rIns="0" bIns="0" rtlCol="0" anchor="t"/>
          <a:lstStyle/>
          <a:p>
            <a:pPr marL="0" indent="0">
              <a:buNone/>
            </a:pPr>
            <a:r>
              <a:rPr lang="en-US" sz="1200" b="1" dirty="0">
                <a:solidFill>
                  <a:srgbClr val="C792EA"/>
                </a:solidFill>
                <a:latin typeface="Consolas" pitchFamily="34" charset="0"/>
                <a:ea typeface="Consolas" pitchFamily="34" charset="-122"/>
                <a:cs typeface="Consolas" pitchFamily="34" charset="-120"/>
              </a:rPr>
              <a:t># CLAUDE.md</a:t>
            </a:r>
            <a:endParaRPr lang="en-US" sz="1200" dirty="0"/>
          </a:p>
          <a:p>
            <a:pPr marL="0" indent="0">
              <a:buNone/>
            </a:pPr>
            <a:r>
              <a:rPr lang="en-US" sz="1200" b="1" dirty="0">
                <a:solidFill>
                  <a:srgbClr val="5EB3F5"/>
                </a:solidFill>
                <a:latin typeface="Consolas" pitchFamily="34" charset="0"/>
                <a:ea typeface="Consolas" pitchFamily="34" charset="-122"/>
                <a:cs typeface="Consolas" pitchFamily="34" charset="-120"/>
              </a:rPr>
              <a:t>## Project</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Next.js 14 + TypeScript + Supabase. Tests with Vitest.</a:t>
            </a:r>
            <a:endParaRPr lang="en-US" sz="1200" dirty="0"/>
          </a:p>
          <a:p>
            <a:pPr marL="0" indent="0">
              <a:buNone/>
            </a:pPr>
            <a:r>
              <a:rPr lang="en-US" sz="1200" b="1" dirty="0">
                <a:solidFill>
                  <a:srgbClr val="5EB3F5"/>
                </a:solidFill>
                <a:latin typeface="Consolas" pitchFamily="34" charset="0"/>
                <a:ea typeface="Consolas" pitchFamily="34" charset="-122"/>
                <a:cs typeface="Consolas" pitchFamily="34" charset="-120"/>
              </a:rPr>
              <a:t>## Conventions</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 TypeScript strict mode required</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 All API routes need error handling. Run `npm test` before committing.</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section_3/claude_md_locations.md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15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Three places CLAUDE.md can live</a:t>
            </a:r>
            <a:endParaRPr lang="en-US" sz="3000" dirty="0"/>
          </a:p>
        </p:txBody>
      </p:sp>
      <p:sp>
        <p:nvSpPr>
          <p:cNvPr id="6" name="Shape 4"/>
          <p:cNvSpPr/>
          <p:nvPr/>
        </p:nvSpPr>
        <p:spPr>
          <a:xfrm>
            <a:off x="640080" y="1691640"/>
            <a:ext cx="3611880" cy="4114800"/>
          </a:xfrm>
          <a:prstGeom prst="rect">
            <a:avLst/>
          </a:prstGeom>
          <a:solidFill>
            <a:srgbClr val="131820"/>
          </a:solidFill>
          <a:ln w="12700">
            <a:solidFill>
              <a:srgbClr val="2A3441"/>
            </a:solidFill>
            <a:prstDash val="solid"/>
          </a:ln>
        </p:spPr>
        <p:txBody>
          <a:bodyPr/>
          <a:lstStyle/>
          <a:p>
            <a:endParaRPr lang="en-GB"/>
          </a:p>
        </p:txBody>
      </p:sp>
      <p:sp>
        <p:nvSpPr>
          <p:cNvPr id="7" name="Shape 5"/>
          <p:cNvSpPr/>
          <p:nvPr/>
        </p:nvSpPr>
        <p:spPr>
          <a:xfrm>
            <a:off x="640080" y="1691640"/>
            <a:ext cx="3611880" cy="109728"/>
          </a:xfrm>
          <a:prstGeom prst="rect">
            <a:avLst/>
          </a:prstGeom>
          <a:solidFill>
            <a:srgbClr val="FF9E3D"/>
          </a:solidFill>
          <a:ln/>
        </p:spPr>
        <p:txBody>
          <a:bodyPr/>
          <a:lstStyle/>
          <a:p>
            <a:endParaRPr lang="en-GB"/>
          </a:p>
        </p:txBody>
      </p:sp>
      <p:sp>
        <p:nvSpPr>
          <p:cNvPr id="8" name="Shape 6"/>
          <p:cNvSpPr/>
          <p:nvPr/>
        </p:nvSpPr>
        <p:spPr>
          <a:xfrm>
            <a:off x="868680" y="2011680"/>
            <a:ext cx="3154680" cy="502920"/>
          </a:xfrm>
          <a:prstGeom prst="rect">
            <a:avLst/>
          </a:prstGeom>
          <a:solidFill>
            <a:srgbClr val="1A2030"/>
          </a:solidFill>
          <a:ln/>
        </p:spPr>
        <p:txBody>
          <a:bodyPr/>
          <a:lstStyle/>
          <a:p>
            <a:endParaRPr lang="en-GB"/>
          </a:p>
        </p:txBody>
      </p:sp>
      <p:sp>
        <p:nvSpPr>
          <p:cNvPr id="9" name="Text 7"/>
          <p:cNvSpPr/>
          <p:nvPr/>
        </p:nvSpPr>
        <p:spPr>
          <a:xfrm>
            <a:off x="960120" y="2011680"/>
            <a:ext cx="2971800" cy="50292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CLAUDE.md</a:t>
            </a:r>
            <a:endParaRPr lang="en-US" sz="1400" dirty="0"/>
          </a:p>
        </p:txBody>
      </p:sp>
      <p:sp>
        <p:nvSpPr>
          <p:cNvPr id="10" name="Text 8"/>
          <p:cNvSpPr/>
          <p:nvPr/>
        </p:nvSpPr>
        <p:spPr>
          <a:xfrm>
            <a:off x="868680" y="2651760"/>
            <a:ext cx="3154680" cy="365760"/>
          </a:xfrm>
          <a:prstGeom prst="rect">
            <a:avLst/>
          </a:prstGeom>
          <a:noFill/>
          <a:ln/>
        </p:spPr>
        <p:txBody>
          <a:bodyPr wrap="square" lIns="0" tIns="0" rIns="0" bIns="0" rtlCol="0" anchor="ctr"/>
          <a:lstStyle/>
          <a:p>
            <a:pPr marL="0" indent="0">
              <a:buNone/>
            </a:pPr>
            <a:r>
              <a:rPr lang="en-US" sz="1300" b="1" dirty="0">
                <a:solidFill>
                  <a:srgbClr val="E6EDF3"/>
                </a:solidFill>
                <a:latin typeface="Consolas" pitchFamily="34" charset="0"/>
                <a:ea typeface="Consolas" pitchFamily="34" charset="-122"/>
                <a:cs typeface="Consolas" pitchFamily="34" charset="-120"/>
              </a:rPr>
              <a:t>Team-shared</a:t>
            </a:r>
            <a:endParaRPr lang="en-US" sz="1300" dirty="0"/>
          </a:p>
        </p:txBody>
      </p:sp>
      <p:sp>
        <p:nvSpPr>
          <p:cNvPr id="11" name="Text 9"/>
          <p:cNvSpPr/>
          <p:nvPr/>
        </p:nvSpPr>
        <p:spPr>
          <a:xfrm>
            <a:off x="868680" y="3108960"/>
            <a:ext cx="3154680" cy="155448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Generated by /init. Committed to source control. Everyone on the project sees it.</a:t>
            </a:r>
            <a:endParaRPr lang="en-US" sz="1200" dirty="0"/>
          </a:p>
        </p:txBody>
      </p:sp>
      <p:sp>
        <p:nvSpPr>
          <p:cNvPr id="12" name="Shape 10"/>
          <p:cNvSpPr/>
          <p:nvPr/>
        </p:nvSpPr>
        <p:spPr>
          <a:xfrm>
            <a:off x="868680" y="4754880"/>
            <a:ext cx="3154680" cy="0"/>
          </a:xfrm>
          <a:prstGeom prst="line">
            <a:avLst/>
          </a:prstGeom>
          <a:noFill/>
          <a:ln w="12700">
            <a:solidFill>
              <a:srgbClr val="2A3441"/>
            </a:solidFill>
            <a:prstDash val="solid"/>
          </a:ln>
        </p:spPr>
        <p:txBody>
          <a:bodyPr/>
          <a:lstStyle/>
          <a:p>
            <a:endParaRPr lang="en-GB"/>
          </a:p>
        </p:txBody>
      </p:sp>
      <p:sp>
        <p:nvSpPr>
          <p:cNvPr id="13" name="Text 11"/>
          <p:cNvSpPr/>
          <p:nvPr/>
        </p:nvSpPr>
        <p:spPr>
          <a:xfrm>
            <a:off x="868680" y="4846320"/>
            <a:ext cx="3154680" cy="274320"/>
          </a:xfrm>
          <a:prstGeom prst="rect">
            <a:avLst/>
          </a:prstGeom>
          <a:noFill/>
          <a:ln/>
        </p:spPr>
        <p:txBody>
          <a:bodyPr wrap="square" lIns="0" tIns="0" rIns="0" bIns="0" rtlCol="0" anchor="ctr"/>
          <a:lstStyle/>
          <a:p>
            <a:pPr marL="0" indent="0">
              <a:buNone/>
            </a:pPr>
            <a:r>
              <a:rPr lang="en-US" sz="900" b="1" kern="0" spc="300" dirty="0">
                <a:solidFill>
                  <a:srgbClr val="6B7785"/>
                </a:solidFill>
                <a:latin typeface="Consolas" pitchFamily="34" charset="0"/>
                <a:ea typeface="Consolas" pitchFamily="34" charset="-122"/>
                <a:cs typeface="Consolas" pitchFamily="34" charset="-120"/>
              </a:rPr>
              <a:t>USE FOR</a:t>
            </a:r>
            <a:endParaRPr lang="en-US" sz="900" dirty="0"/>
          </a:p>
        </p:txBody>
      </p:sp>
      <p:sp>
        <p:nvSpPr>
          <p:cNvPr id="14" name="Text 12"/>
          <p:cNvSpPr/>
          <p:nvPr/>
        </p:nvSpPr>
        <p:spPr>
          <a:xfrm>
            <a:off x="868680" y="5120640"/>
            <a:ext cx="3154680" cy="594360"/>
          </a:xfrm>
          <a:prstGeom prst="rect">
            <a:avLst/>
          </a:prstGeom>
          <a:noFill/>
          <a:ln/>
        </p:spPr>
        <p:txBody>
          <a:bodyPr wrap="square" lIns="0" tIns="0" rIns="0" bIns="0" rtlCol="0" anchor="ctr"/>
          <a:lstStyle/>
          <a:p>
            <a:pPr marL="0" indent="0">
              <a:buNone/>
            </a:pPr>
            <a:r>
              <a:rPr lang="en-US" sz="1100" i="1" dirty="0">
                <a:solidFill>
                  <a:srgbClr val="B9C4D0"/>
                </a:solidFill>
                <a:latin typeface="Calibri" pitchFamily="34" charset="0"/>
                <a:ea typeface="Calibri" pitchFamily="34" charset="-122"/>
                <a:cs typeface="Calibri" pitchFamily="34" charset="-120"/>
              </a:rPr>
              <a:t>Project conventions, architecture, build commands.</a:t>
            </a:r>
            <a:endParaRPr lang="en-US" sz="1100" dirty="0"/>
          </a:p>
        </p:txBody>
      </p:sp>
      <p:sp>
        <p:nvSpPr>
          <p:cNvPr id="15" name="Shape 13"/>
          <p:cNvSpPr/>
          <p:nvPr/>
        </p:nvSpPr>
        <p:spPr>
          <a:xfrm>
            <a:off x="4389120" y="1691640"/>
            <a:ext cx="3611880" cy="4114800"/>
          </a:xfrm>
          <a:prstGeom prst="rect">
            <a:avLst/>
          </a:prstGeom>
          <a:solidFill>
            <a:srgbClr val="131820"/>
          </a:solidFill>
          <a:ln w="12700">
            <a:solidFill>
              <a:srgbClr val="2A3441"/>
            </a:solidFill>
            <a:prstDash val="solid"/>
          </a:ln>
        </p:spPr>
        <p:txBody>
          <a:bodyPr/>
          <a:lstStyle/>
          <a:p>
            <a:endParaRPr lang="en-GB"/>
          </a:p>
        </p:txBody>
      </p:sp>
      <p:sp>
        <p:nvSpPr>
          <p:cNvPr id="16" name="Shape 14"/>
          <p:cNvSpPr/>
          <p:nvPr/>
        </p:nvSpPr>
        <p:spPr>
          <a:xfrm>
            <a:off x="4389120" y="1691640"/>
            <a:ext cx="3611880" cy="109728"/>
          </a:xfrm>
          <a:prstGeom prst="rect">
            <a:avLst/>
          </a:prstGeom>
          <a:solidFill>
            <a:srgbClr val="5EB3F5"/>
          </a:solidFill>
          <a:ln/>
        </p:spPr>
        <p:txBody>
          <a:bodyPr/>
          <a:lstStyle/>
          <a:p>
            <a:endParaRPr lang="en-GB"/>
          </a:p>
        </p:txBody>
      </p:sp>
      <p:sp>
        <p:nvSpPr>
          <p:cNvPr id="17" name="Shape 15"/>
          <p:cNvSpPr/>
          <p:nvPr/>
        </p:nvSpPr>
        <p:spPr>
          <a:xfrm>
            <a:off x="4617720" y="2011680"/>
            <a:ext cx="3154680" cy="502920"/>
          </a:xfrm>
          <a:prstGeom prst="rect">
            <a:avLst/>
          </a:prstGeom>
          <a:solidFill>
            <a:srgbClr val="1A2030"/>
          </a:solidFill>
          <a:ln/>
        </p:spPr>
        <p:txBody>
          <a:bodyPr/>
          <a:lstStyle/>
          <a:p>
            <a:endParaRPr lang="en-GB"/>
          </a:p>
        </p:txBody>
      </p:sp>
      <p:sp>
        <p:nvSpPr>
          <p:cNvPr id="18" name="Text 16"/>
          <p:cNvSpPr/>
          <p:nvPr/>
        </p:nvSpPr>
        <p:spPr>
          <a:xfrm>
            <a:off x="4709160" y="2011680"/>
            <a:ext cx="2971800" cy="502920"/>
          </a:xfrm>
          <a:prstGeom prst="rect">
            <a:avLst/>
          </a:prstGeom>
          <a:noFill/>
          <a:ln/>
        </p:spPr>
        <p:txBody>
          <a:bodyPr wrap="square" lIns="0" tIns="0" rIns="0" bIns="0" rtlCol="0" anchor="ctr"/>
          <a:lstStyle/>
          <a:p>
            <a:pPr marL="0" indent="0">
              <a:buNone/>
            </a:pPr>
            <a:r>
              <a:rPr lang="en-US" sz="1400" b="1" dirty="0">
                <a:solidFill>
                  <a:srgbClr val="5EB3F5"/>
                </a:solidFill>
                <a:latin typeface="Consolas" pitchFamily="34" charset="0"/>
                <a:ea typeface="Consolas" pitchFamily="34" charset="-122"/>
                <a:cs typeface="Consolas" pitchFamily="34" charset="-120"/>
              </a:rPr>
              <a:t>CLAUDE.local.md</a:t>
            </a:r>
            <a:endParaRPr lang="en-US" sz="1400" dirty="0"/>
          </a:p>
        </p:txBody>
      </p:sp>
      <p:sp>
        <p:nvSpPr>
          <p:cNvPr id="19" name="Text 17"/>
          <p:cNvSpPr/>
          <p:nvPr/>
        </p:nvSpPr>
        <p:spPr>
          <a:xfrm>
            <a:off x="4617720" y="2651760"/>
            <a:ext cx="3154680" cy="365760"/>
          </a:xfrm>
          <a:prstGeom prst="rect">
            <a:avLst/>
          </a:prstGeom>
          <a:noFill/>
          <a:ln/>
        </p:spPr>
        <p:txBody>
          <a:bodyPr wrap="square" lIns="0" tIns="0" rIns="0" bIns="0" rtlCol="0" anchor="ctr"/>
          <a:lstStyle/>
          <a:p>
            <a:pPr marL="0" indent="0">
              <a:buNone/>
            </a:pPr>
            <a:r>
              <a:rPr lang="en-US" sz="1300" b="1" dirty="0">
                <a:solidFill>
                  <a:srgbClr val="E6EDF3"/>
                </a:solidFill>
                <a:latin typeface="Consolas" pitchFamily="34" charset="0"/>
                <a:ea typeface="Consolas" pitchFamily="34" charset="-122"/>
                <a:cs typeface="Consolas" pitchFamily="34" charset="-120"/>
              </a:rPr>
              <a:t>Personal, this project</a:t>
            </a:r>
            <a:endParaRPr lang="en-US" sz="1300" dirty="0"/>
          </a:p>
        </p:txBody>
      </p:sp>
      <p:sp>
        <p:nvSpPr>
          <p:cNvPr id="20" name="Text 18"/>
          <p:cNvSpPr/>
          <p:nvPr/>
        </p:nvSpPr>
        <p:spPr>
          <a:xfrm>
            <a:off x="4617720" y="3108960"/>
            <a:ext cx="3154680" cy="155448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Not committed — should be in .gitignore. Your personal overrides for this project only.</a:t>
            </a:r>
            <a:endParaRPr lang="en-US" sz="1200" dirty="0"/>
          </a:p>
        </p:txBody>
      </p:sp>
      <p:sp>
        <p:nvSpPr>
          <p:cNvPr id="21" name="Shape 19"/>
          <p:cNvSpPr/>
          <p:nvPr/>
        </p:nvSpPr>
        <p:spPr>
          <a:xfrm>
            <a:off x="4617720" y="4754880"/>
            <a:ext cx="3154680" cy="0"/>
          </a:xfrm>
          <a:prstGeom prst="line">
            <a:avLst/>
          </a:prstGeom>
          <a:noFill/>
          <a:ln w="12700">
            <a:solidFill>
              <a:srgbClr val="2A3441"/>
            </a:solidFill>
            <a:prstDash val="solid"/>
          </a:ln>
        </p:spPr>
        <p:txBody>
          <a:bodyPr/>
          <a:lstStyle/>
          <a:p>
            <a:endParaRPr lang="en-GB"/>
          </a:p>
        </p:txBody>
      </p:sp>
      <p:sp>
        <p:nvSpPr>
          <p:cNvPr id="22" name="Text 20"/>
          <p:cNvSpPr/>
          <p:nvPr/>
        </p:nvSpPr>
        <p:spPr>
          <a:xfrm>
            <a:off x="4617720" y="4846320"/>
            <a:ext cx="3154680" cy="274320"/>
          </a:xfrm>
          <a:prstGeom prst="rect">
            <a:avLst/>
          </a:prstGeom>
          <a:noFill/>
          <a:ln/>
        </p:spPr>
        <p:txBody>
          <a:bodyPr wrap="square" lIns="0" tIns="0" rIns="0" bIns="0" rtlCol="0" anchor="ctr"/>
          <a:lstStyle/>
          <a:p>
            <a:pPr marL="0" indent="0">
              <a:buNone/>
            </a:pPr>
            <a:r>
              <a:rPr lang="en-US" sz="900" b="1" kern="0" spc="300" dirty="0">
                <a:solidFill>
                  <a:srgbClr val="6B7785"/>
                </a:solidFill>
                <a:latin typeface="Consolas" pitchFamily="34" charset="0"/>
                <a:ea typeface="Consolas" pitchFamily="34" charset="-122"/>
                <a:cs typeface="Consolas" pitchFamily="34" charset="-120"/>
              </a:rPr>
              <a:t>USE FOR</a:t>
            </a:r>
            <a:endParaRPr lang="en-US" sz="900" dirty="0"/>
          </a:p>
        </p:txBody>
      </p:sp>
      <p:sp>
        <p:nvSpPr>
          <p:cNvPr id="23" name="Text 21"/>
          <p:cNvSpPr/>
          <p:nvPr/>
        </p:nvSpPr>
        <p:spPr>
          <a:xfrm>
            <a:off x="4617720" y="5120640"/>
            <a:ext cx="3154680" cy="594360"/>
          </a:xfrm>
          <a:prstGeom prst="rect">
            <a:avLst/>
          </a:prstGeom>
          <a:noFill/>
          <a:ln/>
        </p:spPr>
        <p:txBody>
          <a:bodyPr wrap="square" lIns="0" tIns="0" rIns="0" bIns="0" rtlCol="0" anchor="ctr"/>
          <a:lstStyle/>
          <a:p>
            <a:pPr marL="0" indent="0">
              <a:buNone/>
            </a:pPr>
            <a:r>
              <a:rPr lang="en-US" sz="1100" i="1" dirty="0">
                <a:solidFill>
                  <a:srgbClr val="B9C4D0"/>
                </a:solidFill>
                <a:latin typeface="Calibri" pitchFamily="34" charset="0"/>
                <a:ea typeface="Calibri" pitchFamily="34" charset="-122"/>
                <a:cs typeface="Calibri" pitchFamily="34" charset="-120"/>
              </a:rPr>
              <a:t>Local env paths, personal shortcuts, debug toggles.</a:t>
            </a:r>
            <a:endParaRPr lang="en-US" sz="1100" dirty="0"/>
          </a:p>
        </p:txBody>
      </p:sp>
      <p:sp>
        <p:nvSpPr>
          <p:cNvPr id="24" name="Shape 22"/>
          <p:cNvSpPr/>
          <p:nvPr/>
        </p:nvSpPr>
        <p:spPr>
          <a:xfrm>
            <a:off x="8138160" y="1691640"/>
            <a:ext cx="3611880" cy="4114800"/>
          </a:xfrm>
          <a:prstGeom prst="rect">
            <a:avLst/>
          </a:prstGeom>
          <a:solidFill>
            <a:srgbClr val="131820"/>
          </a:solidFill>
          <a:ln w="12700">
            <a:solidFill>
              <a:srgbClr val="2A3441"/>
            </a:solidFill>
            <a:prstDash val="solid"/>
          </a:ln>
        </p:spPr>
        <p:txBody>
          <a:bodyPr/>
          <a:lstStyle/>
          <a:p>
            <a:endParaRPr lang="en-GB"/>
          </a:p>
        </p:txBody>
      </p:sp>
      <p:sp>
        <p:nvSpPr>
          <p:cNvPr id="25" name="Shape 23"/>
          <p:cNvSpPr/>
          <p:nvPr/>
        </p:nvSpPr>
        <p:spPr>
          <a:xfrm>
            <a:off x="8138160" y="1691640"/>
            <a:ext cx="3611880" cy="109728"/>
          </a:xfrm>
          <a:prstGeom prst="rect">
            <a:avLst/>
          </a:prstGeom>
          <a:solidFill>
            <a:srgbClr val="C792EA"/>
          </a:solidFill>
          <a:ln/>
        </p:spPr>
        <p:txBody>
          <a:bodyPr/>
          <a:lstStyle/>
          <a:p>
            <a:endParaRPr lang="en-GB"/>
          </a:p>
        </p:txBody>
      </p:sp>
      <p:sp>
        <p:nvSpPr>
          <p:cNvPr id="26" name="Shape 24"/>
          <p:cNvSpPr/>
          <p:nvPr/>
        </p:nvSpPr>
        <p:spPr>
          <a:xfrm>
            <a:off x="8366760" y="2011680"/>
            <a:ext cx="3154680" cy="502920"/>
          </a:xfrm>
          <a:prstGeom prst="rect">
            <a:avLst/>
          </a:prstGeom>
          <a:solidFill>
            <a:srgbClr val="1A2030"/>
          </a:solidFill>
          <a:ln/>
        </p:spPr>
        <p:txBody>
          <a:bodyPr/>
          <a:lstStyle/>
          <a:p>
            <a:endParaRPr lang="en-GB"/>
          </a:p>
        </p:txBody>
      </p:sp>
      <p:sp>
        <p:nvSpPr>
          <p:cNvPr id="27" name="Text 25"/>
          <p:cNvSpPr/>
          <p:nvPr/>
        </p:nvSpPr>
        <p:spPr>
          <a:xfrm>
            <a:off x="8458200" y="2011680"/>
            <a:ext cx="2971800" cy="502920"/>
          </a:xfrm>
          <a:prstGeom prst="rect">
            <a:avLst/>
          </a:prstGeom>
          <a:noFill/>
          <a:ln/>
        </p:spPr>
        <p:txBody>
          <a:bodyPr wrap="square" lIns="0" tIns="0" rIns="0" bIns="0" rtlCol="0" anchor="ctr"/>
          <a:lstStyle/>
          <a:p>
            <a:pPr marL="0" indent="0">
              <a:buNone/>
            </a:pPr>
            <a:r>
              <a:rPr lang="en-US" sz="1400" b="1" dirty="0">
                <a:solidFill>
                  <a:srgbClr val="C792EA"/>
                </a:solidFill>
                <a:latin typeface="Consolas" pitchFamily="34" charset="0"/>
                <a:ea typeface="Consolas" pitchFamily="34" charset="-122"/>
                <a:cs typeface="Consolas" pitchFamily="34" charset="-120"/>
              </a:rPr>
              <a:t>~/.claude/CLAUDE.md</a:t>
            </a:r>
            <a:endParaRPr lang="en-US" sz="1400" dirty="0"/>
          </a:p>
        </p:txBody>
      </p:sp>
      <p:sp>
        <p:nvSpPr>
          <p:cNvPr id="28" name="Text 26"/>
          <p:cNvSpPr/>
          <p:nvPr/>
        </p:nvSpPr>
        <p:spPr>
          <a:xfrm>
            <a:off x="8366760" y="2651760"/>
            <a:ext cx="3154680" cy="365760"/>
          </a:xfrm>
          <a:prstGeom prst="rect">
            <a:avLst/>
          </a:prstGeom>
          <a:noFill/>
          <a:ln/>
        </p:spPr>
        <p:txBody>
          <a:bodyPr wrap="square" lIns="0" tIns="0" rIns="0" bIns="0" rtlCol="0" anchor="ctr"/>
          <a:lstStyle/>
          <a:p>
            <a:pPr marL="0" indent="0">
              <a:buNone/>
            </a:pPr>
            <a:r>
              <a:rPr lang="en-US" sz="1300" b="1" dirty="0">
                <a:solidFill>
                  <a:srgbClr val="E6EDF3"/>
                </a:solidFill>
                <a:latin typeface="Consolas" pitchFamily="34" charset="0"/>
                <a:ea typeface="Consolas" pitchFamily="34" charset="-122"/>
                <a:cs typeface="Consolas" pitchFamily="34" charset="-120"/>
              </a:rPr>
              <a:t>Personal, all projects</a:t>
            </a:r>
            <a:endParaRPr lang="en-US" sz="1300" dirty="0"/>
          </a:p>
        </p:txBody>
      </p:sp>
      <p:sp>
        <p:nvSpPr>
          <p:cNvPr id="29" name="Text 27"/>
          <p:cNvSpPr/>
          <p:nvPr/>
        </p:nvSpPr>
        <p:spPr>
          <a:xfrm>
            <a:off x="8366760" y="3108960"/>
            <a:ext cx="3154680" cy="155448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Lives in your home dir. Loaded for every project on your machine.</a:t>
            </a:r>
            <a:endParaRPr lang="en-US" sz="1200" dirty="0"/>
          </a:p>
        </p:txBody>
      </p:sp>
      <p:sp>
        <p:nvSpPr>
          <p:cNvPr id="30" name="Shape 28"/>
          <p:cNvSpPr/>
          <p:nvPr/>
        </p:nvSpPr>
        <p:spPr>
          <a:xfrm>
            <a:off x="8366760" y="4754880"/>
            <a:ext cx="3154680" cy="0"/>
          </a:xfrm>
          <a:prstGeom prst="line">
            <a:avLst/>
          </a:prstGeom>
          <a:noFill/>
          <a:ln w="12700">
            <a:solidFill>
              <a:srgbClr val="2A3441"/>
            </a:solidFill>
            <a:prstDash val="solid"/>
          </a:ln>
        </p:spPr>
        <p:txBody>
          <a:bodyPr/>
          <a:lstStyle/>
          <a:p>
            <a:endParaRPr lang="en-GB"/>
          </a:p>
        </p:txBody>
      </p:sp>
      <p:sp>
        <p:nvSpPr>
          <p:cNvPr id="31" name="Text 29"/>
          <p:cNvSpPr/>
          <p:nvPr/>
        </p:nvSpPr>
        <p:spPr>
          <a:xfrm>
            <a:off x="8366760" y="4846320"/>
            <a:ext cx="3154680" cy="274320"/>
          </a:xfrm>
          <a:prstGeom prst="rect">
            <a:avLst/>
          </a:prstGeom>
          <a:noFill/>
          <a:ln/>
        </p:spPr>
        <p:txBody>
          <a:bodyPr wrap="square" lIns="0" tIns="0" rIns="0" bIns="0" rtlCol="0" anchor="ctr"/>
          <a:lstStyle/>
          <a:p>
            <a:pPr marL="0" indent="0">
              <a:buNone/>
            </a:pPr>
            <a:r>
              <a:rPr lang="en-US" sz="900" b="1" kern="0" spc="300" dirty="0">
                <a:solidFill>
                  <a:srgbClr val="6B7785"/>
                </a:solidFill>
                <a:latin typeface="Consolas" pitchFamily="34" charset="0"/>
                <a:ea typeface="Consolas" pitchFamily="34" charset="-122"/>
                <a:cs typeface="Consolas" pitchFamily="34" charset="-120"/>
              </a:rPr>
              <a:t>USE FOR</a:t>
            </a:r>
            <a:endParaRPr lang="en-US" sz="900" dirty="0"/>
          </a:p>
        </p:txBody>
      </p:sp>
      <p:sp>
        <p:nvSpPr>
          <p:cNvPr id="32" name="Text 30"/>
          <p:cNvSpPr/>
          <p:nvPr/>
        </p:nvSpPr>
        <p:spPr>
          <a:xfrm>
            <a:off x="8366760" y="5120640"/>
            <a:ext cx="3154680" cy="594360"/>
          </a:xfrm>
          <a:prstGeom prst="rect">
            <a:avLst/>
          </a:prstGeom>
          <a:noFill/>
          <a:ln/>
        </p:spPr>
        <p:txBody>
          <a:bodyPr wrap="square" lIns="0" tIns="0" rIns="0" bIns="0" rtlCol="0" anchor="ctr"/>
          <a:lstStyle/>
          <a:p>
            <a:pPr marL="0" indent="0">
              <a:buNone/>
            </a:pPr>
            <a:r>
              <a:rPr lang="en-US" sz="1100" i="1" dirty="0">
                <a:solidFill>
                  <a:srgbClr val="B9C4D0"/>
                </a:solidFill>
                <a:latin typeface="Calibri" pitchFamily="34" charset="0"/>
                <a:ea typeface="Calibri" pitchFamily="34" charset="-122"/>
                <a:cs typeface="Calibri" pitchFamily="34" charset="-120"/>
              </a:rPr>
              <a:t>Personal style preferences, always-on rules.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section_3/custom_instructions.md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16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Customizing Claude's behavior</a:t>
            </a:r>
            <a:endParaRPr lang="en-US" sz="3000" dirty="0"/>
          </a:p>
        </p:txBody>
      </p:sp>
      <p:sp>
        <p:nvSpPr>
          <p:cNvPr id="6" name="Text 4"/>
          <p:cNvSpPr/>
          <p:nvPr/>
        </p:nvSpPr>
        <p:spPr>
          <a:xfrm>
            <a:off x="731520" y="1417320"/>
            <a:ext cx="10972800" cy="45720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Edit CLAUDE.md directly, or run /memory inside a session to open it.</a:t>
            </a:r>
            <a:endParaRPr lang="en-US" sz="1400" dirty="0"/>
          </a:p>
        </p:txBody>
      </p:sp>
      <p:sp>
        <p:nvSpPr>
          <p:cNvPr id="7" name="Text 5"/>
          <p:cNvSpPr/>
          <p:nvPr/>
        </p:nvSpPr>
        <p:spPr>
          <a:xfrm>
            <a:off x="731520" y="1965960"/>
            <a:ext cx="10972800" cy="36576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Example instructions you might add:</a:t>
            </a:r>
            <a:endParaRPr lang="en-US" sz="1400" dirty="0"/>
          </a:p>
        </p:txBody>
      </p:sp>
      <p:sp>
        <p:nvSpPr>
          <p:cNvPr id="8" name="Shape 6"/>
          <p:cNvSpPr/>
          <p:nvPr/>
        </p:nvSpPr>
        <p:spPr>
          <a:xfrm>
            <a:off x="731520" y="2423160"/>
            <a:ext cx="10698480" cy="914400"/>
          </a:xfrm>
          <a:prstGeom prst="rect">
            <a:avLst/>
          </a:prstGeom>
          <a:solidFill>
            <a:srgbClr val="131820"/>
          </a:solidFill>
          <a:ln w="12700">
            <a:solidFill>
              <a:srgbClr val="2A3441"/>
            </a:solidFill>
            <a:prstDash val="solid"/>
          </a:ln>
        </p:spPr>
        <p:txBody>
          <a:bodyPr/>
          <a:lstStyle/>
          <a:p>
            <a:endParaRPr lang="en-GB"/>
          </a:p>
        </p:txBody>
      </p:sp>
      <p:sp>
        <p:nvSpPr>
          <p:cNvPr id="9" name="Text 7"/>
          <p:cNvSpPr/>
          <p:nvPr/>
        </p:nvSpPr>
        <p:spPr>
          <a:xfrm>
            <a:off x="914400" y="2514600"/>
            <a:ext cx="1371600" cy="274320"/>
          </a:xfrm>
          <a:prstGeom prst="rect">
            <a:avLst/>
          </a:prstGeom>
          <a:noFill/>
          <a:ln/>
        </p:spPr>
        <p:txBody>
          <a:bodyPr wrap="square" lIns="0" tIns="0" rIns="0" bIns="0" rtlCol="0" anchor="ctr"/>
          <a:lstStyle/>
          <a:p>
            <a:pPr marL="0" indent="0">
              <a:buNone/>
            </a:pPr>
            <a:r>
              <a:rPr lang="en-US" sz="900" b="1" kern="0" spc="300" dirty="0">
                <a:solidFill>
                  <a:srgbClr val="F87171"/>
                </a:solidFill>
                <a:latin typeface="Consolas" pitchFamily="34" charset="0"/>
                <a:ea typeface="Consolas" pitchFamily="34" charset="-122"/>
                <a:cs typeface="Consolas" pitchFamily="34" charset="-120"/>
              </a:rPr>
              <a:t>PROBLEM</a:t>
            </a:r>
            <a:endParaRPr lang="en-US" sz="900" dirty="0"/>
          </a:p>
        </p:txBody>
      </p:sp>
      <p:sp>
        <p:nvSpPr>
          <p:cNvPr id="10" name="Text 8"/>
          <p:cNvSpPr/>
          <p:nvPr/>
        </p:nvSpPr>
        <p:spPr>
          <a:xfrm>
            <a:off x="914400" y="2788920"/>
            <a:ext cx="3840480" cy="50292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Claude over-comments code</a:t>
            </a:r>
            <a:endParaRPr lang="en-US" sz="1300" dirty="0"/>
          </a:p>
        </p:txBody>
      </p:sp>
      <p:pic>
        <p:nvPicPr>
          <p:cNvPr id="11" name="Image 0" descr="preencoded.png"/>
          <p:cNvPicPr>
            <a:picLocks noChangeAspect="1"/>
          </p:cNvPicPr>
          <p:nvPr/>
        </p:nvPicPr>
        <p:blipFill>
          <a:blip r:embed="rId3"/>
          <a:stretch>
            <a:fillRect/>
          </a:stretch>
        </p:blipFill>
        <p:spPr>
          <a:xfrm>
            <a:off x="4937760" y="2697480"/>
            <a:ext cx="411480" cy="411480"/>
          </a:xfrm>
          <a:prstGeom prst="rect">
            <a:avLst/>
          </a:prstGeom>
        </p:spPr>
      </p:pic>
      <p:sp>
        <p:nvSpPr>
          <p:cNvPr id="12" name="Text 9"/>
          <p:cNvSpPr/>
          <p:nvPr/>
        </p:nvSpPr>
        <p:spPr>
          <a:xfrm>
            <a:off x="5486400" y="2514600"/>
            <a:ext cx="2743200" cy="274320"/>
          </a:xfrm>
          <a:prstGeom prst="rect">
            <a:avLst/>
          </a:prstGeom>
          <a:noFill/>
          <a:ln/>
        </p:spPr>
        <p:txBody>
          <a:bodyPr wrap="square" lIns="0" tIns="0" rIns="0" bIns="0" rtlCol="0" anchor="ctr"/>
          <a:lstStyle/>
          <a:p>
            <a:pPr marL="0" indent="0">
              <a:buNone/>
            </a:pPr>
            <a:r>
              <a:rPr lang="en-US" sz="900" b="1" kern="0" spc="300" dirty="0">
                <a:solidFill>
                  <a:srgbClr val="8AE65C"/>
                </a:solidFill>
                <a:latin typeface="Consolas" pitchFamily="34" charset="0"/>
                <a:ea typeface="Consolas" pitchFamily="34" charset="-122"/>
                <a:cs typeface="Consolas" pitchFamily="34" charset="-120"/>
              </a:rPr>
              <a:t>ADD TO CLAUDE.md</a:t>
            </a:r>
            <a:endParaRPr lang="en-US" sz="900" dirty="0"/>
          </a:p>
        </p:txBody>
      </p:sp>
      <p:sp>
        <p:nvSpPr>
          <p:cNvPr id="13" name="Text 10"/>
          <p:cNvSpPr/>
          <p:nvPr/>
        </p:nvSpPr>
        <p:spPr>
          <a:xfrm>
            <a:off x="5486400" y="2788920"/>
            <a:ext cx="5852160" cy="502920"/>
          </a:xfrm>
          <a:prstGeom prst="rect">
            <a:avLst/>
          </a:prstGeom>
          <a:noFill/>
          <a:ln/>
        </p:spPr>
        <p:txBody>
          <a:bodyPr wrap="square" lIns="0" tIns="0" rIns="0" bIns="0" rtlCol="0" anchor="ctr"/>
          <a:lstStyle/>
          <a:p>
            <a:pPr marL="0" indent="0">
              <a:buNone/>
            </a:pPr>
            <a:r>
              <a:rPr lang="en-US" sz="1200" i="1" dirty="0">
                <a:solidFill>
                  <a:srgbClr val="E6EDF3"/>
                </a:solidFill>
                <a:latin typeface="Consolas" pitchFamily="34" charset="0"/>
                <a:ea typeface="Consolas" pitchFamily="34" charset="-122"/>
                <a:cs typeface="Consolas" pitchFamily="34" charset="-120"/>
              </a:rPr>
              <a:t>"Use comments sparingly. Only comment complex or non-obvious logic."</a:t>
            </a:r>
            <a:endParaRPr lang="en-US" sz="1200" dirty="0"/>
          </a:p>
        </p:txBody>
      </p:sp>
      <p:sp>
        <p:nvSpPr>
          <p:cNvPr id="14" name="Shape 11"/>
          <p:cNvSpPr/>
          <p:nvPr/>
        </p:nvSpPr>
        <p:spPr>
          <a:xfrm>
            <a:off x="731520" y="3474720"/>
            <a:ext cx="10698480" cy="914400"/>
          </a:xfrm>
          <a:prstGeom prst="rect">
            <a:avLst/>
          </a:prstGeom>
          <a:solidFill>
            <a:srgbClr val="131820"/>
          </a:solidFill>
          <a:ln w="12700">
            <a:solidFill>
              <a:srgbClr val="2A3441"/>
            </a:solidFill>
            <a:prstDash val="solid"/>
          </a:ln>
        </p:spPr>
        <p:txBody>
          <a:bodyPr/>
          <a:lstStyle/>
          <a:p>
            <a:endParaRPr lang="en-GB"/>
          </a:p>
        </p:txBody>
      </p:sp>
      <p:sp>
        <p:nvSpPr>
          <p:cNvPr id="15" name="Text 12"/>
          <p:cNvSpPr/>
          <p:nvPr/>
        </p:nvSpPr>
        <p:spPr>
          <a:xfrm>
            <a:off x="914400" y="3566160"/>
            <a:ext cx="1371600" cy="274320"/>
          </a:xfrm>
          <a:prstGeom prst="rect">
            <a:avLst/>
          </a:prstGeom>
          <a:noFill/>
          <a:ln/>
        </p:spPr>
        <p:txBody>
          <a:bodyPr wrap="square" lIns="0" tIns="0" rIns="0" bIns="0" rtlCol="0" anchor="ctr"/>
          <a:lstStyle/>
          <a:p>
            <a:pPr marL="0" indent="0">
              <a:buNone/>
            </a:pPr>
            <a:r>
              <a:rPr lang="en-US" sz="900" b="1" kern="0" spc="300" dirty="0">
                <a:solidFill>
                  <a:srgbClr val="F87171"/>
                </a:solidFill>
                <a:latin typeface="Consolas" pitchFamily="34" charset="0"/>
                <a:ea typeface="Consolas" pitchFamily="34" charset="-122"/>
                <a:cs typeface="Consolas" pitchFamily="34" charset="-120"/>
              </a:rPr>
              <a:t>PROBLEM</a:t>
            </a:r>
            <a:endParaRPr lang="en-US" sz="900" dirty="0"/>
          </a:p>
        </p:txBody>
      </p:sp>
      <p:sp>
        <p:nvSpPr>
          <p:cNvPr id="16" name="Text 13"/>
          <p:cNvSpPr/>
          <p:nvPr/>
        </p:nvSpPr>
        <p:spPr>
          <a:xfrm>
            <a:off x="914400" y="3840480"/>
            <a:ext cx="3840480" cy="50292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Wrong test framework</a:t>
            </a:r>
            <a:endParaRPr lang="en-US" sz="1300" dirty="0"/>
          </a:p>
        </p:txBody>
      </p:sp>
      <p:pic>
        <p:nvPicPr>
          <p:cNvPr id="17" name="Image 1" descr="preencoded.png"/>
          <p:cNvPicPr>
            <a:picLocks noChangeAspect="1"/>
          </p:cNvPicPr>
          <p:nvPr/>
        </p:nvPicPr>
        <p:blipFill>
          <a:blip r:embed="rId3"/>
          <a:stretch>
            <a:fillRect/>
          </a:stretch>
        </p:blipFill>
        <p:spPr>
          <a:xfrm>
            <a:off x="4937760" y="3749040"/>
            <a:ext cx="411480" cy="411480"/>
          </a:xfrm>
          <a:prstGeom prst="rect">
            <a:avLst/>
          </a:prstGeom>
        </p:spPr>
      </p:pic>
      <p:sp>
        <p:nvSpPr>
          <p:cNvPr id="18" name="Text 14"/>
          <p:cNvSpPr/>
          <p:nvPr/>
        </p:nvSpPr>
        <p:spPr>
          <a:xfrm>
            <a:off x="5486400" y="3566160"/>
            <a:ext cx="2743200" cy="274320"/>
          </a:xfrm>
          <a:prstGeom prst="rect">
            <a:avLst/>
          </a:prstGeom>
          <a:noFill/>
          <a:ln/>
        </p:spPr>
        <p:txBody>
          <a:bodyPr wrap="square" lIns="0" tIns="0" rIns="0" bIns="0" rtlCol="0" anchor="ctr"/>
          <a:lstStyle/>
          <a:p>
            <a:pPr marL="0" indent="0">
              <a:buNone/>
            </a:pPr>
            <a:r>
              <a:rPr lang="en-US" sz="900" b="1" kern="0" spc="300" dirty="0">
                <a:solidFill>
                  <a:srgbClr val="8AE65C"/>
                </a:solidFill>
                <a:latin typeface="Consolas" pitchFamily="34" charset="0"/>
                <a:ea typeface="Consolas" pitchFamily="34" charset="-122"/>
                <a:cs typeface="Consolas" pitchFamily="34" charset="-120"/>
              </a:rPr>
              <a:t>ADD TO CLAUDE.md</a:t>
            </a:r>
            <a:endParaRPr lang="en-US" sz="900" dirty="0"/>
          </a:p>
        </p:txBody>
      </p:sp>
      <p:sp>
        <p:nvSpPr>
          <p:cNvPr id="19" name="Text 15"/>
          <p:cNvSpPr/>
          <p:nvPr/>
        </p:nvSpPr>
        <p:spPr>
          <a:xfrm>
            <a:off x="5486400" y="3840480"/>
            <a:ext cx="5852160" cy="502920"/>
          </a:xfrm>
          <a:prstGeom prst="rect">
            <a:avLst/>
          </a:prstGeom>
          <a:noFill/>
          <a:ln/>
        </p:spPr>
        <p:txBody>
          <a:bodyPr wrap="square" lIns="0" tIns="0" rIns="0" bIns="0" rtlCol="0" anchor="ctr"/>
          <a:lstStyle/>
          <a:p>
            <a:pPr marL="0" indent="0">
              <a:buNone/>
            </a:pPr>
            <a:r>
              <a:rPr lang="en-US" sz="1200" i="1" dirty="0">
                <a:solidFill>
                  <a:srgbClr val="E6EDF3"/>
                </a:solidFill>
                <a:latin typeface="Consolas" pitchFamily="34" charset="0"/>
                <a:ea typeface="Consolas" pitchFamily="34" charset="-122"/>
                <a:cs typeface="Consolas" pitchFamily="34" charset="-120"/>
              </a:rPr>
              <a:t>"Use Vitest, not Jest. Test files go in __tests__/ alongside source."</a:t>
            </a:r>
            <a:endParaRPr lang="en-US" sz="1200" dirty="0"/>
          </a:p>
        </p:txBody>
      </p:sp>
      <p:sp>
        <p:nvSpPr>
          <p:cNvPr id="20" name="Shape 16"/>
          <p:cNvSpPr/>
          <p:nvPr/>
        </p:nvSpPr>
        <p:spPr>
          <a:xfrm>
            <a:off x="731520" y="4526280"/>
            <a:ext cx="10698480" cy="914400"/>
          </a:xfrm>
          <a:prstGeom prst="rect">
            <a:avLst/>
          </a:prstGeom>
          <a:solidFill>
            <a:srgbClr val="131820"/>
          </a:solidFill>
          <a:ln w="12700">
            <a:solidFill>
              <a:srgbClr val="2A3441"/>
            </a:solidFill>
            <a:prstDash val="solid"/>
          </a:ln>
        </p:spPr>
        <p:txBody>
          <a:bodyPr/>
          <a:lstStyle/>
          <a:p>
            <a:endParaRPr lang="en-GB"/>
          </a:p>
        </p:txBody>
      </p:sp>
      <p:sp>
        <p:nvSpPr>
          <p:cNvPr id="21" name="Text 17"/>
          <p:cNvSpPr/>
          <p:nvPr/>
        </p:nvSpPr>
        <p:spPr>
          <a:xfrm>
            <a:off x="914400" y="4617720"/>
            <a:ext cx="1371600" cy="274320"/>
          </a:xfrm>
          <a:prstGeom prst="rect">
            <a:avLst/>
          </a:prstGeom>
          <a:noFill/>
          <a:ln/>
        </p:spPr>
        <p:txBody>
          <a:bodyPr wrap="square" lIns="0" tIns="0" rIns="0" bIns="0" rtlCol="0" anchor="ctr"/>
          <a:lstStyle/>
          <a:p>
            <a:pPr marL="0" indent="0">
              <a:buNone/>
            </a:pPr>
            <a:r>
              <a:rPr lang="en-US" sz="900" b="1" kern="0" spc="300" dirty="0">
                <a:solidFill>
                  <a:srgbClr val="F87171"/>
                </a:solidFill>
                <a:latin typeface="Consolas" pitchFamily="34" charset="0"/>
                <a:ea typeface="Consolas" pitchFamily="34" charset="-122"/>
                <a:cs typeface="Consolas" pitchFamily="34" charset="-120"/>
              </a:rPr>
              <a:t>PROBLEM</a:t>
            </a:r>
            <a:endParaRPr lang="en-US" sz="900" dirty="0"/>
          </a:p>
        </p:txBody>
      </p:sp>
      <p:sp>
        <p:nvSpPr>
          <p:cNvPr id="22" name="Text 18"/>
          <p:cNvSpPr/>
          <p:nvPr/>
        </p:nvSpPr>
        <p:spPr>
          <a:xfrm>
            <a:off x="914400" y="4892040"/>
            <a:ext cx="3840480" cy="50292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Wrong package manager</a:t>
            </a:r>
            <a:endParaRPr lang="en-US" sz="1300" dirty="0"/>
          </a:p>
        </p:txBody>
      </p:sp>
      <p:pic>
        <p:nvPicPr>
          <p:cNvPr id="23" name="Image 2" descr="preencoded.png"/>
          <p:cNvPicPr>
            <a:picLocks noChangeAspect="1"/>
          </p:cNvPicPr>
          <p:nvPr/>
        </p:nvPicPr>
        <p:blipFill>
          <a:blip r:embed="rId3"/>
          <a:stretch>
            <a:fillRect/>
          </a:stretch>
        </p:blipFill>
        <p:spPr>
          <a:xfrm>
            <a:off x="4937760" y="4800600"/>
            <a:ext cx="411480" cy="411480"/>
          </a:xfrm>
          <a:prstGeom prst="rect">
            <a:avLst/>
          </a:prstGeom>
        </p:spPr>
      </p:pic>
      <p:sp>
        <p:nvSpPr>
          <p:cNvPr id="24" name="Text 19"/>
          <p:cNvSpPr/>
          <p:nvPr/>
        </p:nvSpPr>
        <p:spPr>
          <a:xfrm>
            <a:off x="5486400" y="4617720"/>
            <a:ext cx="2743200" cy="274320"/>
          </a:xfrm>
          <a:prstGeom prst="rect">
            <a:avLst/>
          </a:prstGeom>
          <a:noFill/>
          <a:ln/>
        </p:spPr>
        <p:txBody>
          <a:bodyPr wrap="square" lIns="0" tIns="0" rIns="0" bIns="0" rtlCol="0" anchor="ctr"/>
          <a:lstStyle/>
          <a:p>
            <a:pPr marL="0" indent="0">
              <a:buNone/>
            </a:pPr>
            <a:r>
              <a:rPr lang="en-US" sz="900" b="1" kern="0" spc="300" dirty="0">
                <a:solidFill>
                  <a:srgbClr val="8AE65C"/>
                </a:solidFill>
                <a:latin typeface="Consolas" pitchFamily="34" charset="0"/>
                <a:ea typeface="Consolas" pitchFamily="34" charset="-122"/>
                <a:cs typeface="Consolas" pitchFamily="34" charset="-120"/>
              </a:rPr>
              <a:t>ADD TO CLAUDE.md</a:t>
            </a:r>
            <a:endParaRPr lang="en-US" sz="900" dirty="0"/>
          </a:p>
        </p:txBody>
      </p:sp>
      <p:sp>
        <p:nvSpPr>
          <p:cNvPr id="25" name="Text 20"/>
          <p:cNvSpPr/>
          <p:nvPr/>
        </p:nvSpPr>
        <p:spPr>
          <a:xfrm>
            <a:off x="5486400" y="4892040"/>
            <a:ext cx="5852160" cy="502920"/>
          </a:xfrm>
          <a:prstGeom prst="rect">
            <a:avLst/>
          </a:prstGeom>
          <a:noFill/>
          <a:ln/>
        </p:spPr>
        <p:txBody>
          <a:bodyPr wrap="square" lIns="0" tIns="0" rIns="0" bIns="0" rtlCol="0" anchor="ctr"/>
          <a:lstStyle/>
          <a:p>
            <a:pPr marL="0" indent="0">
              <a:buNone/>
            </a:pPr>
            <a:r>
              <a:rPr lang="en-US" sz="1200" i="1" dirty="0">
                <a:solidFill>
                  <a:srgbClr val="E6EDF3"/>
                </a:solidFill>
                <a:latin typeface="Consolas" pitchFamily="34" charset="0"/>
                <a:ea typeface="Consolas" pitchFamily="34" charset="-122"/>
                <a:cs typeface="Consolas" pitchFamily="34" charset="-120"/>
              </a:rPr>
              <a:t>"Use pnpm for all dependency operations. Never run npm install."</a:t>
            </a:r>
            <a:endParaRPr lang="en-US" sz="1200" dirty="0"/>
          </a:p>
        </p:txBody>
      </p:sp>
      <p:sp>
        <p:nvSpPr>
          <p:cNvPr id="26" name="Text 21"/>
          <p:cNvSpPr/>
          <p:nvPr/>
        </p:nvSpPr>
        <p:spPr>
          <a:xfrm>
            <a:off x="731520" y="5852160"/>
            <a:ext cx="10698480" cy="365760"/>
          </a:xfrm>
          <a:prstGeom prst="rect">
            <a:avLst/>
          </a:prstGeom>
          <a:noFill/>
          <a:ln/>
        </p:spPr>
        <p:txBody>
          <a:bodyPr wrap="square" lIns="0" tIns="0" rIns="0" bIns="0" rtlCol="0" anchor="ctr"/>
          <a:lstStyle/>
          <a:p>
            <a:pPr marL="0" indent="0">
              <a:buNone/>
            </a:pPr>
            <a:r>
              <a:rPr lang="en-US" sz="1200" i="1" dirty="0">
                <a:solidFill>
                  <a:srgbClr val="6B7785"/>
                </a:solidFill>
                <a:latin typeface="Calibri" pitchFamily="34" charset="0"/>
                <a:ea typeface="Calibri" pitchFamily="34" charset="-122"/>
                <a:cs typeface="Calibri" pitchFamily="34" charset="-120"/>
              </a:rPr>
              <a:t>→ Conversational alternative: tell Claude "remember that we always use pnpm here" — it'll ask which CLAUDE.md to update.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section_3/file_mentions.md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17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File mentions with @</a:t>
            </a:r>
            <a:endParaRPr lang="en-US" sz="3000" dirty="0"/>
          </a:p>
        </p:txBody>
      </p:sp>
      <p:sp>
        <p:nvSpPr>
          <p:cNvPr id="6" name="Text 4"/>
          <p:cNvSpPr/>
          <p:nvPr/>
        </p:nvSpPr>
        <p:spPr>
          <a:xfrm>
            <a:off x="731520" y="1417320"/>
            <a:ext cx="10972800" cy="457200"/>
          </a:xfrm>
          <a:prstGeom prst="rect">
            <a:avLst/>
          </a:prstGeom>
          <a:noFill/>
          <a:ln/>
        </p:spPr>
        <p:txBody>
          <a:bodyPr wrap="square" lIns="0" tIns="0" rIns="0" bIns="0" rtlCol="0" anchor="ctr"/>
          <a:lstStyle/>
          <a:p>
            <a:pPr marL="0" indent="0">
              <a:buNone/>
            </a:pPr>
            <a:r>
              <a:rPr lang="en-US" sz="1500" dirty="0">
                <a:solidFill>
                  <a:srgbClr val="B9C4D0"/>
                </a:solidFill>
                <a:latin typeface="Calibri" pitchFamily="34" charset="0"/>
                <a:ea typeface="Calibri" pitchFamily="34" charset="-122"/>
                <a:cs typeface="Calibri" pitchFamily="34" charset="-120"/>
              </a:rPr>
              <a:t>Use @ followed by a path to inject a file's contents directly into your message.</a:t>
            </a:r>
            <a:endParaRPr lang="en-US" sz="1500" dirty="0"/>
          </a:p>
        </p:txBody>
      </p:sp>
      <p:sp>
        <p:nvSpPr>
          <p:cNvPr id="7" name="Shape 5"/>
          <p:cNvSpPr/>
          <p:nvPr/>
        </p:nvSpPr>
        <p:spPr>
          <a:xfrm>
            <a:off x="731520" y="2103120"/>
            <a:ext cx="5349240" cy="3931920"/>
          </a:xfrm>
          <a:prstGeom prst="rect">
            <a:avLst/>
          </a:prstGeom>
          <a:solidFill>
            <a:srgbClr val="131820"/>
          </a:solidFill>
          <a:ln w="12700">
            <a:solidFill>
              <a:srgbClr val="2A3441"/>
            </a:solidFill>
            <a:prstDash val="solid"/>
          </a:ln>
        </p:spPr>
        <p:txBody>
          <a:bodyPr/>
          <a:lstStyle/>
          <a:p>
            <a:endParaRPr lang="en-GB"/>
          </a:p>
        </p:txBody>
      </p:sp>
      <p:sp>
        <p:nvSpPr>
          <p:cNvPr id="8" name="Text 6"/>
          <p:cNvSpPr/>
          <p:nvPr/>
        </p:nvSpPr>
        <p:spPr>
          <a:xfrm>
            <a:off x="914400" y="2194560"/>
            <a:ext cx="5029200" cy="457200"/>
          </a:xfrm>
          <a:prstGeom prst="rect">
            <a:avLst/>
          </a:prstGeom>
          <a:noFill/>
          <a:ln/>
        </p:spPr>
        <p:txBody>
          <a:bodyPr wrap="square" lIns="0" tIns="0" rIns="0" bIns="0" rtlCol="0" anchor="ctr"/>
          <a:lstStyle/>
          <a:p>
            <a:pPr marL="0" indent="0">
              <a:buNone/>
            </a:pPr>
            <a:r>
              <a:rPr lang="en-US" sz="1700" b="1" dirty="0">
                <a:solidFill>
                  <a:srgbClr val="FF9E3D"/>
                </a:solidFill>
                <a:latin typeface="Consolas" pitchFamily="34" charset="0"/>
                <a:ea typeface="Consolas" pitchFamily="34" charset="-122"/>
                <a:cs typeface="Consolas" pitchFamily="34" charset="-120"/>
              </a:rPr>
              <a:t>Inside a prompt</a:t>
            </a:r>
            <a:endParaRPr lang="en-US" sz="1700" dirty="0"/>
          </a:p>
        </p:txBody>
      </p:sp>
      <p:sp>
        <p:nvSpPr>
          <p:cNvPr id="9" name="Shape 7"/>
          <p:cNvSpPr/>
          <p:nvPr/>
        </p:nvSpPr>
        <p:spPr>
          <a:xfrm>
            <a:off x="914400" y="2743200"/>
            <a:ext cx="4983480" cy="1097280"/>
          </a:xfrm>
          <a:prstGeom prst="rect">
            <a:avLst/>
          </a:prstGeom>
          <a:solidFill>
            <a:srgbClr val="1A2030"/>
          </a:solidFill>
          <a:ln/>
        </p:spPr>
        <p:txBody>
          <a:bodyPr/>
          <a:lstStyle/>
          <a:p>
            <a:endParaRPr lang="en-GB"/>
          </a:p>
        </p:txBody>
      </p:sp>
      <p:sp>
        <p:nvSpPr>
          <p:cNvPr id="10" name="Text 8"/>
          <p:cNvSpPr/>
          <p:nvPr/>
        </p:nvSpPr>
        <p:spPr>
          <a:xfrm>
            <a:off x="1051560" y="2834640"/>
            <a:ext cx="4709160" cy="914400"/>
          </a:xfrm>
          <a:prstGeom prst="rect">
            <a:avLst/>
          </a:prstGeom>
          <a:noFill/>
          <a:ln/>
        </p:spPr>
        <p:txBody>
          <a:bodyPr wrap="square" lIns="0" tIns="0" rIns="0" bIns="0" rtlCol="0" anchor="t"/>
          <a:lstStyle/>
          <a:p>
            <a:pPr marL="0" indent="0">
              <a:buNone/>
            </a:pPr>
            <a:r>
              <a:rPr lang="en-US" sz="1300" dirty="0">
                <a:solidFill>
                  <a:srgbClr val="B9C4D0"/>
                </a:solidFill>
                <a:latin typeface="Consolas" pitchFamily="34" charset="0"/>
                <a:ea typeface="Consolas" pitchFamily="34" charset="-122"/>
                <a:cs typeface="Consolas" pitchFamily="34" charset="-120"/>
              </a:rPr>
              <a:t>How does the auth system</a:t>
            </a:r>
            <a:endParaRPr lang="en-US" sz="1300" dirty="0"/>
          </a:p>
          <a:p>
            <a:pPr marL="0" indent="0">
              <a:buNone/>
            </a:pPr>
            <a:r>
              <a:rPr lang="en-US" sz="1300" dirty="0">
                <a:solidFill>
                  <a:srgbClr val="B9C4D0"/>
                </a:solidFill>
                <a:latin typeface="Consolas" pitchFamily="34" charset="0"/>
                <a:ea typeface="Consolas" pitchFamily="34" charset="-122"/>
                <a:cs typeface="Consolas" pitchFamily="34" charset="-120"/>
              </a:rPr>
              <a:t>work? </a:t>
            </a:r>
            <a:endParaRPr lang="en-US" sz="1300" dirty="0"/>
          </a:p>
          <a:p>
            <a:pPr marL="0" indent="0">
              <a:buNone/>
            </a:pPr>
            <a:r>
              <a:rPr lang="en-US" sz="1300" b="1" dirty="0">
                <a:solidFill>
                  <a:srgbClr val="FF9E3D"/>
                </a:solidFill>
                <a:latin typeface="Consolas" pitchFamily="34" charset="0"/>
                <a:ea typeface="Consolas" pitchFamily="34" charset="-122"/>
                <a:cs typeface="Consolas" pitchFamily="34" charset="-120"/>
              </a:rPr>
              <a:t>@auth</a:t>
            </a:r>
            <a:endParaRPr lang="en-US" sz="1300" dirty="0"/>
          </a:p>
        </p:txBody>
      </p:sp>
      <p:sp>
        <p:nvSpPr>
          <p:cNvPr id="11" name="Text 9"/>
          <p:cNvSpPr/>
          <p:nvPr/>
        </p:nvSpPr>
        <p:spPr>
          <a:xfrm>
            <a:off x="914400" y="3977640"/>
            <a:ext cx="5029200" cy="82296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Claude shows a picker of matching files. Pick one, and its contents land in your message.</a:t>
            </a:r>
            <a:endParaRPr lang="en-US" sz="1300" dirty="0"/>
          </a:p>
        </p:txBody>
      </p:sp>
      <p:sp>
        <p:nvSpPr>
          <p:cNvPr id="12" name="Text 10"/>
          <p:cNvSpPr/>
          <p:nvPr/>
        </p:nvSpPr>
        <p:spPr>
          <a:xfrm>
            <a:off x="914400" y="4937760"/>
            <a:ext cx="5029200" cy="457200"/>
          </a:xfrm>
          <a:prstGeom prst="rect">
            <a:avLst/>
          </a:prstGeom>
          <a:noFill/>
          <a:ln/>
        </p:spPr>
        <p:txBody>
          <a:bodyPr wrap="square" lIns="0" tIns="0" rIns="0" bIns="0" rtlCol="0" anchor="ctr"/>
          <a:lstStyle/>
          <a:p>
            <a:pPr marL="0" indent="0">
              <a:buNone/>
            </a:pPr>
            <a:r>
              <a:rPr lang="en-US" sz="1200" i="1" dirty="0">
                <a:solidFill>
                  <a:srgbClr val="5EB3F5"/>
                </a:solidFill>
                <a:latin typeface="Calibri" pitchFamily="34" charset="0"/>
                <a:ea typeface="Calibri" pitchFamily="34" charset="-122"/>
                <a:cs typeface="Calibri" pitchFamily="34" charset="-120"/>
              </a:rPr>
              <a:t>→ Best for ad-hoc questions about specific files.</a:t>
            </a:r>
            <a:endParaRPr lang="en-US" sz="1200" dirty="0"/>
          </a:p>
        </p:txBody>
      </p:sp>
      <p:sp>
        <p:nvSpPr>
          <p:cNvPr id="13" name="Shape 11"/>
          <p:cNvSpPr/>
          <p:nvPr/>
        </p:nvSpPr>
        <p:spPr>
          <a:xfrm>
            <a:off x="6309360" y="2103120"/>
            <a:ext cx="5349240" cy="3931920"/>
          </a:xfrm>
          <a:prstGeom prst="rect">
            <a:avLst/>
          </a:prstGeom>
          <a:solidFill>
            <a:srgbClr val="131820"/>
          </a:solidFill>
          <a:ln w="12700">
            <a:solidFill>
              <a:srgbClr val="2A3441"/>
            </a:solidFill>
            <a:prstDash val="solid"/>
          </a:ln>
        </p:spPr>
        <p:txBody>
          <a:bodyPr/>
          <a:lstStyle/>
          <a:p>
            <a:endParaRPr lang="en-GB"/>
          </a:p>
        </p:txBody>
      </p:sp>
      <p:sp>
        <p:nvSpPr>
          <p:cNvPr id="14" name="Text 12"/>
          <p:cNvSpPr/>
          <p:nvPr/>
        </p:nvSpPr>
        <p:spPr>
          <a:xfrm>
            <a:off x="6492240" y="2194560"/>
            <a:ext cx="5029200" cy="457200"/>
          </a:xfrm>
          <a:prstGeom prst="rect">
            <a:avLst/>
          </a:prstGeom>
          <a:noFill/>
          <a:ln/>
        </p:spPr>
        <p:txBody>
          <a:bodyPr wrap="square" lIns="0" tIns="0" rIns="0" bIns="0" rtlCol="0" anchor="ctr"/>
          <a:lstStyle/>
          <a:p>
            <a:pPr marL="0" indent="0">
              <a:buNone/>
            </a:pPr>
            <a:r>
              <a:rPr lang="en-US" sz="1700" b="1" dirty="0">
                <a:solidFill>
                  <a:srgbClr val="FF9E3D"/>
                </a:solidFill>
                <a:latin typeface="Consolas" pitchFamily="34" charset="0"/>
                <a:ea typeface="Consolas" pitchFamily="34" charset="-122"/>
                <a:cs typeface="Consolas" pitchFamily="34" charset="-120"/>
              </a:rPr>
              <a:t>Inside CLAUDE.md</a:t>
            </a:r>
            <a:endParaRPr lang="en-US" sz="1700" dirty="0"/>
          </a:p>
        </p:txBody>
      </p:sp>
      <p:sp>
        <p:nvSpPr>
          <p:cNvPr id="15" name="Shape 13"/>
          <p:cNvSpPr/>
          <p:nvPr/>
        </p:nvSpPr>
        <p:spPr>
          <a:xfrm>
            <a:off x="6492240" y="2743200"/>
            <a:ext cx="4983480" cy="1417320"/>
          </a:xfrm>
          <a:prstGeom prst="rect">
            <a:avLst/>
          </a:prstGeom>
          <a:solidFill>
            <a:srgbClr val="1A2030"/>
          </a:solidFill>
          <a:ln/>
        </p:spPr>
        <p:txBody>
          <a:bodyPr/>
          <a:lstStyle/>
          <a:p>
            <a:endParaRPr lang="en-GB"/>
          </a:p>
        </p:txBody>
      </p:sp>
      <p:sp>
        <p:nvSpPr>
          <p:cNvPr id="16" name="Text 14"/>
          <p:cNvSpPr/>
          <p:nvPr/>
        </p:nvSpPr>
        <p:spPr>
          <a:xfrm>
            <a:off x="6629400" y="2834640"/>
            <a:ext cx="4709160" cy="1234440"/>
          </a:xfrm>
          <a:prstGeom prst="rect">
            <a:avLst/>
          </a:prstGeom>
          <a:noFill/>
          <a:ln/>
        </p:spPr>
        <p:txBody>
          <a:bodyPr wrap="square" lIns="0" tIns="0" rIns="0" bIns="0" rtlCol="0" anchor="t"/>
          <a:lstStyle/>
          <a:p>
            <a:pPr marL="0" indent="0">
              <a:buNone/>
            </a:pPr>
            <a:r>
              <a:rPr lang="en-US" sz="1200" dirty="0">
                <a:solidFill>
                  <a:srgbClr val="B9C4D0"/>
                </a:solidFill>
                <a:latin typeface="Consolas" pitchFamily="34" charset="0"/>
                <a:ea typeface="Consolas" pitchFamily="34" charset="-122"/>
                <a:cs typeface="Consolas" pitchFamily="34" charset="-120"/>
              </a:rPr>
              <a:t>The DB schema lives at
</a:t>
            </a:r>
            <a:r>
              <a:rPr lang="en-US" sz="1200" b="1" dirty="0">
                <a:solidFill>
                  <a:srgbClr val="FF9E3D"/>
                </a:solidFill>
                <a:latin typeface="Consolas" pitchFamily="34" charset="0"/>
                <a:ea typeface="Consolas" pitchFamily="34" charset="-122"/>
                <a:cs typeface="Consolas" pitchFamily="34" charset="-120"/>
              </a:rPr>
              <a:t>@prisma/schema.prisma</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 Reference it whenever
you need data structure.</a:t>
            </a:r>
            <a:endParaRPr lang="en-US" sz="1200" dirty="0"/>
          </a:p>
        </p:txBody>
      </p:sp>
      <p:sp>
        <p:nvSpPr>
          <p:cNvPr id="17" name="Text 15"/>
          <p:cNvSpPr/>
          <p:nvPr/>
        </p:nvSpPr>
        <p:spPr>
          <a:xfrm>
            <a:off x="6492240" y="4297680"/>
            <a:ext cx="5029200" cy="45720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Auto-included every request. No re-searching.</a:t>
            </a:r>
            <a:endParaRPr lang="en-US" sz="1300" dirty="0"/>
          </a:p>
        </p:txBody>
      </p:sp>
      <p:sp>
        <p:nvSpPr>
          <p:cNvPr id="18" name="Text 16"/>
          <p:cNvSpPr/>
          <p:nvPr/>
        </p:nvSpPr>
        <p:spPr>
          <a:xfrm>
            <a:off x="6492240" y="4937760"/>
            <a:ext cx="5029200" cy="457200"/>
          </a:xfrm>
          <a:prstGeom prst="rect">
            <a:avLst/>
          </a:prstGeom>
          <a:noFill/>
          <a:ln/>
        </p:spPr>
        <p:txBody>
          <a:bodyPr wrap="square" lIns="0" tIns="0" rIns="0" bIns="0" rtlCol="0" anchor="ctr"/>
          <a:lstStyle/>
          <a:p>
            <a:pPr marL="0" indent="0">
              <a:buNone/>
            </a:pPr>
            <a:r>
              <a:rPr lang="en-US" sz="1200" i="1" dirty="0">
                <a:solidFill>
                  <a:srgbClr val="5EB3F5"/>
                </a:solidFill>
                <a:latin typeface="Calibri" pitchFamily="34" charset="0"/>
                <a:ea typeface="Calibri" pitchFamily="34" charset="-122"/>
                <a:cs typeface="Calibri" pitchFamily="34" charset="-120"/>
              </a:rPr>
              <a:t>→ Best for files you reference constantly.</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section_3/screenshots.md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18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Visual communication: screenshots</a:t>
            </a:r>
            <a:endParaRPr lang="en-US" sz="3000" dirty="0"/>
          </a:p>
        </p:txBody>
      </p:sp>
      <p:sp>
        <p:nvSpPr>
          <p:cNvPr id="6" name="Text 4"/>
          <p:cNvSpPr/>
          <p:nvPr/>
        </p:nvSpPr>
        <p:spPr>
          <a:xfrm>
            <a:off x="731520" y="1417320"/>
            <a:ext cx="10972800" cy="502920"/>
          </a:xfrm>
          <a:prstGeom prst="rect">
            <a:avLst/>
          </a:prstGeom>
          <a:noFill/>
          <a:ln/>
        </p:spPr>
        <p:txBody>
          <a:bodyPr wrap="square" lIns="0" tIns="0" rIns="0" bIns="0" rtlCol="0" anchor="ctr"/>
          <a:lstStyle/>
          <a:p>
            <a:pPr marL="0" indent="0">
              <a:buNone/>
            </a:pPr>
            <a:r>
              <a:rPr lang="en-US" sz="1500" dirty="0">
                <a:solidFill>
                  <a:srgbClr val="B9C4D0"/>
                </a:solidFill>
                <a:latin typeface="Calibri" pitchFamily="34" charset="0"/>
                <a:ea typeface="Calibri" pitchFamily="34" charset="-122"/>
                <a:cs typeface="Calibri" pitchFamily="34" charset="-120"/>
              </a:rPr>
              <a:t>Words are lossy. For UI work, a screenshot is the fastest way to make Claude see what you mean.</a:t>
            </a:r>
            <a:endParaRPr lang="en-US" sz="1500" dirty="0"/>
          </a:p>
        </p:txBody>
      </p:sp>
      <p:sp>
        <p:nvSpPr>
          <p:cNvPr id="7" name="Shape 5"/>
          <p:cNvSpPr/>
          <p:nvPr/>
        </p:nvSpPr>
        <p:spPr>
          <a:xfrm>
            <a:off x="731520" y="2194560"/>
            <a:ext cx="5029200" cy="2743200"/>
          </a:xfrm>
          <a:prstGeom prst="rect">
            <a:avLst/>
          </a:prstGeom>
          <a:solidFill>
            <a:srgbClr val="131820"/>
          </a:solidFill>
          <a:ln w="12700">
            <a:solidFill>
              <a:srgbClr val="2A3441"/>
            </a:solidFill>
            <a:prstDash val="solid"/>
          </a:ln>
        </p:spPr>
        <p:txBody>
          <a:bodyPr/>
          <a:lstStyle/>
          <a:p>
            <a:endParaRPr lang="en-GB"/>
          </a:p>
        </p:txBody>
      </p:sp>
      <p:pic>
        <p:nvPicPr>
          <p:cNvPr id="8" name="Image 0" descr="preencoded.png"/>
          <p:cNvPicPr>
            <a:picLocks noChangeAspect="1"/>
          </p:cNvPicPr>
          <p:nvPr/>
        </p:nvPicPr>
        <p:blipFill>
          <a:blip r:embed="rId3"/>
          <a:stretch>
            <a:fillRect/>
          </a:stretch>
        </p:blipFill>
        <p:spPr>
          <a:xfrm>
            <a:off x="2880360" y="2423160"/>
            <a:ext cx="731520" cy="731520"/>
          </a:xfrm>
          <a:prstGeom prst="rect">
            <a:avLst/>
          </a:prstGeom>
        </p:spPr>
      </p:pic>
      <p:sp>
        <p:nvSpPr>
          <p:cNvPr id="9" name="Shape 6"/>
          <p:cNvSpPr/>
          <p:nvPr/>
        </p:nvSpPr>
        <p:spPr>
          <a:xfrm>
            <a:off x="1371600" y="3520440"/>
            <a:ext cx="1280160" cy="640080"/>
          </a:xfrm>
          <a:prstGeom prst="rect">
            <a:avLst/>
          </a:prstGeom>
          <a:solidFill>
            <a:srgbClr val="1A2030"/>
          </a:solidFill>
          <a:ln w="25400">
            <a:solidFill>
              <a:srgbClr val="FF9E3D"/>
            </a:solidFill>
            <a:prstDash val="solid"/>
          </a:ln>
        </p:spPr>
        <p:txBody>
          <a:bodyPr/>
          <a:lstStyle/>
          <a:p>
            <a:endParaRPr lang="en-GB"/>
          </a:p>
        </p:txBody>
      </p:sp>
      <p:sp>
        <p:nvSpPr>
          <p:cNvPr id="10" name="Text 7"/>
          <p:cNvSpPr/>
          <p:nvPr/>
        </p:nvSpPr>
        <p:spPr>
          <a:xfrm>
            <a:off x="1371600" y="3520440"/>
            <a:ext cx="1280160" cy="640080"/>
          </a:xfrm>
          <a:prstGeom prst="rect">
            <a:avLst/>
          </a:prstGeom>
          <a:noFill/>
          <a:ln/>
        </p:spPr>
        <p:txBody>
          <a:bodyPr wrap="square" lIns="0" tIns="0" rIns="0" bIns="0" rtlCol="0" anchor="ctr"/>
          <a:lstStyle/>
          <a:p>
            <a:pPr marL="0" indent="0" algn="ctr">
              <a:buNone/>
            </a:pPr>
            <a:r>
              <a:rPr lang="en-US" sz="2200" b="1" dirty="0">
                <a:solidFill>
                  <a:srgbClr val="FF9E3D"/>
                </a:solidFill>
                <a:latin typeface="Consolas" pitchFamily="34" charset="0"/>
                <a:ea typeface="Consolas" pitchFamily="34" charset="-122"/>
                <a:cs typeface="Consolas" pitchFamily="34" charset="-120"/>
              </a:rPr>
              <a:t>Ctrl</a:t>
            </a:r>
            <a:endParaRPr lang="en-US" sz="2200" dirty="0"/>
          </a:p>
        </p:txBody>
      </p:sp>
      <p:sp>
        <p:nvSpPr>
          <p:cNvPr id="11" name="Text 8"/>
          <p:cNvSpPr/>
          <p:nvPr/>
        </p:nvSpPr>
        <p:spPr>
          <a:xfrm>
            <a:off x="2697480" y="3520440"/>
            <a:ext cx="274320" cy="640080"/>
          </a:xfrm>
          <a:prstGeom prst="rect">
            <a:avLst/>
          </a:prstGeom>
          <a:noFill/>
          <a:ln/>
        </p:spPr>
        <p:txBody>
          <a:bodyPr wrap="square" lIns="0" tIns="0" rIns="0" bIns="0" rtlCol="0" anchor="ctr"/>
          <a:lstStyle/>
          <a:p>
            <a:pPr marL="0" indent="0" algn="ctr">
              <a:buNone/>
            </a:pPr>
            <a:r>
              <a:rPr lang="en-US" sz="2200" b="1" dirty="0">
                <a:solidFill>
                  <a:srgbClr val="E6EDF3"/>
                </a:solidFill>
                <a:latin typeface="Consolas" pitchFamily="34" charset="0"/>
                <a:ea typeface="Consolas" pitchFamily="34" charset="-122"/>
                <a:cs typeface="Consolas" pitchFamily="34" charset="-120"/>
              </a:rPr>
              <a:t>+</a:t>
            </a:r>
            <a:endParaRPr lang="en-US" sz="2200" dirty="0"/>
          </a:p>
        </p:txBody>
      </p:sp>
      <p:sp>
        <p:nvSpPr>
          <p:cNvPr id="12" name="Shape 9"/>
          <p:cNvSpPr/>
          <p:nvPr/>
        </p:nvSpPr>
        <p:spPr>
          <a:xfrm>
            <a:off x="3017520" y="3520440"/>
            <a:ext cx="1280160" cy="640080"/>
          </a:xfrm>
          <a:prstGeom prst="rect">
            <a:avLst/>
          </a:prstGeom>
          <a:solidFill>
            <a:srgbClr val="1A2030"/>
          </a:solidFill>
          <a:ln w="25400">
            <a:solidFill>
              <a:srgbClr val="FF9E3D"/>
            </a:solidFill>
            <a:prstDash val="solid"/>
          </a:ln>
        </p:spPr>
        <p:txBody>
          <a:bodyPr/>
          <a:lstStyle/>
          <a:p>
            <a:endParaRPr lang="en-GB"/>
          </a:p>
        </p:txBody>
      </p:sp>
      <p:sp>
        <p:nvSpPr>
          <p:cNvPr id="13" name="Text 10"/>
          <p:cNvSpPr/>
          <p:nvPr/>
        </p:nvSpPr>
        <p:spPr>
          <a:xfrm>
            <a:off x="3017520" y="3520440"/>
            <a:ext cx="1280160" cy="640080"/>
          </a:xfrm>
          <a:prstGeom prst="rect">
            <a:avLst/>
          </a:prstGeom>
          <a:noFill/>
          <a:ln/>
        </p:spPr>
        <p:txBody>
          <a:bodyPr wrap="square" lIns="0" tIns="0" rIns="0" bIns="0" rtlCol="0" anchor="ctr"/>
          <a:lstStyle/>
          <a:p>
            <a:pPr marL="0" indent="0" algn="ctr">
              <a:buNone/>
            </a:pPr>
            <a:r>
              <a:rPr lang="en-US" sz="2200" b="1" dirty="0">
                <a:solidFill>
                  <a:srgbClr val="FF9E3D"/>
                </a:solidFill>
                <a:latin typeface="Consolas" pitchFamily="34" charset="0"/>
                <a:ea typeface="Consolas" pitchFamily="34" charset="-122"/>
                <a:cs typeface="Consolas" pitchFamily="34" charset="-120"/>
              </a:rPr>
              <a:t>V</a:t>
            </a:r>
            <a:endParaRPr lang="en-US" sz="2200" dirty="0"/>
          </a:p>
        </p:txBody>
      </p:sp>
      <p:sp>
        <p:nvSpPr>
          <p:cNvPr id="14" name="Text 11"/>
          <p:cNvSpPr/>
          <p:nvPr/>
        </p:nvSpPr>
        <p:spPr>
          <a:xfrm>
            <a:off x="731520" y="4343400"/>
            <a:ext cx="5029200" cy="457200"/>
          </a:xfrm>
          <a:prstGeom prst="rect">
            <a:avLst/>
          </a:prstGeom>
          <a:noFill/>
          <a:ln/>
        </p:spPr>
        <p:txBody>
          <a:bodyPr wrap="square" lIns="0" tIns="0" rIns="0" bIns="0" rtlCol="0" anchor="ctr"/>
          <a:lstStyle/>
          <a:p>
            <a:pPr marL="0" indent="0" algn="ctr">
              <a:buNone/>
            </a:pPr>
            <a:r>
              <a:rPr lang="en-US" sz="1400" dirty="0">
                <a:solidFill>
                  <a:srgbClr val="E6EDF3"/>
                </a:solidFill>
                <a:latin typeface="Calibri" pitchFamily="34" charset="0"/>
                <a:ea typeface="Calibri" pitchFamily="34" charset="-122"/>
                <a:cs typeface="Calibri" pitchFamily="34" charset="-120"/>
              </a:rPr>
              <a:t>Pastes a screenshot from clipboard.</a:t>
            </a:r>
            <a:endParaRPr lang="en-US" sz="1400" dirty="0"/>
          </a:p>
        </p:txBody>
      </p:sp>
      <p:sp>
        <p:nvSpPr>
          <p:cNvPr id="15" name="Shape 12"/>
          <p:cNvSpPr/>
          <p:nvPr/>
        </p:nvSpPr>
        <p:spPr>
          <a:xfrm>
            <a:off x="5943600" y="2194560"/>
            <a:ext cx="5486400" cy="2743200"/>
          </a:xfrm>
          <a:prstGeom prst="rect">
            <a:avLst/>
          </a:prstGeom>
          <a:solidFill>
            <a:srgbClr val="131820"/>
          </a:solidFill>
          <a:ln w="12700">
            <a:solidFill>
              <a:srgbClr val="2A3441"/>
            </a:solidFill>
            <a:prstDash val="solid"/>
          </a:ln>
        </p:spPr>
        <p:txBody>
          <a:bodyPr/>
          <a:lstStyle/>
          <a:p>
            <a:endParaRPr lang="en-GB"/>
          </a:p>
        </p:txBody>
      </p:sp>
      <p:sp>
        <p:nvSpPr>
          <p:cNvPr id="16" name="Text 13"/>
          <p:cNvSpPr/>
          <p:nvPr/>
        </p:nvSpPr>
        <p:spPr>
          <a:xfrm>
            <a:off x="6126480" y="2331720"/>
            <a:ext cx="5120640" cy="411480"/>
          </a:xfrm>
          <a:prstGeom prst="rect">
            <a:avLst/>
          </a:prstGeom>
          <a:noFill/>
          <a:ln/>
        </p:spPr>
        <p:txBody>
          <a:bodyPr wrap="square" lIns="0" tIns="0" rIns="0" bIns="0" rtlCol="0" anchor="ctr"/>
          <a:lstStyle/>
          <a:p>
            <a:pPr marL="0" indent="0">
              <a:buNone/>
            </a:pPr>
            <a:r>
              <a:rPr lang="en-US" sz="1700" b="1" dirty="0">
                <a:solidFill>
                  <a:srgbClr val="FF9E3D"/>
                </a:solidFill>
                <a:latin typeface="Consolas" pitchFamily="34" charset="0"/>
                <a:ea typeface="Consolas" pitchFamily="34" charset="-122"/>
                <a:cs typeface="Consolas" pitchFamily="34" charset="-120"/>
              </a:rPr>
              <a:t>When to use it</a:t>
            </a:r>
            <a:endParaRPr lang="en-US" sz="1700" dirty="0"/>
          </a:p>
        </p:txBody>
      </p:sp>
      <p:sp>
        <p:nvSpPr>
          <p:cNvPr id="17" name="Text 14"/>
          <p:cNvSpPr/>
          <p:nvPr/>
        </p:nvSpPr>
        <p:spPr>
          <a:xfrm>
            <a:off x="6263640" y="2880360"/>
            <a:ext cx="5029200" cy="201168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B9C4D0"/>
                </a:solidFill>
                <a:latin typeface="Calibri" pitchFamily="34" charset="0"/>
                <a:ea typeface="Calibri" pitchFamily="34" charset="-122"/>
                <a:cs typeface="Calibri" pitchFamily="34" charset="-120"/>
              </a:rPr>
              <a:t>Pointing at a specific element in your app's UI</a:t>
            </a:r>
            <a:endParaRPr lang="en-US" sz="1300" dirty="0"/>
          </a:p>
          <a:p>
            <a:pPr marL="342900" indent="-342900">
              <a:spcAft>
                <a:spcPts val="400"/>
              </a:spcAft>
              <a:buSzPct val="100000"/>
              <a:buChar char="►"/>
            </a:pPr>
            <a:r>
              <a:rPr lang="en-US" sz="1300" dirty="0">
                <a:solidFill>
                  <a:srgbClr val="B9C4D0"/>
                </a:solidFill>
                <a:latin typeface="Calibri" pitchFamily="34" charset="0"/>
                <a:ea typeface="Calibri" pitchFamily="34" charset="-122"/>
                <a:cs typeface="Calibri" pitchFamily="34" charset="-120"/>
              </a:rPr>
              <a:t>Showing a visual bug you can't easily describe</a:t>
            </a:r>
            <a:endParaRPr lang="en-US" sz="1300" dirty="0"/>
          </a:p>
          <a:p>
            <a:pPr marL="342900" indent="-342900">
              <a:spcAft>
                <a:spcPts val="400"/>
              </a:spcAft>
              <a:buSzPct val="100000"/>
              <a:buChar char="►"/>
            </a:pPr>
            <a:r>
              <a:rPr lang="en-US" sz="1300" dirty="0">
                <a:solidFill>
                  <a:srgbClr val="B9C4D0"/>
                </a:solidFill>
                <a:latin typeface="Calibri" pitchFamily="34" charset="0"/>
                <a:ea typeface="Calibri" pitchFamily="34" charset="-122"/>
                <a:cs typeface="Calibri" pitchFamily="34" charset="-120"/>
              </a:rPr>
              <a:t>Sharing a design mock you want Claude to match</a:t>
            </a:r>
            <a:endParaRPr lang="en-US" sz="1300" dirty="0"/>
          </a:p>
          <a:p>
            <a:pPr marL="342900" indent="-342900">
              <a:spcAft>
                <a:spcPts val="400"/>
              </a:spcAft>
              <a:buSzPct val="100000"/>
              <a:buChar char="►"/>
            </a:pPr>
            <a:r>
              <a:rPr lang="en-US" sz="1300" dirty="0">
                <a:solidFill>
                  <a:srgbClr val="B9C4D0"/>
                </a:solidFill>
                <a:latin typeface="Calibri" pitchFamily="34" charset="0"/>
                <a:ea typeface="Calibri" pitchFamily="34" charset="-122"/>
                <a:cs typeface="Calibri" pitchFamily="34" charset="-120"/>
              </a:rPr>
              <a:t>Highlighting a chart or graph in your data</a:t>
            </a:r>
            <a:endParaRPr lang="en-US" sz="1300" dirty="0"/>
          </a:p>
          <a:p>
            <a:pPr marL="342900" indent="-342900">
              <a:spcAft>
                <a:spcPts val="400"/>
              </a:spcAft>
              <a:buSzPct val="100000"/>
              <a:buChar char="►"/>
            </a:pPr>
            <a:r>
              <a:rPr lang="en-US" sz="1300" dirty="0">
                <a:solidFill>
                  <a:srgbClr val="B9C4D0"/>
                </a:solidFill>
                <a:latin typeface="Calibri" pitchFamily="34" charset="0"/>
                <a:ea typeface="Calibri" pitchFamily="34" charset="-122"/>
                <a:cs typeface="Calibri" pitchFamily="34" charset="-120"/>
              </a:rPr>
              <a:t>Anything where 'this part right here' is faster than typing</a:t>
            </a:r>
            <a:endParaRPr lang="en-US" sz="1300" dirty="0"/>
          </a:p>
        </p:txBody>
      </p:sp>
      <p:sp>
        <p:nvSpPr>
          <p:cNvPr id="18" name="Text 15"/>
          <p:cNvSpPr/>
          <p:nvPr/>
        </p:nvSpPr>
        <p:spPr>
          <a:xfrm>
            <a:off x="731520" y="5212080"/>
            <a:ext cx="10698480" cy="640080"/>
          </a:xfrm>
          <a:prstGeom prst="rect">
            <a:avLst/>
          </a:prstGeom>
          <a:noFill/>
          <a:ln/>
        </p:spPr>
        <p:txBody>
          <a:bodyPr wrap="square" lIns="0" tIns="0" rIns="0" bIns="0" rtlCol="0" anchor="ctr"/>
          <a:lstStyle/>
          <a:p>
            <a:pPr marL="0" indent="0">
              <a:buNone/>
            </a:pPr>
            <a:r>
              <a:rPr lang="en-US" sz="1300" i="1" dirty="0">
                <a:solidFill>
                  <a:srgbClr val="5EB3F5"/>
                </a:solidFill>
                <a:latin typeface="Calibri" pitchFamily="34" charset="0"/>
                <a:ea typeface="Calibri" pitchFamily="34" charset="-122"/>
                <a:cs typeface="Calibri" pitchFamily="34" charset="-120"/>
              </a:rPr>
              <a:t>Tip: combine a screenshot with a specific instruction — "make the buttons in this header rounded" beats "improve this UI."</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section_3/planning_mode.md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19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Planning mode</a:t>
            </a:r>
            <a:endParaRPr lang="en-US" sz="3000" dirty="0"/>
          </a:p>
        </p:txBody>
      </p:sp>
      <p:sp>
        <p:nvSpPr>
          <p:cNvPr id="6" name="Text 4"/>
          <p:cNvSpPr/>
          <p:nvPr/>
        </p:nvSpPr>
        <p:spPr>
          <a:xfrm>
            <a:off x="731520" y="1417320"/>
            <a:ext cx="10972800" cy="502920"/>
          </a:xfrm>
          <a:prstGeom prst="rect">
            <a:avLst/>
          </a:prstGeom>
          <a:noFill/>
          <a:ln/>
        </p:spPr>
        <p:txBody>
          <a:bodyPr wrap="square" lIns="0" tIns="0" rIns="0" bIns="0" rtlCol="0" anchor="ctr"/>
          <a:lstStyle/>
          <a:p>
            <a:pPr marL="0" indent="0">
              <a:buNone/>
            </a:pPr>
            <a:r>
              <a:rPr lang="en-US" sz="1500" dirty="0">
                <a:solidFill>
                  <a:srgbClr val="B9C4D0"/>
                </a:solidFill>
                <a:latin typeface="Calibri" pitchFamily="34" charset="0"/>
                <a:ea typeface="Calibri" pitchFamily="34" charset="-122"/>
                <a:cs typeface="Calibri" pitchFamily="34" charset="-120"/>
              </a:rPr>
              <a:t>For complex tasks, force Claude to explore first and propose a plan before touching anything.</a:t>
            </a:r>
            <a:endParaRPr lang="en-US" sz="1500" dirty="0"/>
          </a:p>
        </p:txBody>
      </p:sp>
      <p:sp>
        <p:nvSpPr>
          <p:cNvPr id="7" name="Shape 5"/>
          <p:cNvSpPr/>
          <p:nvPr/>
        </p:nvSpPr>
        <p:spPr>
          <a:xfrm>
            <a:off x="731520" y="2194560"/>
            <a:ext cx="5349240" cy="3840480"/>
          </a:xfrm>
          <a:prstGeom prst="rect">
            <a:avLst/>
          </a:prstGeom>
          <a:solidFill>
            <a:srgbClr val="131820"/>
          </a:solidFill>
          <a:ln w="12700">
            <a:solidFill>
              <a:srgbClr val="2A3441"/>
            </a:solidFill>
            <a:prstDash val="solid"/>
          </a:ln>
        </p:spPr>
        <p:txBody>
          <a:bodyPr/>
          <a:lstStyle/>
          <a:p>
            <a:endParaRPr lang="en-GB"/>
          </a:p>
        </p:txBody>
      </p:sp>
      <p:sp>
        <p:nvSpPr>
          <p:cNvPr id="8" name="Text 6"/>
          <p:cNvSpPr/>
          <p:nvPr/>
        </p:nvSpPr>
        <p:spPr>
          <a:xfrm>
            <a:off x="914400" y="2331720"/>
            <a:ext cx="5029200" cy="411480"/>
          </a:xfrm>
          <a:prstGeom prst="rect">
            <a:avLst/>
          </a:prstGeom>
          <a:noFill/>
          <a:ln/>
        </p:spPr>
        <p:txBody>
          <a:bodyPr wrap="square" lIns="0" tIns="0" rIns="0" bIns="0" rtlCol="0" anchor="ctr"/>
          <a:lstStyle/>
          <a:p>
            <a:pPr marL="0" indent="0">
              <a:buNone/>
            </a:pPr>
            <a:r>
              <a:rPr lang="en-US" sz="1700" b="1" dirty="0">
                <a:solidFill>
                  <a:srgbClr val="FF9E3D"/>
                </a:solidFill>
                <a:latin typeface="Consolas" pitchFamily="34" charset="0"/>
                <a:ea typeface="Consolas" pitchFamily="34" charset="-122"/>
                <a:cs typeface="Consolas" pitchFamily="34" charset="-120"/>
              </a:rPr>
              <a:t>Enable</a:t>
            </a:r>
            <a:endParaRPr lang="en-US" sz="1700" dirty="0"/>
          </a:p>
        </p:txBody>
      </p:sp>
      <p:sp>
        <p:nvSpPr>
          <p:cNvPr id="9" name="Shape 7"/>
          <p:cNvSpPr/>
          <p:nvPr/>
        </p:nvSpPr>
        <p:spPr>
          <a:xfrm>
            <a:off x="914400" y="2880360"/>
            <a:ext cx="4983480" cy="640080"/>
          </a:xfrm>
          <a:prstGeom prst="rect">
            <a:avLst/>
          </a:prstGeom>
          <a:solidFill>
            <a:srgbClr val="1A2030"/>
          </a:solidFill>
          <a:ln/>
        </p:spPr>
        <p:txBody>
          <a:bodyPr/>
          <a:lstStyle/>
          <a:p>
            <a:endParaRPr lang="en-GB"/>
          </a:p>
        </p:txBody>
      </p:sp>
      <p:sp>
        <p:nvSpPr>
          <p:cNvPr id="10" name="Text 8"/>
          <p:cNvSpPr/>
          <p:nvPr/>
        </p:nvSpPr>
        <p:spPr>
          <a:xfrm>
            <a:off x="1051560" y="2880360"/>
            <a:ext cx="4709160" cy="640080"/>
          </a:xfrm>
          <a:prstGeom prst="rect">
            <a:avLst/>
          </a:prstGeom>
          <a:noFill/>
          <a:ln/>
        </p:spPr>
        <p:txBody>
          <a:bodyPr wrap="square" lIns="0" tIns="0" rIns="0" bIns="0" rtlCol="0" anchor="ctr"/>
          <a:lstStyle/>
          <a:p>
            <a:pPr marL="0" indent="0">
              <a:buNone/>
            </a:pPr>
            <a:r>
              <a:rPr lang="en-US" sz="1800" b="1" dirty="0">
                <a:solidFill>
                  <a:srgbClr val="FF9E3D"/>
                </a:solidFill>
                <a:latin typeface="Consolas" pitchFamily="34" charset="0"/>
                <a:ea typeface="Consolas" pitchFamily="34" charset="-122"/>
                <a:cs typeface="Consolas" pitchFamily="34" charset="-120"/>
              </a:rPr>
              <a:t>/plan</a:t>
            </a:r>
            <a:endParaRPr lang="en-US" sz="1800" dirty="0"/>
          </a:p>
        </p:txBody>
      </p:sp>
      <p:sp>
        <p:nvSpPr>
          <p:cNvPr id="11" name="Text 9"/>
          <p:cNvSpPr/>
          <p:nvPr/>
        </p:nvSpPr>
        <p:spPr>
          <a:xfrm>
            <a:off x="914400" y="3657600"/>
            <a:ext cx="5029200" cy="274320"/>
          </a:xfrm>
          <a:prstGeom prst="rect">
            <a:avLst/>
          </a:prstGeom>
          <a:noFill/>
          <a:ln/>
        </p:spPr>
        <p:txBody>
          <a:bodyPr wrap="square" lIns="0" tIns="0" rIns="0" bIns="0" rtlCol="0" anchor="ctr"/>
          <a:lstStyle/>
          <a:p>
            <a:pPr marL="0" indent="0">
              <a:buNone/>
            </a:pPr>
            <a:r>
              <a:rPr lang="en-US" sz="1200" i="1" dirty="0">
                <a:solidFill>
                  <a:srgbClr val="6B7785"/>
                </a:solidFill>
                <a:latin typeface="Calibri" pitchFamily="34" charset="0"/>
                <a:ea typeface="Calibri" pitchFamily="34" charset="-122"/>
                <a:cs typeface="Calibri" pitchFamily="34" charset="-120"/>
              </a:rPr>
              <a:t>or</a:t>
            </a:r>
            <a:endParaRPr lang="en-US" sz="1200" dirty="0"/>
          </a:p>
        </p:txBody>
      </p:sp>
      <p:sp>
        <p:nvSpPr>
          <p:cNvPr id="12" name="Shape 10"/>
          <p:cNvSpPr/>
          <p:nvPr/>
        </p:nvSpPr>
        <p:spPr>
          <a:xfrm>
            <a:off x="914400" y="3977640"/>
            <a:ext cx="4983480" cy="640080"/>
          </a:xfrm>
          <a:prstGeom prst="rect">
            <a:avLst/>
          </a:prstGeom>
          <a:solidFill>
            <a:srgbClr val="1A2030"/>
          </a:solidFill>
          <a:ln/>
        </p:spPr>
        <p:txBody>
          <a:bodyPr/>
          <a:lstStyle/>
          <a:p>
            <a:endParaRPr lang="en-GB"/>
          </a:p>
        </p:txBody>
      </p:sp>
      <p:sp>
        <p:nvSpPr>
          <p:cNvPr id="13" name="Text 11"/>
          <p:cNvSpPr/>
          <p:nvPr/>
        </p:nvSpPr>
        <p:spPr>
          <a:xfrm>
            <a:off x="1051560" y="3977640"/>
            <a:ext cx="4709160" cy="640080"/>
          </a:xfrm>
          <a:prstGeom prst="rect">
            <a:avLst/>
          </a:prstGeom>
          <a:noFill/>
          <a:ln/>
        </p:spPr>
        <p:txBody>
          <a:bodyPr wrap="square" lIns="0" tIns="0" rIns="0" bIns="0" rtlCol="0" anchor="ctr"/>
          <a:lstStyle/>
          <a:p>
            <a:pPr marL="0" indent="0">
              <a:buNone/>
            </a:pPr>
            <a:r>
              <a:rPr lang="en-US" sz="1600" b="1" dirty="0">
                <a:solidFill>
                  <a:srgbClr val="FF9E3D"/>
                </a:solidFill>
                <a:latin typeface="Consolas" pitchFamily="34" charset="0"/>
                <a:ea typeface="Consolas" pitchFamily="34" charset="-122"/>
                <a:cs typeface="Consolas" pitchFamily="34" charset="-120"/>
              </a:rPr>
              <a:t>Shift+Tab </a:t>
            </a:r>
            <a:r>
              <a:rPr lang="en-US" sz="1600" dirty="0">
                <a:solidFill>
                  <a:srgbClr val="B9C4D0"/>
                </a:solidFill>
                <a:latin typeface="Consolas" pitchFamily="34" charset="0"/>
                <a:ea typeface="Consolas" pitchFamily="34" charset="-122"/>
                <a:cs typeface="Consolas" pitchFamily="34" charset="-120"/>
              </a:rPr>
              <a:t>× 2</a:t>
            </a:r>
            <a:endParaRPr lang="en-US" sz="1600" dirty="0"/>
          </a:p>
        </p:txBody>
      </p:sp>
      <p:sp>
        <p:nvSpPr>
          <p:cNvPr id="14" name="Text 12"/>
          <p:cNvSpPr/>
          <p:nvPr/>
        </p:nvSpPr>
        <p:spPr>
          <a:xfrm>
            <a:off x="914400" y="4709160"/>
            <a:ext cx="5029200" cy="365760"/>
          </a:xfrm>
          <a:prstGeom prst="rect">
            <a:avLst/>
          </a:prstGeom>
          <a:noFill/>
          <a:ln/>
        </p:spPr>
        <p:txBody>
          <a:bodyPr wrap="square" lIns="0" tIns="0" rIns="0" bIns="0" rtlCol="0" anchor="ctr"/>
          <a:lstStyle/>
          <a:p>
            <a:pPr marL="0" indent="0">
              <a:buNone/>
            </a:pPr>
            <a:r>
              <a:rPr lang="en-US" sz="1100" i="1" dirty="0">
                <a:solidFill>
                  <a:srgbClr val="6B7785"/>
                </a:solidFill>
                <a:latin typeface="Calibri" pitchFamily="34" charset="0"/>
                <a:ea typeface="Calibri" pitchFamily="34" charset="-122"/>
                <a:cs typeface="Calibri" pitchFamily="34" charset="-120"/>
              </a:rPr>
              <a:t>(once if you're already auto-accepting edits)</a:t>
            </a:r>
            <a:endParaRPr lang="en-US" sz="1100" dirty="0"/>
          </a:p>
        </p:txBody>
      </p:sp>
      <p:sp>
        <p:nvSpPr>
          <p:cNvPr id="15" name="Text 13"/>
          <p:cNvSpPr/>
          <p:nvPr/>
        </p:nvSpPr>
        <p:spPr>
          <a:xfrm>
            <a:off x="914400" y="5166360"/>
            <a:ext cx="5029200" cy="777240"/>
          </a:xfrm>
          <a:prstGeom prst="rect">
            <a:avLst/>
          </a:prstGeom>
          <a:noFill/>
          <a:ln/>
        </p:spPr>
        <p:txBody>
          <a:bodyPr wrap="square" lIns="0" tIns="0" rIns="0" bIns="0" rtlCol="0" anchor="ctr"/>
          <a:lstStyle/>
          <a:p>
            <a:pPr marL="0" indent="0">
              <a:buNone/>
            </a:pPr>
            <a:r>
              <a:rPr lang="en-US" sz="1200" i="1" dirty="0">
                <a:solidFill>
                  <a:srgbClr val="5EB3F5"/>
                </a:solidFill>
                <a:latin typeface="Calibri" pitchFamily="34" charset="0"/>
                <a:ea typeface="Calibri" pitchFamily="34" charset="-122"/>
                <a:cs typeface="Calibri" pitchFamily="34" charset="-120"/>
              </a:rPr>
              <a:t>Pro tip: press Ctrl+G on the plan to open it in your editor. Edit it precisely, save — Claude sees the final version.</a:t>
            </a:r>
            <a:endParaRPr lang="en-US" sz="1200" dirty="0"/>
          </a:p>
        </p:txBody>
      </p:sp>
      <p:sp>
        <p:nvSpPr>
          <p:cNvPr id="16" name="Shape 14"/>
          <p:cNvSpPr/>
          <p:nvPr/>
        </p:nvSpPr>
        <p:spPr>
          <a:xfrm>
            <a:off x="6309360" y="2194560"/>
            <a:ext cx="5349240" cy="3840480"/>
          </a:xfrm>
          <a:prstGeom prst="rect">
            <a:avLst/>
          </a:prstGeom>
          <a:solidFill>
            <a:srgbClr val="131820"/>
          </a:solidFill>
          <a:ln w="12700">
            <a:solidFill>
              <a:srgbClr val="2A3441"/>
            </a:solidFill>
            <a:prstDash val="solid"/>
          </a:ln>
        </p:spPr>
        <p:txBody>
          <a:bodyPr/>
          <a:lstStyle/>
          <a:p>
            <a:endParaRPr lang="en-GB"/>
          </a:p>
        </p:txBody>
      </p:sp>
      <p:sp>
        <p:nvSpPr>
          <p:cNvPr id="17" name="Text 15"/>
          <p:cNvSpPr/>
          <p:nvPr/>
        </p:nvSpPr>
        <p:spPr>
          <a:xfrm>
            <a:off x="6492240" y="2331720"/>
            <a:ext cx="5029200" cy="411480"/>
          </a:xfrm>
          <a:prstGeom prst="rect">
            <a:avLst/>
          </a:prstGeom>
          <a:noFill/>
          <a:ln/>
        </p:spPr>
        <p:txBody>
          <a:bodyPr wrap="square" lIns="0" tIns="0" rIns="0" bIns="0" rtlCol="0" anchor="ctr"/>
          <a:lstStyle/>
          <a:p>
            <a:pPr marL="0" indent="0">
              <a:buNone/>
            </a:pPr>
            <a:r>
              <a:rPr lang="en-US" sz="1700" b="1" dirty="0">
                <a:solidFill>
                  <a:srgbClr val="FF9E3D"/>
                </a:solidFill>
                <a:latin typeface="Consolas" pitchFamily="34" charset="0"/>
                <a:ea typeface="Consolas" pitchFamily="34" charset="-122"/>
                <a:cs typeface="Consolas" pitchFamily="34" charset="-120"/>
              </a:rPr>
              <a:t>In planning mode, Claude…</a:t>
            </a:r>
            <a:endParaRPr lang="en-US" sz="1700" dirty="0"/>
          </a:p>
        </p:txBody>
      </p:sp>
      <p:pic>
        <p:nvPicPr>
          <p:cNvPr id="18" name="Image 0" descr="preencoded.png"/>
          <p:cNvPicPr>
            <a:picLocks noChangeAspect="1"/>
          </p:cNvPicPr>
          <p:nvPr/>
        </p:nvPicPr>
        <p:blipFill>
          <a:blip r:embed="rId3"/>
          <a:stretch>
            <a:fillRect/>
          </a:stretch>
        </p:blipFill>
        <p:spPr>
          <a:xfrm>
            <a:off x="6537960" y="3017520"/>
            <a:ext cx="365760" cy="365760"/>
          </a:xfrm>
          <a:prstGeom prst="rect">
            <a:avLst/>
          </a:prstGeom>
        </p:spPr>
      </p:pic>
      <p:sp>
        <p:nvSpPr>
          <p:cNvPr id="19" name="Text 16"/>
          <p:cNvSpPr/>
          <p:nvPr/>
        </p:nvSpPr>
        <p:spPr>
          <a:xfrm>
            <a:off x="7040880" y="2926080"/>
            <a:ext cx="4572000" cy="54864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Reads more files in the project</a:t>
            </a:r>
            <a:endParaRPr lang="en-US" sz="1400" dirty="0"/>
          </a:p>
        </p:txBody>
      </p:sp>
      <p:pic>
        <p:nvPicPr>
          <p:cNvPr id="20" name="Image 1" descr="preencoded.png"/>
          <p:cNvPicPr>
            <a:picLocks noChangeAspect="1"/>
          </p:cNvPicPr>
          <p:nvPr/>
        </p:nvPicPr>
        <p:blipFill>
          <a:blip r:embed="rId4"/>
          <a:stretch>
            <a:fillRect/>
          </a:stretch>
        </p:blipFill>
        <p:spPr>
          <a:xfrm>
            <a:off x="6537960" y="3794760"/>
            <a:ext cx="365760" cy="365760"/>
          </a:xfrm>
          <a:prstGeom prst="rect">
            <a:avLst/>
          </a:prstGeom>
        </p:spPr>
      </p:pic>
      <p:sp>
        <p:nvSpPr>
          <p:cNvPr id="21" name="Text 17"/>
          <p:cNvSpPr/>
          <p:nvPr/>
        </p:nvSpPr>
        <p:spPr>
          <a:xfrm>
            <a:off x="7040880" y="3703320"/>
            <a:ext cx="4572000" cy="54864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Builds a detailed implementation plan</a:t>
            </a:r>
            <a:endParaRPr lang="en-US" sz="1400" dirty="0"/>
          </a:p>
        </p:txBody>
      </p:sp>
      <p:pic>
        <p:nvPicPr>
          <p:cNvPr id="22" name="Image 2" descr="preencoded.png"/>
          <p:cNvPicPr>
            <a:picLocks noChangeAspect="1"/>
          </p:cNvPicPr>
          <p:nvPr/>
        </p:nvPicPr>
        <p:blipFill>
          <a:blip r:embed="rId5"/>
          <a:stretch>
            <a:fillRect/>
          </a:stretch>
        </p:blipFill>
        <p:spPr>
          <a:xfrm>
            <a:off x="6537960" y="4572000"/>
            <a:ext cx="365760" cy="365760"/>
          </a:xfrm>
          <a:prstGeom prst="rect">
            <a:avLst/>
          </a:prstGeom>
        </p:spPr>
      </p:pic>
      <p:sp>
        <p:nvSpPr>
          <p:cNvPr id="23" name="Text 18"/>
          <p:cNvSpPr/>
          <p:nvPr/>
        </p:nvSpPr>
        <p:spPr>
          <a:xfrm>
            <a:off x="7040880" y="4480560"/>
            <a:ext cx="4572000" cy="54864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Shows you exactly what it intends to do</a:t>
            </a:r>
            <a:endParaRPr lang="en-US" sz="1400" dirty="0"/>
          </a:p>
        </p:txBody>
      </p:sp>
      <p:pic>
        <p:nvPicPr>
          <p:cNvPr id="24" name="Image 3" descr="preencoded.png"/>
          <p:cNvPicPr>
            <a:picLocks noChangeAspect="1"/>
          </p:cNvPicPr>
          <p:nvPr/>
        </p:nvPicPr>
        <p:blipFill>
          <a:blip r:embed="rId6"/>
          <a:stretch>
            <a:fillRect/>
          </a:stretch>
        </p:blipFill>
        <p:spPr>
          <a:xfrm>
            <a:off x="6537960" y="5349240"/>
            <a:ext cx="365760" cy="365760"/>
          </a:xfrm>
          <a:prstGeom prst="rect">
            <a:avLst/>
          </a:prstGeom>
        </p:spPr>
      </p:pic>
      <p:sp>
        <p:nvSpPr>
          <p:cNvPr id="25" name="Text 19"/>
          <p:cNvSpPr/>
          <p:nvPr/>
        </p:nvSpPr>
        <p:spPr>
          <a:xfrm>
            <a:off x="7040880" y="5257800"/>
            <a:ext cx="4572000" cy="54864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Waits for your approval before proceeding</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section_3/effort.md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20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Effort level: how hard Claude thinks</a:t>
            </a:r>
            <a:endParaRPr lang="en-US" sz="3000" dirty="0"/>
          </a:p>
        </p:txBody>
      </p:sp>
      <p:sp>
        <p:nvSpPr>
          <p:cNvPr id="6" name="Text 4"/>
          <p:cNvSpPr/>
          <p:nvPr/>
        </p:nvSpPr>
        <p:spPr>
          <a:xfrm>
            <a:off x="731520" y="1417320"/>
            <a:ext cx="10972800" cy="50292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Claude already reasons before answering. Effort level dials that reasoning depth up or down for harder problems.</a:t>
            </a:r>
            <a:endParaRPr lang="en-US" sz="1400" dirty="0"/>
          </a:p>
        </p:txBody>
      </p:sp>
      <p:sp>
        <p:nvSpPr>
          <p:cNvPr id="7" name="Shape 5"/>
          <p:cNvSpPr/>
          <p:nvPr/>
        </p:nvSpPr>
        <p:spPr>
          <a:xfrm>
            <a:off x="731520" y="2194560"/>
            <a:ext cx="10698480" cy="1463040"/>
          </a:xfrm>
          <a:prstGeom prst="rect">
            <a:avLst/>
          </a:prstGeom>
          <a:solidFill>
            <a:srgbClr val="131820"/>
          </a:solidFill>
          <a:ln w="12700">
            <a:solidFill>
              <a:srgbClr val="2A3441"/>
            </a:solidFill>
            <a:prstDash val="solid"/>
          </a:ln>
        </p:spPr>
        <p:txBody>
          <a:bodyPr/>
          <a:lstStyle/>
          <a:p>
            <a:endParaRPr lang="en-GB"/>
          </a:p>
        </p:txBody>
      </p:sp>
      <p:sp>
        <p:nvSpPr>
          <p:cNvPr id="8" name="Text 6"/>
          <p:cNvSpPr/>
          <p:nvPr/>
        </p:nvSpPr>
        <p:spPr>
          <a:xfrm>
            <a:off x="914400" y="2331720"/>
            <a:ext cx="1371600" cy="365760"/>
          </a:xfrm>
          <a:prstGeom prst="rect">
            <a:avLst/>
          </a:prstGeom>
          <a:noFill/>
          <a:ln/>
        </p:spPr>
        <p:txBody>
          <a:bodyPr wrap="square" lIns="0" tIns="0" rIns="0" bIns="0" rtlCol="0" anchor="ctr"/>
          <a:lstStyle/>
          <a:p>
            <a:pPr marL="0" indent="0">
              <a:buNone/>
            </a:pPr>
            <a:r>
              <a:rPr lang="en-US" sz="1400" b="1" kern="0" spc="400" dirty="0">
                <a:solidFill>
                  <a:srgbClr val="8AE65C"/>
                </a:solidFill>
                <a:latin typeface="Consolas" pitchFamily="34" charset="0"/>
                <a:ea typeface="Consolas" pitchFamily="34" charset="-122"/>
                <a:cs typeface="Consolas" pitchFamily="34" charset="-120"/>
              </a:rPr>
              <a:t>LOW</a:t>
            </a:r>
            <a:endParaRPr lang="en-US" sz="1400" dirty="0"/>
          </a:p>
        </p:txBody>
      </p:sp>
      <p:sp>
        <p:nvSpPr>
          <p:cNvPr id="9" name="Text 7"/>
          <p:cNvSpPr/>
          <p:nvPr/>
        </p:nvSpPr>
        <p:spPr>
          <a:xfrm>
            <a:off x="10058400" y="2331720"/>
            <a:ext cx="1371600" cy="365760"/>
          </a:xfrm>
          <a:prstGeom prst="rect">
            <a:avLst/>
          </a:prstGeom>
          <a:noFill/>
          <a:ln/>
        </p:spPr>
        <p:txBody>
          <a:bodyPr wrap="square" lIns="0" tIns="0" rIns="0" bIns="0" rtlCol="0" anchor="ctr"/>
          <a:lstStyle/>
          <a:p>
            <a:pPr marL="0" indent="0" algn="r">
              <a:buNone/>
            </a:pPr>
            <a:r>
              <a:rPr lang="en-US" sz="1400" b="1" kern="0" spc="400" dirty="0">
                <a:solidFill>
                  <a:srgbClr val="F87171"/>
                </a:solidFill>
                <a:latin typeface="Consolas" pitchFamily="34" charset="0"/>
                <a:ea typeface="Consolas" pitchFamily="34" charset="-122"/>
                <a:cs typeface="Consolas" pitchFamily="34" charset="-120"/>
              </a:rPr>
              <a:t>MAX</a:t>
            </a:r>
            <a:endParaRPr lang="en-US" sz="1400" dirty="0"/>
          </a:p>
        </p:txBody>
      </p:sp>
      <p:sp>
        <p:nvSpPr>
          <p:cNvPr id="10" name="Shape 8"/>
          <p:cNvSpPr/>
          <p:nvPr/>
        </p:nvSpPr>
        <p:spPr>
          <a:xfrm>
            <a:off x="914400" y="2788920"/>
            <a:ext cx="3200400" cy="228600"/>
          </a:xfrm>
          <a:prstGeom prst="rect">
            <a:avLst/>
          </a:prstGeom>
          <a:solidFill>
            <a:srgbClr val="8AE65C"/>
          </a:solidFill>
          <a:ln/>
        </p:spPr>
        <p:txBody>
          <a:bodyPr/>
          <a:lstStyle/>
          <a:p>
            <a:endParaRPr lang="en-GB"/>
          </a:p>
        </p:txBody>
      </p:sp>
      <p:sp>
        <p:nvSpPr>
          <p:cNvPr id="11" name="Shape 9"/>
          <p:cNvSpPr/>
          <p:nvPr/>
        </p:nvSpPr>
        <p:spPr>
          <a:xfrm>
            <a:off x="4114800" y="2788920"/>
            <a:ext cx="3200400" cy="228600"/>
          </a:xfrm>
          <a:prstGeom prst="rect">
            <a:avLst/>
          </a:prstGeom>
          <a:solidFill>
            <a:srgbClr val="FF9E3D"/>
          </a:solidFill>
          <a:ln/>
        </p:spPr>
        <p:txBody>
          <a:bodyPr/>
          <a:lstStyle/>
          <a:p>
            <a:endParaRPr lang="en-GB"/>
          </a:p>
        </p:txBody>
      </p:sp>
      <p:sp>
        <p:nvSpPr>
          <p:cNvPr id="12" name="Shape 10"/>
          <p:cNvSpPr/>
          <p:nvPr/>
        </p:nvSpPr>
        <p:spPr>
          <a:xfrm>
            <a:off x="7315200" y="2788920"/>
            <a:ext cx="4114800" cy="228600"/>
          </a:xfrm>
          <a:prstGeom prst="rect">
            <a:avLst/>
          </a:prstGeom>
          <a:solidFill>
            <a:srgbClr val="F87171"/>
          </a:solidFill>
          <a:ln/>
        </p:spPr>
        <p:txBody>
          <a:bodyPr/>
          <a:lstStyle/>
          <a:p>
            <a:endParaRPr lang="en-GB"/>
          </a:p>
        </p:txBody>
      </p:sp>
      <p:sp>
        <p:nvSpPr>
          <p:cNvPr id="13" name="Text 11"/>
          <p:cNvSpPr/>
          <p:nvPr/>
        </p:nvSpPr>
        <p:spPr>
          <a:xfrm>
            <a:off x="914400" y="3108960"/>
            <a:ext cx="4572000" cy="365760"/>
          </a:xfrm>
          <a:prstGeom prst="rect">
            <a:avLst/>
          </a:prstGeom>
          <a:noFill/>
          <a:ln/>
        </p:spPr>
        <p:txBody>
          <a:bodyPr wrap="square" lIns="0" tIns="0" rIns="0" bIns="0" rtlCol="0" anchor="ctr"/>
          <a:lstStyle/>
          <a:p>
            <a:pPr marL="0" indent="0">
              <a:buNone/>
            </a:pPr>
            <a:r>
              <a:rPr lang="en-US" sz="1300" i="1" dirty="0">
                <a:solidFill>
                  <a:srgbClr val="B9C4D0"/>
                </a:solidFill>
                <a:latin typeface="Calibri" pitchFamily="34" charset="0"/>
                <a:ea typeface="Calibri" pitchFamily="34" charset="-122"/>
                <a:cs typeface="Calibri" pitchFamily="34" charset="-120"/>
              </a:rPr>
              <a:t>faster · cheaper</a:t>
            </a:r>
            <a:endParaRPr lang="en-US" sz="1300" dirty="0"/>
          </a:p>
        </p:txBody>
      </p:sp>
      <p:sp>
        <p:nvSpPr>
          <p:cNvPr id="14" name="Text 12"/>
          <p:cNvSpPr/>
          <p:nvPr/>
        </p:nvSpPr>
        <p:spPr>
          <a:xfrm>
            <a:off x="6400800" y="3108960"/>
            <a:ext cx="5029200" cy="365760"/>
          </a:xfrm>
          <a:prstGeom prst="rect">
            <a:avLst/>
          </a:prstGeom>
          <a:noFill/>
          <a:ln/>
        </p:spPr>
        <p:txBody>
          <a:bodyPr wrap="square" lIns="0" tIns="0" rIns="0" bIns="0" rtlCol="0" anchor="ctr"/>
          <a:lstStyle/>
          <a:p>
            <a:pPr marL="0" indent="0" algn="r">
              <a:buNone/>
            </a:pPr>
            <a:r>
              <a:rPr lang="en-US" sz="1300" i="1" dirty="0">
                <a:solidFill>
                  <a:srgbClr val="B9C4D0"/>
                </a:solidFill>
                <a:latin typeface="Calibri" pitchFamily="34" charset="0"/>
                <a:ea typeface="Calibri" pitchFamily="34" charset="-122"/>
                <a:cs typeface="Calibri" pitchFamily="34" charset="-120"/>
              </a:rPr>
              <a:t>longest reasoning on hard problems</a:t>
            </a:r>
            <a:endParaRPr lang="en-US" sz="1300" dirty="0"/>
          </a:p>
        </p:txBody>
      </p:sp>
      <p:sp>
        <p:nvSpPr>
          <p:cNvPr id="15" name="Shape 13"/>
          <p:cNvSpPr/>
          <p:nvPr/>
        </p:nvSpPr>
        <p:spPr>
          <a:xfrm>
            <a:off x="731520" y="3886200"/>
            <a:ext cx="5349240" cy="2103120"/>
          </a:xfrm>
          <a:prstGeom prst="rect">
            <a:avLst/>
          </a:prstGeom>
          <a:solidFill>
            <a:srgbClr val="131820"/>
          </a:solidFill>
          <a:ln w="12700">
            <a:solidFill>
              <a:srgbClr val="2A3441"/>
            </a:solidFill>
            <a:prstDash val="solid"/>
          </a:ln>
        </p:spPr>
        <p:txBody>
          <a:bodyPr/>
          <a:lstStyle/>
          <a:p>
            <a:endParaRPr lang="en-GB"/>
          </a:p>
        </p:txBody>
      </p:sp>
      <p:sp>
        <p:nvSpPr>
          <p:cNvPr id="16" name="Text 14"/>
          <p:cNvSpPr/>
          <p:nvPr/>
        </p:nvSpPr>
        <p:spPr>
          <a:xfrm>
            <a:off x="914400" y="4023360"/>
            <a:ext cx="5029200" cy="36576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Inspect / change</a:t>
            </a:r>
            <a:endParaRPr lang="en-US" sz="1400" dirty="0"/>
          </a:p>
        </p:txBody>
      </p:sp>
      <p:sp>
        <p:nvSpPr>
          <p:cNvPr id="17" name="Shape 15"/>
          <p:cNvSpPr/>
          <p:nvPr/>
        </p:nvSpPr>
        <p:spPr>
          <a:xfrm>
            <a:off x="914400" y="4480560"/>
            <a:ext cx="4983480" cy="640080"/>
          </a:xfrm>
          <a:prstGeom prst="rect">
            <a:avLst/>
          </a:prstGeom>
          <a:solidFill>
            <a:srgbClr val="1A2030"/>
          </a:solidFill>
          <a:ln/>
        </p:spPr>
        <p:txBody>
          <a:bodyPr/>
          <a:lstStyle/>
          <a:p>
            <a:endParaRPr lang="en-GB"/>
          </a:p>
        </p:txBody>
      </p:sp>
      <p:sp>
        <p:nvSpPr>
          <p:cNvPr id="18" name="Text 16"/>
          <p:cNvSpPr/>
          <p:nvPr/>
        </p:nvSpPr>
        <p:spPr>
          <a:xfrm>
            <a:off x="1051560" y="4480560"/>
            <a:ext cx="4709160" cy="640080"/>
          </a:xfrm>
          <a:prstGeom prst="rect">
            <a:avLst/>
          </a:prstGeom>
          <a:noFill/>
          <a:ln/>
        </p:spPr>
        <p:txBody>
          <a:bodyPr wrap="square" lIns="0" tIns="0" rIns="0" bIns="0" rtlCol="0" anchor="ctr"/>
          <a:lstStyle/>
          <a:p>
            <a:pPr marL="0" indent="0">
              <a:buNone/>
            </a:pPr>
            <a:r>
              <a:rPr lang="en-US" sz="1800" b="1" dirty="0">
                <a:solidFill>
                  <a:srgbClr val="FF9E3D"/>
                </a:solidFill>
                <a:latin typeface="Consolas" pitchFamily="34" charset="0"/>
                <a:ea typeface="Consolas" pitchFamily="34" charset="-122"/>
                <a:cs typeface="Consolas" pitchFamily="34" charset="-120"/>
              </a:rPr>
              <a:t>/effort</a:t>
            </a:r>
            <a:endParaRPr lang="en-US" sz="1800" dirty="0"/>
          </a:p>
        </p:txBody>
      </p:sp>
      <p:sp>
        <p:nvSpPr>
          <p:cNvPr id="19" name="Text 17"/>
          <p:cNvSpPr/>
          <p:nvPr/>
        </p:nvSpPr>
        <p:spPr>
          <a:xfrm>
            <a:off x="914400" y="5212080"/>
            <a:ext cx="5029200" cy="68580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Shows your current level and lets you change it.</a:t>
            </a:r>
            <a:endParaRPr lang="en-US" sz="1200" dirty="0"/>
          </a:p>
        </p:txBody>
      </p:sp>
      <p:sp>
        <p:nvSpPr>
          <p:cNvPr id="20" name="Shape 18"/>
          <p:cNvSpPr/>
          <p:nvPr/>
        </p:nvSpPr>
        <p:spPr>
          <a:xfrm>
            <a:off x="6309360" y="3886200"/>
            <a:ext cx="5349240" cy="2103120"/>
          </a:xfrm>
          <a:prstGeom prst="rect">
            <a:avLst/>
          </a:prstGeom>
          <a:solidFill>
            <a:srgbClr val="131820"/>
          </a:solidFill>
          <a:ln w="12700">
            <a:solidFill>
              <a:srgbClr val="2A3441"/>
            </a:solidFill>
            <a:prstDash val="solid"/>
          </a:ln>
        </p:spPr>
        <p:txBody>
          <a:bodyPr/>
          <a:lstStyle/>
          <a:p>
            <a:endParaRPr lang="en-GB"/>
          </a:p>
        </p:txBody>
      </p:sp>
      <p:sp>
        <p:nvSpPr>
          <p:cNvPr id="21" name="Text 19"/>
          <p:cNvSpPr/>
          <p:nvPr/>
        </p:nvSpPr>
        <p:spPr>
          <a:xfrm>
            <a:off x="6492240" y="4023360"/>
            <a:ext cx="5029200" cy="36576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One-shot boost</a:t>
            </a:r>
            <a:endParaRPr lang="en-US" sz="1400" dirty="0"/>
          </a:p>
        </p:txBody>
      </p:sp>
      <p:sp>
        <p:nvSpPr>
          <p:cNvPr id="22" name="Shape 20"/>
          <p:cNvSpPr/>
          <p:nvPr/>
        </p:nvSpPr>
        <p:spPr>
          <a:xfrm>
            <a:off x="6492240" y="4480560"/>
            <a:ext cx="4983480" cy="640080"/>
          </a:xfrm>
          <a:prstGeom prst="rect">
            <a:avLst/>
          </a:prstGeom>
          <a:solidFill>
            <a:srgbClr val="1A2030"/>
          </a:solidFill>
          <a:ln/>
        </p:spPr>
        <p:txBody>
          <a:bodyPr/>
          <a:lstStyle/>
          <a:p>
            <a:endParaRPr lang="en-GB"/>
          </a:p>
        </p:txBody>
      </p:sp>
      <p:sp>
        <p:nvSpPr>
          <p:cNvPr id="23" name="Text 21"/>
          <p:cNvSpPr/>
          <p:nvPr/>
        </p:nvSpPr>
        <p:spPr>
          <a:xfrm>
            <a:off x="6629400" y="4480560"/>
            <a:ext cx="4709160" cy="640080"/>
          </a:xfrm>
          <a:prstGeom prst="rect">
            <a:avLst/>
          </a:prstGeom>
          <a:noFill/>
          <a:ln/>
        </p:spPr>
        <p:txBody>
          <a:bodyPr wrap="square" lIns="0" tIns="0" rIns="0" bIns="0" rtlCol="0" anchor="ctr"/>
          <a:lstStyle/>
          <a:p>
            <a:pPr marL="0" indent="0">
              <a:buNone/>
            </a:pPr>
            <a:r>
              <a:rPr lang="en-US" sz="1800" b="1" dirty="0">
                <a:solidFill>
                  <a:srgbClr val="C792EA"/>
                </a:solidFill>
                <a:latin typeface="Consolas" pitchFamily="34" charset="0"/>
                <a:ea typeface="Consolas" pitchFamily="34" charset="-122"/>
                <a:cs typeface="Consolas" pitchFamily="34" charset="-120"/>
              </a:rPr>
              <a:t>ultrathink</a:t>
            </a:r>
            <a:endParaRPr lang="en-US" sz="1800" dirty="0"/>
          </a:p>
        </p:txBody>
      </p:sp>
      <p:sp>
        <p:nvSpPr>
          <p:cNvPr id="24" name="Text 22"/>
          <p:cNvSpPr/>
          <p:nvPr/>
        </p:nvSpPr>
        <p:spPr>
          <a:xfrm>
            <a:off x="6492240" y="5212080"/>
            <a:ext cx="5029200" cy="68580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Drop this keyword in a single prompt — Claude reasons harder just for that turn.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section_3/planning_vs_effort.md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21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Planning mode vs effort level</a:t>
            </a:r>
            <a:endParaRPr lang="en-US" sz="3000" dirty="0"/>
          </a:p>
        </p:txBody>
      </p:sp>
      <p:sp>
        <p:nvSpPr>
          <p:cNvPr id="6" name="Text 4"/>
          <p:cNvSpPr/>
          <p:nvPr/>
        </p:nvSpPr>
        <p:spPr>
          <a:xfrm>
            <a:off x="731520" y="1417320"/>
            <a:ext cx="10972800" cy="45720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Different problems, different tools. Both consume tokens — pick the right one.</a:t>
            </a:r>
            <a:endParaRPr lang="en-US" sz="1400" dirty="0"/>
          </a:p>
        </p:txBody>
      </p:sp>
      <p:sp>
        <p:nvSpPr>
          <p:cNvPr id="7" name="Shape 5"/>
          <p:cNvSpPr/>
          <p:nvPr/>
        </p:nvSpPr>
        <p:spPr>
          <a:xfrm>
            <a:off x="731520" y="2057400"/>
            <a:ext cx="5166360" cy="3474720"/>
          </a:xfrm>
          <a:prstGeom prst="rect">
            <a:avLst/>
          </a:prstGeom>
          <a:solidFill>
            <a:srgbClr val="131820"/>
          </a:solidFill>
          <a:ln w="12700">
            <a:solidFill>
              <a:srgbClr val="2A3441"/>
            </a:solidFill>
            <a:prstDash val="solid"/>
          </a:ln>
        </p:spPr>
        <p:txBody>
          <a:bodyPr/>
          <a:lstStyle/>
          <a:p>
            <a:endParaRPr lang="en-GB"/>
          </a:p>
        </p:txBody>
      </p:sp>
      <p:sp>
        <p:nvSpPr>
          <p:cNvPr id="8" name="Shape 6"/>
          <p:cNvSpPr/>
          <p:nvPr/>
        </p:nvSpPr>
        <p:spPr>
          <a:xfrm>
            <a:off x="731520" y="2057400"/>
            <a:ext cx="5166360" cy="91440"/>
          </a:xfrm>
          <a:prstGeom prst="rect">
            <a:avLst/>
          </a:prstGeom>
          <a:solidFill>
            <a:srgbClr val="FF9E3D"/>
          </a:solidFill>
          <a:ln/>
        </p:spPr>
        <p:txBody>
          <a:bodyPr/>
          <a:lstStyle/>
          <a:p>
            <a:endParaRPr lang="en-GB"/>
          </a:p>
        </p:txBody>
      </p:sp>
      <p:pic>
        <p:nvPicPr>
          <p:cNvPr id="9" name="Image 0" descr="preencoded.png"/>
          <p:cNvPicPr>
            <a:picLocks noChangeAspect="1"/>
          </p:cNvPicPr>
          <p:nvPr/>
        </p:nvPicPr>
        <p:blipFill>
          <a:blip r:embed="rId3"/>
          <a:stretch>
            <a:fillRect/>
          </a:stretch>
        </p:blipFill>
        <p:spPr>
          <a:xfrm>
            <a:off x="1005840" y="2423160"/>
            <a:ext cx="548640" cy="548640"/>
          </a:xfrm>
          <a:prstGeom prst="rect">
            <a:avLst/>
          </a:prstGeom>
        </p:spPr>
      </p:pic>
      <p:sp>
        <p:nvSpPr>
          <p:cNvPr id="10" name="Text 7"/>
          <p:cNvSpPr/>
          <p:nvPr/>
        </p:nvSpPr>
        <p:spPr>
          <a:xfrm>
            <a:off x="1737360" y="2423160"/>
            <a:ext cx="3977640" cy="365760"/>
          </a:xfrm>
          <a:prstGeom prst="rect">
            <a:avLst/>
          </a:prstGeom>
          <a:noFill/>
          <a:ln/>
        </p:spPr>
        <p:txBody>
          <a:bodyPr wrap="square" lIns="0" tIns="0" rIns="0" bIns="0" rtlCol="0" anchor="ctr"/>
          <a:lstStyle/>
          <a:p>
            <a:pPr marL="0" indent="0">
              <a:buNone/>
            </a:pPr>
            <a:r>
              <a:rPr lang="en-US" sz="2000" b="1" dirty="0">
                <a:solidFill>
                  <a:srgbClr val="E6EDF3"/>
                </a:solidFill>
                <a:latin typeface="Consolas" pitchFamily="34" charset="0"/>
                <a:ea typeface="Consolas" pitchFamily="34" charset="-122"/>
                <a:cs typeface="Consolas" pitchFamily="34" charset="-120"/>
              </a:rPr>
              <a:t>Planning mode</a:t>
            </a:r>
            <a:endParaRPr lang="en-US" sz="2000" dirty="0"/>
          </a:p>
        </p:txBody>
      </p:sp>
      <p:sp>
        <p:nvSpPr>
          <p:cNvPr id="11" name="Text 8"/>
          <p:cNvSpPr/>
          <p:nvPr/>
        </p:nvSpPr>
        <p:spPr>
          <a:xfrm>
            <a:off x="1737360" y="2788920"/>
            <a:ext cx="3977640" cy="320040"/>
          </a:xfrm>
          <a:prstGeom prst="rect">
            <a:avLst/>
          </a:prstGeom>
          <a:noFill/>
          <a:ln/>
        </p:spPr>
        <p:txBody>
          <a:bodyPr wrap="square" lIns="0" tIns="0" rIns="0" bIns="0" rtlCol="0" anchor="ctr"/>
          <a:lstStyle/>
          <a:p>
            <a:pPr marL="0" indent="0">
              <a:buNone/>
            </a:pPr>
            <a:r>
              <a:rPr lang="en-US" sz="1200" i="1" dirty="0">
                <a:solidFill>
                  <a:srgbClr val="6B7785"/>
                </a:solidFill>
                <a:latin typeface="Calibri" pitchFamily="34" charset="0"/>
                <a:ea typeface="Calibri" pitchFamily="34" charset="-122"/>
                <a:cs typeface="Calibri" pitchFamily="34" charset="-120"/>
              </a:rPr>
              <a:t>is best for…</a:t>
            </a:r>
            <a:endParaRPr lang="en-US" sz="1200" dirty="0"/>
          </a:p>
        </p:txBody>
      </p:sp>
      <p:sp>
        <p:nvSpPr>
          <p:cNvPr id="12" name="Text 9"/>
          <p:cNvSpPr/>
          <p:nvPr/>
        </p:nvSpPr>
        <p:spPr>
          <a:xfrm>
            <a:off x="1097280" y="3429000"/>
            <a:ext cx="4434840" cy="20116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Tasks needing broad understanding of the codebase</a:t>
            </a:r>
            <a:endParaRPr lang="en-US" sz="1300" dirty="0"/>
          </a:p>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Multi-step implementations</a:t>
            </a:r>
            <a:endParaRPr lang="en-US" sz="1300" dirty="0"/>
          </a:p>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Changes spanning multiple files or components</a:t>
            </a:r>
            <a:endParaRPr lang="en-US" sz="1300" dirty="0"/>
          </a:p>
        </p:txBody>
      </p:sp>
      <p:sp>
        <p:nvSpPr>
          <p:cNvPr id="13" name="Shape 10"/>
          <p:cNvSpPr/>
          <p:nvPr/>
        </p:nvSpPr>
        <p:spPr>
          <a:xfrm>
            <a:off x="6263640" y="2057400"/>
            <a:ext cx="5166360" cy="3474720"/>
          </a:xfrm>
          <a:prstGeom prst="rect">
            <a:avLst/>
          </a:prstGeom>
          <a:solidFill>
            <a:srgbClr val="131820"/>
          </a:solidFill>
          <a:ln w="12700">
            <a:solidFill>
              <a:srgbClr val="2A3441"/>
            </a:solidFill>
            <a:prstDash val="solid"/>
          </a:ln>
        </p:spPr>
        <p:txBody>
          <a:bodyPr/>
          <a:lstStyle/>
          <a:p>
            <a:endParaRPr lang="en-GB"/>
          </a:p>
        </p:txBody>
      </p:sp>
      <p:sp>
        <p:nvSpPr>
          <p:cNvPr id="14" name="Shape 11"/>
          <p:cNvSpPr/>
          <p:nvPr/>
        </p:nvSpPr>
        <p:spPr>
          <a:xfrm>
            <a:off x="6263640" y="2057400"/>
            <a:ext cx="5166360" cy="91440"/>
          </a:xfrm>
          <a:prstGeom prst="rect">
            <a:avLst/>
          </a:prstGeom>
          <a:solidFill>
            <a:srgbClr val="5EB3F5"/>
          </a:solidFill>
          <a:ln/>
        </p:spPr>
        <p:txBody>
          <a:bodyPr/>
          <a:lstStyle/>
          <a:p>
            <a:endParaRPr lang="en-GB"/>
          </a:p>
        </p:txBody>
      </p:sp>
      <p:pic>
        <p:nvPicPr>
          <p:cNvPr id="15" name="Image 1" descr="preencoded.png"/>
          <p:cNvPicPr>
            <a:picLocks noChangeAspect="1"/>
          </p:cNvPicPr>
          <p:nvPr/>
        </p:nvPicPr>
        <p:blipFill>
          <a:blip r:embed="rId4"/>
          <a:stretch>
            <a:fillRect/>
          </a:stretch>
        </p:blipFill>
        <p:spPr>
          <a:xfrm>
            <a:off x="6537960" y="2423160"/>
            <a:ext cx="548640" cy="548640"/>
          </a:xfrm>
          <a:prstGeom prst="rect">
            <a:avLst/>
          </a:prstGeom>
        </p:spPr>
      </p:pic>
      <p:sp>
        <p:nvSpPr>
          <p:cNvPr id="16" name="Text 12"/>
          <p:cNvSpPr/>
          <p:nvPr/>
        </p:nvSpPr>
        <p:spPr>
          <a:xfrm>
            <a:off x="7269480" y="2423160"/>
            <a:ext cx="3977640" cy="365760"/>
          </a:xfrm>
          <a:prstGeom prst="rect">
            <a:avLst/>
          </a:prstGeom>
          <a:noFill/>
          <a:ln/>
        </p:spPr>
        <p:txBody>
          <a:bodyPr wrap="square" lIns="0" tIns="0" rIns="0" bIns="0" rtlCol="0" anchor="ctr"/>
          <a:lstStyle/>
          <a:p>
            <a:pPr marL="0" indent="0">
              <a:buNone/>
            </a:pPr>
            <a:r>
              <a:rPr lang="en-US" sz="2000" b="1" dirty="0">
                <a:solidFill>
                  <a:srgbClr val="E6EDF3"/>
                </a:solidFill>
                <a:latin typeface="Consolas" pitchFamily="34" charset="0"/>
                <a:ea typeface="Consolas" pitchFamily="34" charset="-122"/>
                <a:cs typeface="Consolas" pitchFamily="34" charset="-120"/>
              </a:rPr>
              <a:t>Higher effort level</a:t>
            </a:r>
            <a:endParaRPr lang="en-US" sz="2000" dirty="0"/>
          </a:p>
        </p:txBody>
      </p:sp>
      <p:sp>
        <p:nvSpPr>
          <p:cNvPr id="17" name="Text 13"/>
          <p:cNvSpPr/>
          <p:nvPr/>
        </p:nvSpPr>
        <p:spPr>
          <a:xfrm>
            <a:off x="7269480" y="2788920"/>
            <a:ext cx="3977640" cy="320040"/>
          </a:xfrm>
          <a:prstGeom prst="rect">
            <a:avLst/>
          </a:prstGeom>
          <a:noFill/>
          <a:ln/>
        </p:spPr>
        <p:txBody>
          <a:bodyPr wrap="square" lIns="0" tIns="0" rIns="0" bIns="0" rtlCol="0" anchor="ctr"/>
          <a:lstStyle/>
          <a:p>
            <a:pPr marL="0" indent="0">
              <a:buNone/>
            </a:pPr>
            <a:r>
              <a:rPr lang="en-US" sz="1200" i="1" dirty="0">
                <a:solidFill>
                  <a:srgbClr val="6B7785"/>
                </a:solidFill>
                <a:latin typeface="Calibri" pitchFamily="34" charset="0"/>
                <a:ea typeface="Calibri" pitchFamily="34" charset="-122"/>
                <a:cs typeface="Calibri" pitchFamily="34" charset="-120"/>
              </a:rPr>
              <a:t>is best for…</a:t>
            </a:r>
            <a:endParaRPr lang="en-US" sz="1200" dirty="0"/>
          </a:p>
        </p:txBody>
      </p:sp>
      <p:sp>
        <p:nvSpPr>
          <p:cNvPr id="18" name="Text 14"/>
          <p:cNvSpPr/>
          <p:nvPr/>
        </p:nvSpPr>
        <p:spPr>
          <a:xfrm>
            <a:off x="6629400" y="3429000"/>
            <a:ext cx="4434840" cy="20116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Complex logic problems</a:t>
            </a:r>
            <a:endParaRPr lang="en-US" sz="1300" dirty="0"/>
          </a:p>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Debugging difficult issues</a:t>
            </a:r>
            <a:endParaRPr lang="en-US" sz="1300" dirty="0"/>
          </a:p>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Algorithmic challenges</a:t>
            </a:r>
            <a:endParaRPr lang="en-US" sz="1300" dirty="0"/>
          </a:p>
        </p:txBody>
      </p:sp>
      <p:sp>
        <p:nvSpPr>
          <p:cNvPr id="19" name="Shape 15"/>
          <p:cNvSpPr/>
          <p:nvPr/>
        </p:nvSpPr>
        <p:spPr>
          <a:xfrm>
            <a:off x="731520" y="5669280"/>
            <a:ext cx="10698480" cy="594360"/>
          </a:xfrm>
          <a:prstGeom prst="rect">
            <a:avLst/>
          </a:prstGeom>
          <a:solidFill>
            <a:srgbClr val="1A2030"/>
          </a:solidFill>
          <a:ln w="12700">
            <a:solidFill>
              <a:srgbClr val="C792EA"/>
            </a:solidFill>
            <a:prstDash val="solid"/>
          </a:ln>
        </p:spPr>
        <p:txBody>
          <a:bodyPr/>
          <a:lstStyle/>
          <a:p>
            <a:endParaRPr lang="en-GB"/>
          </a:p>
        </p:txBody>
      </p:sp>
      <p:sp>
        <p:nvSpPr>
          <p:cNvPr id="20" name="Text 16"/>
          <p:cNvSpPr/>
          <p:nvPr/>
        </p:nvSpPr>
        <p:spPr>
          <a:xfrm>
            <a:off x="914400" y="5669280"/>
            <a:ext cx="10515600" cy="594360"/>
          </a:xfrm>
          <a:prstGeom prst="rect">
            <a:avLst/>
          </a:prstGeom>
          <a:noFill/>
          <a:ln/>
        </p:spPr>
        <p:txBody>
          <a:bodyPr wrap="square" lIns="0" tIns="0" rIns="0" bIns="0" rtlCol="0" anchor="ctr"/>
          <a:lstStyle/>
          <a:p>
            <a:pPr marL="0" indent="0">
              <a:buNone/>
            </a:pPr>
            <a:r>
              <a:rPr lang="en-US" sz="1300" b="1" dirty="0">
                <a:solidFill>
                  <a:srgbClr val="C792EA"/>
                </a:solidFill>
                <a:latin typeface="Consolas" pitchFamily="34" charset="0"/>
                <a:ea typeface="Consolas" pitchFamily="34" charset="-122"/>
                <a:cs typeface="Consolas" pitchFamily="34" charset="-120"/>
              </a:rPr>
              <a:t>Combine them </a:t>
            </a:r>
            <a:r>
              <a:rPr lang="en-US" sz="1300" dirty="0">
                <a:solidFill>
                  <a:srgbClr val="B9C4D0"/>
                </a:solidFill>
                <a:latin typeface="Calibri" pitchFamily="34" charset="0"/>
                <a:ea typeface="Calibri" pitchFamily="34" charset="-122"/>
                <a:cs typeface="Calibri" pitchFamily="34" charset="-120"/>
              </a:rPr>
              <a:t>for tasks needing both breadth and depth — at the cost of more tokens.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section_3/escape_rewind.md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22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Steering: escape &amp; rewind</a:t>
            </a:r>
            <a:endParaRPr lang="en-US" sz="3000" dirty="0"/>
          </a:p>
        </p:txBody>
      </p:sp>
      <p:sp>
        <p:nvSpPr>
          <p:cNvPr id="6" name="Shape 4"/>
          <p:cNvSpPr/>
          <p:nvPr/>
        </p:nvSpPr>
        <p:spPr>
          <a:xfrm>
            <a:off x="731520" y="1691640"/>
            <a:ext cx="5166360" cy="2057400"/>
          </a:xfrm>
          <a:prstGeom prst="rect">
            <a:avLst/>
          </a:prstGeom>
          <a:solidFill>
            <a:srgbClr val="131820"/>
          </a:solidFill>
          <a:ln w="12700">
            <a:solidFill>
              <a:srgbClr val="2A3441"/>
            </a:solidFill>
            <a:prstDash val="solid"/>
          </a:ln>
        </p:spPr>
        <p:txBody>
          <a:bodyPr/>
          <a:lstStyle/>
          <a:p>
            <a:endParaRPr lang="en-GB"/>
          </a:p>
        </p:txBody>
      </p:sp>
      <p:sp>
        <p:nvSpPr>
          <p:cNvPr id="7" name="Shape 5"/>
          <p:cNvSpPr/>
          <p:nvPr/>
        </p:nvSpPr>
        <p:spPr>
          <a:xfrm>
            <a:off x="731520" y="1691640"/>
            <a:ext cx="73152" cy="2057400"/>
          </a:xfrm>
          <a:prstGeom prst="rect">
            <a:avLst/>
          </a:prstGeom>
          <a:solidFill>
            <a:srgbClr val="FF9E3D"/>
          </a:solidFill>
          <a:ln/>
        </p:spPr>
        <p:txBody>
          <a:bodyPr/>
          <a:lstStyle/>
          <a:p>
            <a:endParaRPr lang="en-GB"/>
          </a:p>
        </p:txBody>
      </p:sp>
      <p:sp>
        <p:nvSpPr>
          <p:cNvPr id="8" name="Shape 6"/>
          <p:cNvSpPr/>
          <p:nvPr/>
        </p:nvSpPr>
        <p:spPr>
          <a:xfrm>
            <a:off x="1005840" y="1920240"/>
            <a:ext cx="914400" cy="502920"/>
          </a:xfrm>
          <a:prstGeom prst="rect">
            <a:avLst/>
          </a:prstGeom>
          <a:solidFill>
            <a:srgbClr val="1A2030"/>
          </a:solidFill>
          <a:ln w="25400">
            <a:solidFill>
              <a:srgbClr val="FF9E3D"/>
            </a:solidFill>
            <a:prstDash val="solid"/>
          </a:ln>
        </p:spPr>
        <p:txBody>
          <a:bodyPr/>
          <a:lstStyle/>
          <a:p>
            <a:endParaRPr lang="en-GB"/>
          </a:p>
        </p:txBody>
      </p:sp>
      <p:sp>
        <p:nvSpPr>
          <p:cNvPr id="9" name="Text 7"/>
          <p:cNvSpPr/>
          <p:nvPr/>
        </p:nvSpPr>
        <p:spPr>
          <a:xfrm>
            <a:off x="1005840" y="1920240"/>
            <a:ext cx="914400" cy="502920"/>
          </a:xfrm>
          <a:prstGeom prst="rect">
            <a:avLst/>
          </a:prstGeom>
          <a:noFill/>
          <a:ln/>
        </p:spPr>
        <p:txBody>
          <a:bodyPr wrap="square" lIns="0" tIns="0" rIns="0" bIns="0" rtlCol="0" anchor="ctr"/>
          <a:lstStyle/>
          <a:p>
            <a:pPr marL="0" indent="0" algn="ctr">
              <a:buNone/>
            </a:pPr>
            <a:r>
              <a:rPr lang="en-US" sz="1400" b="1" dirty="0">
                <a:solidFill>
                  <a:srgbClr val="FF9E3D"/>
                </a:solidFill>
                <a:latin typeface="Consolas" pitchFamily="34" charset="0"/>
                <a:ea typeface="Consolas" pitchFamily="34" charset="-122"/>
                <a:cs typeface="Consolas" pitchFamily="34" charset="-120"/>
              </a:rPr>
              <a:t>Esc</a:t>
            </a:r>
            <a:endParaRPr lang="en-US" sz="1400" dirty="0"/>
          </a:p>
        </p:txBody>
      </p:sp>
      <p:sp>
        <p:nvSpPr>
          <p:cNvPr id="10" name="Text 8"/>
          <p:cNvSpPr/>
          <p:nvPr/>
        </p:nvSpPr>
        <p:spPr>
          <a:xfrm>
            <a:off x="1005840" y="2514600"/>
            <a:ext cx="4709160" cy="457200"/>
          </a:xfrm>
          <a:prstGeom prst="rect">
            <a:avLst/>
          </a:prstGeom>
          <a:noFill/>
          <a:ln/>
        </p:spPr>
        <p:txBody>
          <a:bodyPr wrap="square" lIns="0" tIns="0" rIns="0" bIns="0" rtlCol="0" anchor="ctr"/>
          <a:lstStyle/>
          <a:p>
            <a:pPr marL="0" indent="0">
              <a:buNone/>
            </a:pPr>
            <a:r>
              <a:rPr lang="en-US" sz="1700" b="1" dirty="0">
                <a:solidFill>
                  <a:srgbClr val="E6EDF3"/>
                </a:solidFill>
                <a:latin typeface="Consolas" pitchFamily="34" charset="0"/>
                <a:ea typeface="Consolas" pitchFamily="34" charset="-122"/>
                <a:cs typeface="Consolas" pitchFamily="34" charset="-120"/>
              </a:rPr>
              <a:t>Interrupt Claude</a:t>
            </a:r>
            <a:endParaRPr lang="en-US" sz="1700" dirty="0"/>
          </a:p>
        </p:txBody>
      </p:sp>
      <p:sp>
        <p:nvSpPr>
          <p:cNvPr id="11" name="Text 9"/>
          <p:cNvSpPr/>
          <p:nvPr/>
        </p:nvSpPr>
        <p:spPr>
          <a:xfrm>
            <a:off x="1005840" y="2971800"/>
            <a:ext cx="4709160" cy="77724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Stop mid-response. Use it when Claude heads down the wrong path or tries to do too much at once.</a:t>
            </a:r>
            <a:endParaRPr lang="en-US" sz="1200" dirty="0"/>
          </a:p>
        </p:txBody>
      </p:sp>
      <p:sp>
        <p:nvSpPr>
          <p:cNvPr id="12" name="Shape 10"/>
          <p:cNvSpPr/>
          <p:nvPr/>
        </p:nvSpPr>
        <p:spPr>
          <a:xfrm>
            <a:off x="6263640" y="1691640"/>
            <a:ext cx="5166360" cy="2057400"/>
          </a:xfrm>
          <a:prstGeom prst="rect">
            <a:avLst/>
          </a:prstGeom>
          <a:solidFill>
            <a:srgbClr val="131820"/>
          </a:solidFill>
          <a:ln w="12700">
            <a:solidFill>
              <a:srgbClr val="2A3441"/>
            </a:solidFill>
            <a:prstDash val="solid"/>
          </a:ln>
        </p:spPr>
        <p:txBody>
          <a:bodyPr/>
          <a:lstStyle/>
          <a:p>
            <a:endParaRPr lang="en-GB"/>
          </a:p>
        </p:txBody>
      </p:sp>
      <p:sp>
        <p:nvSpPr>
          <p:cNvPr id="13" name="Shape 11"/>
          <p:cNvSpPr/>
          <p:nvPr/>
        </p:nvSpPr>
        <p:spPr>
          <a:xfrm>
            <a:off x="6263640" y="1691640"/>
            <a:ext cx="73152" cy="2057400"/>
          </a:xfrm>
          <a:prstGeom prst="rect">
            <a:avLst/>
          </a:prstGeom>
          <a:solidFill>
            <a:srgbClr val="5EB3F5"/>
          </a:solidFill>
          <a:ln/>
        </p:spPr>
        <p:txBody>
          <a:bodyPr/>
          <a:lstStyle/>
          <a:p>
            <a:endParaRPr lang="en-GB"/>
          </a:p>
        </p:txBody>
      </p:sp>
      <p:sp>
        <p:nvSpPr>
          <p:cNvPr id="14" name="Shape 12"/>
          <p:cNvSpPr/>
          <p:nvPr/>
        </p:nvSpPr>
        <p:spPr>
          <a:xfrm>
            <a:off x="6537960" y="1920240"/>
            <a:ext cx="914400" cy="502920"/>
          </a:xfrm>
          <a:prstGeom prst="rect">
            <a:avLst/>
          </a:prstGeom>
          <a:solidFill>
            <a:srgbClr val="1A2030"/>
          </a:solidFill>
          <a:ln w="25400">
            <a:solidFill>
              <a:srgbClr val="5EB3F5"/>
            </a:solidFill>
            <a:prstDash val="solid"/>
          </a:ln>
        </p:spPr>
        <p:txBody>
          <a:bodyPr/>
          <a:lstStyle/>
          <a:p>
            <a:endParaRPr lang="en-GB"/>
          </a:p>
        </p:txBody>
      </p:sp>
      <p:sp>
        <p:nvSpPr>
          <p:cNvPr id="15" name="Text 13"/>
          <p:cNvSpPr/>
          <p:nvPr/>
        </p:nvSpPr>
        <p:spPr>
          <a:xfrm>
            <a:off x="6537960" y="1920240"/>
            <a:ext cx="914400" cy="502920"/>
          </a:xfrm>
          <a:prstGeom prst="rect">
            <a:avLst/>
          </a:prstGeom>
          <a:noFill/>
          <a:ln/>
        </p:spPr>
        <p:txBody>
          <a:bodyPr wrap="square" lIns="0" tIns="0" rIns="0" bIns="0" rtlCol="0" anchor="ctr"/>
          <a:lstStyle/>
          <a:p>
            <a:pPr marL="0" indent="0" algn="ctr">
              <a:buNone/>
            </a:pPr>
            <a:r>
              <a:rPr lang="en-US" sz="1400" b="1" dirty="0">
                <a:solidFill>
                  <a:srgbClr val="5EB3F5"/>
                </a:solidFill>
                <a:latin typeface="Consolas" pitchFamily="34" charset="0"/>
                <a:ea typeface="Consolas" pitchFamily="34" charset="-122"/>
                <a:cs typeface="Consolas" pitchFamily="34" charset="-120"/>
              </a:rPr>
              <a:t>Esc</a:t>
            </a:r>
            <a:endParaRPr lang="en-US" sz="1400" dirty="0"/>
          </a:p>
        </p:txBody>
      </p:sp>
      <p:sp>
        <p:nvSpPr>
          <p:cNvPr id="16" name="Shape 14"/>
          <p:cNvSpPr/>
          <p:nvPr/>
        </p:nvSpPr>
        <p:spPr>
          <a:xfrm>
            <a:off x="7543800" y="1920240"/>
            <a:ext cx="914400" cy="502920"/>
          </a:xfrm>
          <a:prstGeom prst="rect">
            <a:avLst/>
          </a:prstGeom>
          <a:solidFill>
            <a:srgbClr val="1A2030"/>
          </a:solidFill>
          <a:ln w="25400">
            <a:solidFill>
              <a:srgbClr val="5EB3F5"/>
            </a:solidFill>
            <a:prstDash val="solid"/>
          </a:ln>
        </p:spPr>
        <p:txBody>
          <a:bodyPr/>
          <a:lstStyle/>
          <a:p>
            <a:endParaRPr lang="en-GB"/>
          </a:p>
        </p:txBody>
      </p:sp>
      <p:sp>
        <p:nvSpPr>
          <p:cNvPr id="17" name="Text 15"/>
          <p:cNvSpPr/>
          <p:nvPr/>
        </p:nvSpPr>
        <p:spPr>
          <a:xfrm>
            <a:off x="7543800" y="1920240"/>
            <a:ext cx="914400" cy="502920"/>
          </a:xfrm>
          <a:prstGeom prst="rect">
            <a:avLst/>
          </a:prstGeom>
          <a:noFill/>
          <a:ln/>
        </p:spPr>
        <p:txBody>
          <a:bodyPr wrap="square" lIns="0" tIns="0" rIns="0" bIns="0" rtlCol="0" anchor="ctr"/>
          <a:lstStyle/>
          <a:p>
            <a:pPr marL="0" indent="0" algn="ctr">
              <a:buNone/>
            </a:pPr>
            <a:r>
              <a:rPr lang="en-US" sz="1400" b="1" dirty="0">
                <a:solidFill>
                  <a:srgbClr val="5EB3F5"/>
                </a:solidFill>
                <a:latin typeface="Consolas" pitchFamily="34" charset="0"/>
                <a:ea typeface="Consolas" pitchFamily="34" charset="-122"/>
                <a:cs typeface="Consolas" pitchFamily="34" charset="-120"/>
              </a:rPr>
              <a:t>Esc</a:t>
            </a:r>
            <a:endParaRPr lang="en-US" sz="1400" dirty="0"/>
          </a:p>
        </p:txBody>
      </p:sp>
      <p:sp>
        <p:nvSpPr>
          <p:cNvPr id="18" name="Text 16"/>
          <p:cNvSpPr/>
          <p:nvPr/>
        </p:nvSpPr>
        <p:spPr>
          <a:xfrm>
            <a:off x="6537960" y="2514600"/>
            <a:ext cx="4709160" cy="457200"/>
          </a:xfrm>
          <a:prstGeom prst="rect">
            <a:avLst/>
          </a:prstGeom>
          <a:noFill/>
          <a:ln/>
        </p:spPr>
        <p:txBody>
          <a:bodyPr wrap="square" lIns="0" tIns="0" rIns="0" bIns="0" rtlCol="0" anchor="ctr"/>
          <a:lstStyle/>
          <a:p>
            <a:pPr marL="0" indent="0">
              <a:buNone/>
            </a:pPr>
            <a:r>
              <a:rPr lang="en-US" sz="1700" b="1" dirty="0">
                <a:solidFill>
                  <a:srgbClr val="E6EDF3"/>
                </a:solidFill>
                <a:latin typeface="Consolas" pitchFamily="34" charset="0"/>
                <a:ea typeface="Consolas" pitchFamily="34" charset="-122"/>
                <a:cs typeface="Consolas" pitchFamily="34" charset="-120"/>
              </a:rPr>
              <a:t>Rewind conversation</a:t>
            </a:r>
            <a:endParaRPr lang="en-US" sz="1700" dirty="0"/>
          </a:p>
        </p:txBody>
      </p:sp>
      <p:sp>
        <p:nvSpPr>
          <p:cNvPr id="19" name="Text 17"/>
          <p:cNvSpPr/>
          <p:nvPr/>
        </p:nvSpPr>
        <p:spPr>
          <a:xfrm>
            <a:off x="6537960" y="2971800"/>
            <a:ext cx="4709160" cy="77724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Shows all your messages — jump back to any earlier point and continue. Discards distracting context.</a:t>
            </a:r>
            <a:endParaRPr lang="en-US" sz="1200" dirty="0"/>
          </a:p>
        </p:txBody>
      </p:sp>
      <p:sp>
        <p:nvSpPr>
          <p:cNvPr id="20" name="Shape 18"/>
          <p:cNvSpPr/>
          <p:nvPr/>
        </p:nvSpPr>
        <p:spPr>
          <a:xfrm>
            <a:off x="731520" y="3886200"/>
            <a:ext cx="5166360" cy="2057400"/>
          </a:xfrm>
          <a:prstGeom prst="rect">
            <a:avLst/>
          </a:prstGeom>
          <a:solidFill>
            <a:srgbClr val="131820"/>
          </a:solidFill>
          <a:ln w="12700">
            <a:solidFill>
              <a:srgbClr val="2A3441"/>
            </a:solidFill>
            <a:prstDash val="solid"/>
          </a:ln>
        </p:spPr>
        <p:txBody>
          <a:bodyPr/>
          <a:lstStyle/>
          <a:p>
            <a:endParaRPr lang="en-GB"/>
          </a:p>
        </p:txBody>
      </p:sp>
      <p:sp>
        <p:nvSpPr>
          <p:cNvPr id="21" name="Shape 19"/>
          <p:cNvSpPr/>
          <p:nvPr/>
        </p:nvSpPr>
        <p:spPr>
          <a:xfrm>
            <a:off x="731520" y="3886200"/>
            <a:ext cx="73152" cy="2057400"/>
          </a:xfrm>
          <a:prstGeom prst="rect">
            <a:avLst/>
          </a:prstGeom>
          <a:solidFill>
            <a:srgbClr val="5EB3F5"/>
          </a:solidFill>
          <a:ln/>
        </p:spPr>
        <p:txBody>
          <a:bodyPr/>
          <a:lstStyle/>
          <a:p>
            <a:endParaRPr lang="en-GB"/>
          </a:p>
        </p:txBody>
      </p:sp>
      <p:sp>
        <p:nvSpPr>
          <p:cNvPr id="22" name="Text 20"/>
          <p:cNvSpPr/>
          <p:nvPr/>
        </p:nvSpPr>
        <p:spPr>
          <a:xfrm>
            <a:off x="1005840" y="4114800"/>
            <a:ext cx="4709160" cy="502920"/>
          </a:xfrm>
          <a:prstGeom prst="rect">
            <a:avLst/>
          </a:prstGeom>
          <a:noFill/>
          <a:ln/>
        </p:spPr>
        <p:txBody>
          <a:bodyPr wrap="square" lIns="0" tIns="0" rIns="0" bIns="0" rtlCol="0" anchor="ctr"/>
          <a:lstStyle/>
          <a:p>
            <a:pPr marL="0" indent="0">
              <a:buNone/>
            </a:pPr>
            <a:r>
              <a:rPr lang="en-US" sz="1700" b="1" dirty="0">
                <a:solidFill>
                  <a:srgbClr val="5EB3F5"/>
                </a:solidFill>
                <a:latin typeface="Consolas" pitchFamily="34" charset="0"/>
                <a:ea typeface="Consolas" pitchFamily="34" charset="-122"/>
                <a:cs typeface="Consolas" pitchFamily="34" charset="-120"/>
              </a:rPr>
              <a:t>/rewind</a:t>
            </a:r>
            <a:endParaRPr lang="en-US" sz="1700" dirty="0"/>
          </a:p>
        </p:txBody>
      </p:sp>
      <p:sp>
        <p:nvSpPr>
          <p:cNvPr id="23" name="Text 21"/>
          <p:cNvSpPr/>
          <p:nvPr/>
        </p:nvSpPr>
        <p:spPr>
          <a:xfrm>
            <a:off x="1005840" y="4709160"/>
            <a:ext cx="4709160" cy="457200"/>
          </a:xfrm>
          <a:prstGeom prst="rect">
            <a:avLst/>
          </a:prstGeom>
          <a:noFill/>
          <a:ln/>
        </p:spPr>
        <p:txBody>
          <a:bodyPr wrap="square" lIns="0" tIns="0" rIns="0" bIns="0" rtlCol="0" anchor="ctr"/>
          <a:lstStyle/>
          <a:p>
            <a:pPr marL="0" indent="0">
              <a:buNone/>
            </a:pPr>
            <a:r>
              <a:rPr lang="en-US" sz="1700" b="1" dirty="0">
                <a:solidFill>
                  <a:srgbClr val="E6EDF3"/>
                </a:solidFill>
                <a:latin typeface="Consolas" pitchFamily="34" charset="0"/>
                <a:ea typeface="Consolas" pitchFamily="34" charset="-122"/>
                <a:cs typeface="Consolas" pitchFamily="34" charset="-120"/>
              </a:rPr>
              <a:t>Rewind (command)</a:t>
            </a:r>
            <a:endParaRPr lang="en-US" sz="1700" dirty="0"/>
          </a:p>
        </p:txBody>
      </p:sp>
      <p:sp>
        <p:nvSpPr>
          <p:cNvPr id="24" name="Text 22"/>
          <p:cNvSpPr/>
          <p:nvPr/>
        </p:nvSpPr>
        <p:spPr>
          <a:xfrm>
            <a:off x="1005840" y="5166360"/>
            <a:ext cx="4709160" cy="77724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Same effect as double-tap Esc. Use whichever feels natural.</a:t>
            </a:r>
            <a:endParaRPr lang="en-US" sz="1200" dirty="0"/>
          </a:p>
        </p:txBody>
      </p:sp>
      <p:sp>
        <p:nvSpPr>
          <p:cNvPr id="25" name="Shape 23"/>
          <p:cNvSpPr/>
          <p:nvPr/>
        </p:nvSpPr>
        <p:spPr>
          <a:xfrm>
            <a:off x="6263640" y="3886200"/>
            <a:ext cx="5166360" cy="2057400"/>
          </a:xfrm>
          <a:prstGeom prst="rect">
            <a:avLst/>
          </a:prstGeom>
          <a:solidFill>
            <a:srgbClr val="131820"/>
          </a:solidFill>
          <a:ln w="12700">
            <a:solidFill>
              <a:srgbClr val="2A3441"/>
            </a:solidFill>
            <a:prstDash val="solid"/>
          </a:ln>
        </p:spPr>
        <p:txBody>
          <a:bodyPr/>
          <a:lstStyle/>
          <a:p>
            <a:endParaRPr lang="en-GB"/>
          </a:p>
        </p:txBody>
      </p:sp>
      <p:sp>
        <p:nvSpPr>
          <p:cNvPr id="26" name="Shape 24"/>
          <p:cNvSpPr/>
          <p:nvPr/>
        </p:nvSpPr>
        <p:spPr>
          <a:xfrm>
            <a:off x="6263640" y="3886200"/>
            <a:ext cx="73152" cy="2057400"/>
          </a:xfrm>
          <a:prstGeom prst="rect">
            <a:avLst/>
          </a:prstGeom>
          <a:solidFill>
            <a:srgbClr val="C792EA"/>
          </a:solidFill>
          <a:ln/>
        </p:spPr>
        <p:txBody>
          <a:bodyPr/>
          <a:lstStyle/>
          <a:p>
            <a:endParaRPr lang="en-GB"/>
          </a:p>
        </p:txBody>
      </p:sp>
      <p:sp>
        <p:nvSpPr>
          <p:cNvPr id="27" name="Text 25"/>
          <p:cNvSpPr/>
          <p:nvPr/>
        </p:nvSpPr>
        <p:spPr>
          <a:xfrm>
            <a:off x="6537960" y="4114800"/>
            <a:ext cx="4709160" cy="502920"/>
          </a:xfrm>
          <a:prstGeom prst="rect">
            <a:avLst/>
          </a:prstGeom>
          <a:noFill/>
          <a:ln/>
        </p:spPr>
        <p:txBody>
          <a:bodyPr wrap="square" lIns="0" tIns="0" rIns="0" bIns="0" rtlCol="0" anchor="ctr"/>
          <a:lstStyle/>
          <a:p>
            <a:pPr marL="0" indent="0">
              <a:buNone/>
            </a:pPr>
            <a:r>
              <a:rPr lang="en-US" sz="1700" b="1" dirty="0">
                <a:solidFill>
                  <a:srgbClr val="C792EA"/>
                </a:solidFill>
                <a:latin typeface="Consolas" pitchFamily="34" charset="0"/>
                <a:ea typeface="Consolas" pitchFamily="34" charset="-122"/>
                <a:cs typeface="Consolas" pitchFamily="34" charset="-120"/>
              </a:rPr>
              <a:t>Esc + /memory</a:t>
            </a:r>
            <a:endParaRPr lang="en-US" sz="1700" dirty="0"/>
          </a:p>
        </p:txBody>
      </p:sp>
      <p:sp>
        <p:nvSpPr>
          <p:cNvPr id="28" name="Text 26"/>
          <p:cNvSpPr/>
          <p:nvPr/>
        </p:nvSpPr>
        <p:spPr>
          <a:xfrm>
            <a:off x="6537960" y="4709160"/>
            <a:ext cx="4709160" cy="457200"/>
          </a:xfrm>
          <a:prstGeom prst="rect">
            <a:avLst/>
          </a:prstGeom>
          <a:noFill/>
          <a:ln/>
        </p:spPr>
        <p:txBody>
          <a:bodyPr wrap="square" lIns="0" tIns="0" rIns="0" bIns="0" rtlCol="0" anchor="ctr"/>
          <a:lstStyle/>
          <a:p>
            <a:pPr marL="0" indent="0">
              <a:buNone/>
            </a:pPr>
            <a:r>
              <a:rPr lang="en-US" sz="1700" b="1" dirty="0">
                <a:solidFill>
                  <a:srgbClr val="E6EDF3"/>
                </a:solidFill>
                <a:latin typeface="Consolas" pitchFamily="34" charset="0"/>
                <a:ea typeface="Consolas" pitchFamily="34" charset="-122"/>
                <a:cs typeface="Consolas" pitchFamily="34" charset="-120"/>
              </a:rPr>
              <a:t>Stop &amp; remember</a:t>
            </a:r>
            <a:endParaRPr lang="en-US" sz="1700" dirty="0"/>
          </a:p>
        </p:txBody>
      </p:sp>
      <p:sp>
        <p:nvSpPr>
          <p:cNvPr id="29" name="Text 27"/>
          <p:cNvSpPr/>
          <p:nvPr/>
        </p:nvSpPr>
        <p:spPr>
          <a:xfrm>
            <a:off x="6537960" y="5166360"/>
            <a:ext cx="4709160" cy="77724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Stop Claude making a repeat mistake, add the correction to CLAUDE.md, and continue with the rule in effect.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section_3/compact_clear.md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23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Managing long conversations</a:t>
            </a:r>
            <a:endParaRPr lang="en-US" sz="3000" dirty="0"/>
          </a:p>
        </p:txBody>
      </p:sp>
      <p:sp>
        <p:nvSpPr>
          <p:cNvPr id="6" name="Shape 4"/>
          <p:cNvSpPr/>
          <p:nvPr/>
        </p:nvSpPr>
        <p:spPr>
          <a:xfrm>
            <a:off x="731520" y="1691640"/>
            <a:ext cx="5166360" cy="4480560"/>
          </a:xfrm>
          <a:prstGeom prst="rect">
            <a:avLst/>
          </a:prstGeom>
          <a:solidFill>
            <a:srgbClr val="131820"/>
          </a:solidFill>
          <a:ln w="12700">
            <a:solidFill>
              <a:srgbClr val="2A3441"/>
            </a:solidFill>
            <a:prstDash val="solid"/>
          </a:ln>
        </p:spPr>
        <p:txBody>
          <a:bodyPr/>
          <a:lstStyle/>
          <a:p>
            <a:endParaRPr lang="en-GB"/>
          </a:p>
        </p:txBody>
      </p:sp>
      <p:sp>
        <p:nvSpPr>
          <p:cNvPr id="7" name="Shape 5"/>
          <p:cNvSpPr/>
          <p:nvPr/>
        </p:nvSpPr>
        <p:spPr>
          <a:xfrm>
            <a:off x="731520" y="1691640"/>
            <a:ext cx="5166360" cy="1097280"/>
          </a:xfrm>
          <a:prstGeom prst="rect">
            <a:avLst/>
          </a:prstGeom>
          <a:solidFill>
            <a:srgbClr val="1A2030"/>
          </a:solidFill>
          <a:ln/>
        </p:spPr>
        <p:txBody>
          <a:bodyPr/>
          <a:lstStyle/>
          <a:p>
            <a:endParaRPr lang="en-GB"/>
          </a:p>
        </p:txBody>
      </p:sp>
      <p:pic>
        <p:nvPicPr>
          <p:cNvPr id="8" name="Image 0" descr="preencoded.png"/>
          <p:cNvPicPr>
            <a:picLocks noChangeAspect="1"/>
          </p:cNvPicPr>
          <p:nvPr/>
        </p:nvPicPr>
        <p:blipFill>
          <a:blip r:embed="rId3"/>
          <a:stretch>
            <a:fillRect/>
          </a:stretch>
        </p:blipFill>
        <p:spPr>
          <a:xfrm>
            <a:off x="1005840" y="1920240"/>
            <a:ext cx="640080" cy="640080"/>
          </a:xfrm>
          <a:prstGeom prst="rect">
            <a:avLst/>
          </a:prstGeom>
        </p:spPr>
      </p:pic>
      <p:sp>
        <p:nvSpPr>
          <p:cNvPr id="9" name="Text 6"/>
          <p:cNvSpPr/>
          <p:nvPr/>
        </p:nvSpPr>
        <p:spPr>
          <a:xfrm>
            <a:off x="1783080" y="1920240"/>
            <a:ext cx="3931920" cy="640080"/>
          </a:xfrm>
          <a:prstGeom prst="rect">
            <a:avLst/>
          </a:prstGeom>
          <a:noFill/>
          <a:ln/>
        </p:spPr>
        <p:txBody>
          <a:bodyPr wrap="square" lIns="0" tIns="0" rIns="0" bIns="0" rtlCol="0" anchor="ctr"/>
          <a:lstStyle/>
          <a:p>
            <a:pPr marL="0" indent="0">
              <a:buNone/>
            </a:pPr>
            <a:r>
              <a:rPr lang="en-US" sz="2600" b="1" dirty="0">
                <a:solidFill>
                  <a:srgbClr val="8AE65C"/>
                </a:solidFill>
                <a:latin typeface="Consolas" pitchFamily="34" charset="0"/>
                <a:ea typeface="Consolas" pitchFamily="34" charset="-122"/>
                <a:cs typeface="Consolas" pitchFamily="34" charset="-120"/>
              </a:rPr>
              <a:t>/compact</a:t>
            </a:r>
            <a:endParaRPr lang="en-US" sz="2600" dirty="0"/>
          </a:p>
        </p:txBody>
      </p:sp>
      <p:sp>
        <p:nvSpPr>
          <p:cNvPr id="10" name="Text 7"/>
          <p:cNvSpPr/>
          <p:nvPr/>
        </p:nvSpPr>
        <p:spPr>
          <a:xfrm>
            <a:off x="1005840" y="2971800"/>
            <a:ext cx="4709160" cy="365760"/>
          </a:xfrm>
          <a:prstGeom prst="rect">
            <a:avLst/>
          </a:prstGeom>
          <a:noFill/>
          <a:ln/>
        </p:spPr>
        <p:txBody>
          <a:bodyPr wrap="square" lIns="0" tIns="0" rIns="0" bIns="0" rtlCol="0" anchor="ctr"/>
          <a:lstStyle/>
          <a:p>
            <a:pPr marL="0" indent="0">
              <a:buNone/>
            </a:pPr>
            <a:r>
              <a:rPr lang="en-US" sz="1300" b="1" kern="0" spc="200" dirty="0">
                <a:solidFill>
                  <a:srgbClr val="8AE65C"/>
                </a:solidFill>
                <a:latin typeface="Consolas" pitchFamily="34" charset="0"/>
                <a:ea typeface="Consolas" pitchFamily="34" charset="-122"/>
                <a:cs typeface="Consolas" pitchFamily="34" charset="-120"/>
              </a:rPr>
              <a:t>Same project, related work</a:t>
            </a:r>
            <a:endParaRPr lang="en-US" sz="1300" dirty="0"/>
          </a:p>
        </p:txBody>
      </p:sp>
      <p:sp>
        <p:nvSpPr>
          <p:cNvPr id="11" name="Text 8"/>
          <p:cNvSpPr/>
          <p:nvPr/>
        </p:nvSpPr>
        <p:spPr>
          <a:xfrm>
            <a:off x="1005840" y="3383280"/>
            <a:ext cx="4709160" cy="91440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Summarizes the whole conversation but keeps the key knowledge Claude has built up.</a:t>
            </a:r>
            <a:endParaRPr lang="en-US" sz="1300" dirty="0"/>
          </a:p>
        </p:txBody>
      </p:sp>
      <p:sp>
        <p:nvSpPr>
          <p:cNvPr id="12" name="Text 9"/>
          <p:cNvSpPr/>
          <p:nvPr/>
        </p:nvSpPr>
        <p:spPr>
          <a:xfrm>
            <a:off x="1005840" y="4389120"/>
            <a:ext cx="4709160" cy="274320"/>
          </a:xfrm>
          <a:prstGeom prst="rect">
            <a:avLst/>
          </a:prstGeom>
          <a:noFill/>
          <a:ln/>
        </p:spPr>
        <p:txBody>
          <a:bodyPr wrap="square" lIns="0" tIns="0" rIns="0" bIns="0" rtlCol="0" anchor="ctr"/>
          <a:lstStyle/>
          <a:p>
            <a:pPr marL="0" indent="0">
              <a:buNone/>
            </a:pPr>
            <a:r>
              <a:rPr lang="en-US" sz="1000" b="1" kern="0" spc="300" dirty="0">
                <a:solidFill>
                  <a:srgbClr val="6B7785"/>
                </a:solidFill>
                <a:latin typeface="Consolas" pitchFamily="34" charset="0"/>
                <a:ea typeface="Consolas" pitchFamily="34" charset="-122"/>
                <a:cs typeface="Consolas" pitchFamily="34" charset="-120"/>
              </a:rPr>
              <a:t>USE WHEN</a:t>
            </a:r>
            <a:endParaRPr lang="en-US" sz="1000" dirty="0"/>
          </a:p>
        </p:txBody>
      </p:sp>
      <p:sp>
        <p:nvSpPr>
          <p:cNvPr id="13" name="Text 10"/>
          <p:cNvSpPr/>
          <p:nvPr/>
        </p:nvSpPr>
        <p:spPr>
          <a:xfrm>
            <a:off x="1097280" y="4709160"/>
            <a:ext cx="4617720" cy="13716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B9C4D0"/>
                </a:solidFill>
                <a:latin typeface="Calibri" pitchFamily="34" charset="0"/>
                <a:ea typeface="Calibri" pitchFamily="34" charset="-122"/>
                <a:cs typeface="Calibri" pitchFamily="34" charset="-120"/>
              </a:rPr>
              <a:t>Claude learned a lot about your project</a:t>
            </a:r>
            <a:endParaRPr lang="en-US" sz="1200" dirty="0"/>
          </a:p>
          <a:p>
            <a:pPr marL="342900" indent="-342900">
              <a:spcAft>
                <a:spcPts val="400"/>
              </a:spcAft>
              <a:buSzPct val="100000"/>
              <a:buChar char="►"/>
            </a:pPr>
            <a:r>
              <a:rPr lang="en-US" sz="1200" dirty="0">
                <a:solidFill>
                  <a:srgbClr val="B9C4D0"/>
                </a:solidFill>
                <a:latin typeface="Calibri" pitchFamily="34" charset="0"/>
                <a:ea typeface="Calibri" pitchFamily="34" charset="-122"/>
                <a:cs typeface="Calibri" pitchFamily="34" charset="-120"/>
              </a:rPr>
              <a:t>You're continuing related tasks</a:t>
            </a:r>
            <a:endParaRPr lang="en-US" sz="1200" dirty="0"/>
          </a:p>
          <a:p>
            <a:pPr marL="342900" indent="-342900">
              <a:spcAft>
                <a:spcPts val="400"/>
              </a:spcAft>
              <a:buSzPct val="100000"/>
              <a:buChar char="►"/>
            </a:pPr>
            <a:r>
              <a:rPr lang="en-US" sz="1200" dirty="0">
                <a:solidFill>
                  <a:srgbClr val="B9C4D0"/>
                </a:solidFill>
                <a:latin typeface="Calibri" pitchFamily="34" charset="0"/>
                <a:ea typeface="Calibri" pitchFamily="34" charset="-122"/>
                <a:cs typeface="Calibri" pitchFamily="34" charset="-120"/>
              </a:rPr>
              <a:t>Conversation got long but the context still matters</a:t>
            </a:r>
            <a:endParaRPr lang="en-US" sz="1200" dirty="0"/>
          </a:p>
        </p:txBody>
      </p:sp>
      <p:sp>
        <p:nvSpPr>
          <p:cNvPr id="14" name="Shape 11"/>
          <p:cNvSpPr/>
          <p:nvPr/>
        </p:nvSpPr>
        <p:spPr>
          <a:xfrm>
            <a:off x="6263640" y="1691640"/>
            <a:ext cx="5166360" cy="4480560"/>
          </a:xfrm>
          <a:prstGeom prst="rect">
            <a:avLst/>
          </a:prstGeom>
          <a:solidFill>
            <a:srgbClr val="131820"/>
          </a:solidFill>
          <a:ln w="12700">
            <a:solidFill>
              <a:srgbClr val="2A3441"/>
            </a:solidFill>
            <a:prstDash val="solid"/>
          </a:ln>
        </p:spPr>
        <p:txBody>
          <a:bodyPr/>
          <a:lstStyle/>
          <a:p>
            <a:endParaRPr lang="en-GB"/>
          </a:p>
        </p:txBody>
      </p:sp>
      <p:sp>
        <p:nvSpPr>
          <p:cNvPr id="15" name="Shape 12"/>
          <p:cNvSpPr/>
          <p:nvPr/>
        </p:nvSpPr>
        <p:spPr>
          <a:xfrm>
            <a:off x="6263640" y="1691640"/>
            <a:ext cx="5166360" cy="1097280"/>
          </a:xfrm>
          <a:prstGeom prst="rect">
            <a:avLst/>
          </a:prstGeom>
          <a:solidFill>
            <a:srgbClr val="1A2030"/>
          </a:solidFill>
          <a:ln/>
        </p:spPr>
        <p:txBody>
          <a:bodyPr/>
          <a:lstStyle/>
          <a:p>
            <a:endParaRPr lang="en-GB"/>
          </a:p>
        </p:txBody>
      </p:sp>
      <p:pic>
        <p:nvPicPr>
          <p:cNvPr id="16" name="Image 1" descr="preencoded.png"/>
          <p:cNvPicPr>
            <a:picLocks noChangeAspect="1"/>
          </p:cNvPicPr>
          <p:nvPr/>
        </p:nvPicPr>
        <p:blipFill>
          <a:blip r:embed="rId4"/>
          <a:stretch>
            <a:fillRect/>
          </a:stretch>
        </p:blipFill>
        <p:spPr>
          <a:xfrm>
            <a:off x="6537960" y="1920240"/>
            <a:ext cx="640080" cy="640080"/>
          </a:xfrm>
          <a:prstGeom prst="rect">
            <a:avLst/>
          </a:prstGeom>
        </p:spPr>
      </p:pic>
      <p:sp>
        <p:nvSpPr>
          <p:cNvPr id="17" name="Text 13"/>
          <p:cNvSpPr/>
          <p:nvPr/>
        </p:nvSpPr>
        <p:spPr>
          <a:xfrm>
            <a:off x="7315200" y="1920240"/>
            <a:ext cx="3931920" cy="640080"/>
          </a:xfrm>
          <a:prstGeom prst="rect">
            <a:avLst/>
          </a:prstGeom>
          <a:noFill/>
          <a:ln/>
        </p:spPr>
        <p:txBody>
          <a:bodyPr wrap="square" lIns="0" tIns="0" rIns="0" bIns="0" rtlCol="0" anchor="ctr"/>
          <a:lstStyle/>
          <a:p>
            <a:pPr marL="0" indent="0">
              <a:buNone/>
            </a:pPr>
            <a:r>
              <a:rPr lang="en-US" sz="2600" b="1" dirty="0">
                <a:solidFill>
                  <a:srgbClr val="FF9E3D"/>
                </a:solidFill>
                <a:latin typeface="Consolas" pitchFamily="34" charset="0"/>
                <a:ea typeface="Consolas" pitchFamily="34" charset="-122"/>
                <a:cs typeface="Consolas" pitchFamily="34" charset="-120"/>
              </a:rPr>
              <a:t>/clear</a:t>
            </a:r>
            <a:endParaRPr lang="en-US" sz="2600" dirty="0"/>
          </a:p>
        </p:txBody>
      </p:sp>
      <p:sp>
        <p:nvSpPr>
          <p:cNvPr id="18" name="Text 14"/>
          <p:cNvSpPr/>
          <p:nvPr/>
        </p:nvSpPr>
        <p:spPr>
          <a:xfrm>
            <a:off x="6537960" y="2971800"/>
            <a:ext cx="4709160" cy="365760"/>
          </a:xfrm>
          <a:prstGeom prst="rect">
            <a:avLst/>
          </a:prstGeom>
          <a:noFill/>
          <a:ln/>
        </p:spPr>
        <p:txBody>
          <a:bodyPr wrap="square" lIns="0" tIns="0" rIns="0" bIns="0" rtlCol="0" anchor="ctr"/>
          <a:lstStyle/>
          <a:p>
            <a:pPr marL="0" indent="0">
              <a:buNone/>
            </a:pPr>
            <a:r>
              <a:rPr lang="en-US" sz="1300" b="1" kern="0" spc="200" dirty="0">
                <a:solidFill>
                  <a:srgbClr val="FF9E3D"/>
                </a:solidFill>
                <a:latin typeface="Consolas" pitchFamily="34" charset="0"/>
                <a:ea typeface="Consolas" pitchFamily="34" charset="-122"/>
                <a:cs typeface="Consolas" pitchFamily="34" charset="-120"/>
              </a:rPr>
              <a:t>Switching tasks entirely</a:t>
            </a:r>
            <a:endParaRPr lang="en-US" sz="1300" dirty="0"/>
          </a:p>
        </p:txBody>
      </p:sp>
      <p:sp>
        <p:nvSpPr>
          <p:cNvPr id="19" name="Text 15"/>
          <p:cNvSpPr/>
          <p:nvPr/>
        </p:nvSpPr>
        <p:spPr>
          <a:xfrm>
            <a:off x="6537960" y="3383280"/>
            <a:ext cx="4709160" cy="91440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Starts fresh. Previous context isn't deleted — you can /resume to come back.</a:t>
            </a:r>
            <a:endParaRPr lang="en-US" sz="1300" dirty="0"/>
          </a:p>
        </p:txBody>
      </p:sp>
      <p:sp>
        <p:nvSpPr>
          <p:cNvPr id="20" name="Text 16"/>
          <p:cNvSpPr/>
          <p:nvPr/>
        </p:nvSpPr>
        <p:spPr>
          <a:xfrm>
            <a:off x="6537960" y="4389120"/>
            <a:ext cx="4709160" cy="274320"/>
          </a:xfrm>
          <a:prstGeom prst="rect">
            <a:avLst/>
          </a:prstGeom>
          <a:noFill/>
          <a:ln/>
        </p:spPr>
        <p:txBody>
          <a:bodyPr wrap="square" lIns="0" tIns="0" rIns="0" bIns="0" rtlCol="0" anchor="ctr"/>
          <a:lstStyle/>
          <a:p>
            <a:pPr marL="0" indent="0">
              <a:buNone/>
            </a:pPr>
            <a:r>
              <a:rPr lang="en-US" sz="1000" b="1" kern="0" spc="300" dirty="0">
                <a:solidFill>
                  <a:srgbClr val="6B7785"/>
                </a:solidFill>
                <a:latin typeface="Consolas" pitchFamily="34" charset="0"/>
                <a:ea typeface="Consolas" pitchFamily="34" charset="-122"/>
                <a:cs typeface="Consolas" pitchFamily="34" charset="-120"/>
              </a:rPr>
              <a:t>USE WHEN</a:t>
            </a:r>
            <a:endParaRPr lang="en-US" sz="1000" dirty="0"/>
          </a:p>
        </p:txBody>
      </p:sp>
      <p:sp>
        <p:nvSpPr>
          <p:cNvPr id="21" name="Text 17"/>
          <p:cNvSpPr/>
          <p:nvPr/>
        </p:nvSpPr>
        <p:spPr>
          <a:xfrm>
            <a:off x="6629400" y="4709160"/>
            <a:ext cx="4617720" cy="13716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B9C4D0"/>
                </a:solidFill>
                <a:latin typeface="Calibri" pitchFamily="34" charset="0"/>
                <a:ea typeface="Calibri" pitchFamily="34" charset="-122"/>
                <a:cs typeface="Calibri" pitchFamily="34" charset="-120"/>
              </a:rPr>
              <a:t>Switching to a completely different task</a:t>
            </a:r>
            <a:endParaRPr lang="en-US" sz="1200" dirty="0"/>
          </a:p>
          <a:p>
            <a:pPr marL="342900" indent="-342900">
              <a:spcAft>
                <a:spcPts val="400"/>
              </a:spcAft>
              <a:buSzPct val="100000"/>
              <a:buChar char="►"/>
            </a:pPr>
            <a:r>
              <a:rPr lang="en-US" sz="1200" dirty="0">
                <a:solidFill>
                  <a:srgbClr val="B9C4D0"/>
                </a:solidFill>
                <a:latin typeface="Calibri" pitchFamily="34" charset="0"/>
                <a:ea typeface="Calibri" pitchFamily="34" charset="-122"/>
                <a:cs typeface="Calibri" pitchFamily="34" charset="-120"/>
              </a:rPr>
              <a:t>Old context might confuse the new task</a:t>
            </a:r>
            <a:endParaRPr lang="en-US" sz="1200" dirty="0"/>
          </a:p>
          <a:p>
            <a:pPr marL="342900" indent="-342900">
              <a:spcAft>
                <a:spcPts val="400"/>
              </a:spcAft>
              <a:buSzPct val="100000"/>
              <a:buChar char="►"/>
            </a:pPr>
            <a:r>
              <a:rPr lang="en-US" sz="1200" dirty="0">
                <a:solidFill>
                  <a:srgbClr val="B9C4D0"/>
                </a:solidFill>
                <a:latin typeface="Calibri" pitchFamily="34" charset="0"/>
                <a:ea typeface="Calibri" pitchFamily="34" charset="-122"/>
                <a:cs typeface="Calibri" pitchFamily="34" charset="-120"/>
              </a:rPr>
              <a:t>You want a clean slate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section_3/custom_commands_create.md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24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Custom slash commands</a:t>
            </a:r>
            <a:endParaRPr lang="en-US" sz="3000" dirty="0"/>
          </a:p>
        </p:txBody>
      </p:sp>
      <p:sp>
        <p:nvSpPr>
          <p:cNvPr id="6" name="Text 4"/>
          <p:cNvSpPr/>
          <p:nvPr/>
        </p:nvSpPr>
        <p:spPr>
          <a:xfrm>
            <a:off x="731520" y="1417320"/>
            <a:ext cx="10972800" cy="457200"/>
          </a:xfrm>
          <a:prstGeom prst="rect">
            <a:avLst/>
          </a:prstGeom>
          <a:noFill/>
          <a:ln/>
        </p:spPr>
        <p:txBody>
          <a:bodyPr wrap="square" lIns="0" tIns="0" rIns="0" bIns="0" rtlCol="0" anchor="ctr"/>
          <a:lstStyle/>
          <a:p>
            <a:pPr marL="0" indent="0">
              <a:buNone/>
            </a:pPr>
            <a:r>
              <a:rPr lang="en-US" sz="1500" dirty="0">
                <a:solidFill>
                  <a:srgbClr val="B9C4D0"/>
                </a:solidFill>
                <a:latin typeface="Calibri" pitchFamily="34" charset="0"/>
                <a:ea typeface="Calibri" pitchFamily="34" charset="-122"/>
                <a:cs typeface="Calibri" pitchFamily="34" charset="-120"/>
              </a:rPr>
              <a:t>Automate workflows you repeat. Drop a markdown file in your project — get a /command.</a:t>
            </a:r>
            <a:endParaRPr lang="en-US" sz="1500" dirty="0"/>
          </a:p>
        </p:txBody>
      </p:sp>
      <p:sp>
        <p:nvSpPr>
          <p:cNvPr id="7" name="Shape 5"/>
          <p:cNvSpPr/>
          <p:nvPr/>
        </p:nvSpPr>
        <p:spPr>
          <a:xfrm>
            <a:off x="731520" y="2103120"/>
            <a:ext cx="5349240" cy="3931920"/>
          </a:xfrm>
          <a:prstGeom prst="rect">
            <a:avLst/>
          </a:prstGeom>
          <a:solidFill>
            <a:srgbClr val="131820"/>
          </a:solidFill>
          <a:ln w="12700">
            <a:solidFill>
              <a:srgbClr val="2A3441"/>
            </a:solidFill>
            <a:prstDash val="solid"/>
          </a:ln>
        </p:spPr>
        <p:txBody>
          <a:bodyPr/>
          <a:lstStyle/>
          <a:p>
            <a:endParaRPr lang="en-GB"/>
          </a:p>
        </p:txBody>
      </p:sp>
      <p:sp>
        <p:nvSpPr>
          <p:cNvPr id="8" name="Text 6"/>
          <p:cNvSpPr/>
          <p:nvPr/>
        </p:nvSpPr>
        <p:spPr>
          <a:xfrm>
            <a:off x="914400" y="2194560"/>
            <a:ext cx="5029200" cy="411480"/>
          </a:xfrm>
          <a:prstGeom prst="rect">
            <a:avLst/>
          </a:prstGeom>
          <a:noFill/>
          <a:ln/>
        </p:spPr>
        <p:txBody>
          <a:bodyPr wrap="square" lIns="0" tIns="0" rIns="0" bIns="0" rtlCol="0" anchor="ctr"/>
          <a:lstStyle/>
          <a:p>
            <a:pPr marL="0" indent="0">
              <a:buNone/>
            </a:pPr>
            <a:r>
              <a:rPr lang="en-US" sz="1700" b="1" dirty="0">
                <a:solidFill>
                  <a:srgbClr val="FF9E3D"/>
                </a:solidFill>
                <a:latin typeface="Consolas" pitchFamily="34" charset="0"/>
                <a:ea typeface="Consolas" pitchFamily="34" charset="-122"/>
                <a:cs typeface="Consolas" pitchFamily="34" charset="-120"/>
              </a:rPr>
              <a:t>Three steps</a:t>
            </a:r>
            <a:endParaRPr lang="en-US" sz="1700" dirty="0"/>
          </a:p>
        </p:txBody>
      </p:sp>
      <p:sp>
        <p:nvSpPr>
          <p:cNvPr id="9" name="Shape 7"/>
          <p:cNvSpPr/>
          <p:nvPr/>
        </p:nvSpPr>
        <p:spPr>
          <a:xfrm>
            <a:off x="914400" y="2834640"/>
            <a:ext cx="502920" cy="502920"/>
          </a:xfrm>
          <a:prstGeom prst="ellipse">
            <a:avLst/>
          </a:prstGeom>
          <a:solidFill>
            <a:srgbClr val="FF9E3D"/>
          </a:solidFill>
          <a:ln/>
        </p:spPr>
        <p:txBody>
          <a:bodyPr/>
          <a:lstStyle/>
          <a:p>
            <a:endParaRPr lang="en-GB"/>
          </a:p>
        </p:txBody>
      </p:sp>
      <p:sp>
        <p:nvSpPr>
          <p:cNvPr id="10" name="Text 8"/>
          <p:cNvSpPr/>
          <p:nvPr/>
        </p:nvSpPr>
        <p:spPr>
          <a:xfrm>
            <a:off x="914400" y="2834640"/>
            <a:ext cx="502920" cy="502920"/>
          </a:xfrm>
          <a:prstGeom prst="rect">
            <a:avLst/>
          </a:prstGeom>
          <a:noFill/>
          <a:ln/>
        </p:spPr>
        <p:txBody>
          <a:bodyPr wrap="square" lIns="0" tIns="0" rIns="0" bIns="0" rtlCol="0" anchor="ctr"/>
          <a:lstStyle/>
          <a:p>
            <a:pPr marL="0" indent="0" algn="ctr">
              <a:buNone/>
            </a:pPr>
            <a:r>
              <a:rPr lang="en-US" sz="1600" b="1" dirty="0">
                <a:solidFill>
                  <a:srgbClr val="0A0E14"/>
                </a:solidFill>
                <a:latin typeface="Consolas" pitchFamily="34" charset="0"/>
                <a:ea typeface="Consolas" pitchFamily="34" charset="-122"/>
                <a:cs typeface="Consolas" pitchFamily="34" charset="-120"/>
              </a:rPr>
              <a:t>1</a:t>
            </a:r>
            <a:endParaRPr lang="en-US" sz="1600" dirty="0"/>
          </a:p>
        </p:txBody>
      </p:sp>
      <p:sp>
        <p:nvSpPr>
          <p:cNvPr id="11" name="Text 9"/>
          <p:cNvSpPr/>
          <p:nvPr/>
        </p:nvSpPr>
        <p:spPr>
          <a:xfrm>
            <a:off x="1600200" y="2788920"/>
            <a:ext cx="4297680" cy="68580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Find or create .claude/ in your project root</a:t>
            </a:r>
            <a:endParaRPr lang="en-US" sz="1300" dirty="0"/>
          </a:p>
        </p:txBody>
      </p:sp>
      <p:sp>
        <p:nvSpPr>
          <p:cNvPr id="12" name="Shape 10"/>
          <p:cNvSpPr/>
          <p:nvPr/>
        </p:nvSpPr>
        <p:spPr>
          <a:xfrm>
            <a:off x="914400" y="3749040"/>
            <a:ext cx="502920" cy="502920"/>
          </a:xfrm>
          <a:prstGeom prst="ellipse">
            <a:avLst/>
          </a:prstGeom>
          <a:solidFill>
            <a:srgbClr val="FF9E3D"/>
          </a:solidFill>
          <a:ln/>
        </p:spPr>
        <p:txBody>
          <a:bodyPr/>
          <a:lstStyle/>
          <a:p>
            <a:endParaRPr lang="en-GB"/>
          </a:p>
        </p:txBody>
      </p:sp>
      <p:sp>
        <p:nvSpPr>
          <p:cNvPr id="13" name="Text 11"/>
          <p:cNvSpPr/>
          <p:nvPr/>
        </p:nvSpPr>
        <p:spPr>
          <a:xfrm>
            <a:off x="914400" y="3749040"/>
            <a:ext cx="502920" cy="502920"/>
          </a:xfrm>
          <a:prstGeom prst="rect">
            <a:avLst/>
          </a:prstGeom>
          <a:noFill/>
          <a:ln/>
        </p:spPr>
        <p:txBody>
          <a:bodyPr wrap="square" lIns="0" tIns="0" rIns="0" bIns="0" rtlCol="0" anchor="ctr"/>
          <a:lstStyle/>
          <a:p>
            <a:pPr marL="0" indent="0" algn="ctr">
              <a:buNone/>
            </a:pPr>
            <a:r>
              <a:rPr lang="en-US" sz="1600" b="1" dirty="0">
                <a:solidFill>
                  <a:srgbClr val="0A0E14"/>
                </a:solidFill>
                <a:latin typeface="Consolas" pitchFamily="34" charset="0"/>
                <a:ea typeface="Consolas" pitchFamily="34" charset="-122"/>
                <a:cs typeface="Consolas" pitchFamily="34" charset="-120"/>
              </a:rPr>
              <a:t>2</a:t>
            </a:r>
            <a:endParaRPr lang="en-US" sz="1600" dirty="0"/>
          </a:p>
        </p:txBody>
      </p:sp>
      <p:sp>
        <p:nvSpPr>
          <p:cNvPr id="14" name="Text 12"/>
          <p:cNvSpPr/>
          <p:nvPr/>
        </p:nvSpPr>
        <p:spPr>
          <a:xfrm>
            <a:off x="1600200" y="3703320"/>
            <a:ext cx="4297680" cy="68580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Create .claude/commands/ inside it</a:t>
            </a:r>
            <a:endParaRPr lang="en-US" sz="1300" dirty="0"/>
          </a:p>
        </p:txBody>
      </p:sp>
      <p:sp>
        <p:nvSpPr>
          <p:cNvPr id="15" name="Shape 13"/>
          <p:cNvSpPr/>
          <p:nvPr/>
        </p:nvSpPr>
        <p:spPr>
          <a:xfrm>
            <a:off x="914400" y="4663440"/>
            <a:ext cx="502920" cy="502920"/>
          </a:xfrm>
          <a:prstGeom prst="ellipse">
            <a:avLst/>
          </a:prstGeom>
          <a:solidFill>
            <a:srgbClr val="FF9E3D"/>
          </a:solidFill>
          <a:ln/>
        </p:spPr>
        <p:txBody>
          <a:bodyPr/>
          <a:lstStyle/>
          <a:p>
            <a:endParaRPr lang="en-GB"/>
          </a:p>
        </p:txBody>
      </p:sp>
      <p:sp>
        <p:nvSpPr>
          <p:cNvPr id="16" name="Text 14"/>
          <p:cNvSpPr/>
          <p:nvPr/>
        </p:nvSpPr>
        <p:spPr>
          <a:xfrm>
            <a:off x="914400" y="4663440"/>
            <a:ext cx="502920" cy="502920"/>
          </a:xfrm>
          <a:prstGeom prst="rect">
            <a:avLst/>
          </a:prstGeom>
          <a:noFill/>
          <a:ln/>
        </p:spPr>
        <p:txBody>
          <a:bodyPr wrap="square" lIns="0" tIns="0" rIns="0" bIns="0" rtlCol="0" anchor="ctr"/>
          <a:lstStyle/>
          <a:p>
            <a:pPr marL="0" indent="0" algn="ctr">
              <a:buNone/>
            </a:pPr>
            <a:r>
              <a:rPr lang="en-US" sz="1600" b="1" dirty="0">
                <a:solidFill>
                  <a:srgbClr val="0A0E14"/>
                </a:solidFill>
                <a:latin typeface="Consolas" pitchFamily="34" charset="0"/>
                <a:ea typeface="Consolas" pitchFamily="34" charset="-122"/>
                <a:cs typeface="Consolas" pitchFamily="34" charset="-120"/>
              </a:rPr>
              <a:t>3</a:t>
            </a:r>
            <a:endParaRPr lang="en-US" sz="1600" dirty="0"/>
          </a:p>
        </p:txBody>
      </p:sp>
      <p:sp>
        <p:nvSpPr>
          <p:cNvPr id="17" name="Text 15"/>
          <p:cNvSpPr/>
          <p:nvPr/>
        </p:nvSpPr>
        <p:spPr>
          <a:xfrm>
            <a:off x="1600200" y="4617720"/>
            <a:ext cx="4297680" cy="685800"/>
          </a:xfrm>
          <a:prstGeom prst="rect">
            <a:avLst/>
          </a:prstGeom>
          <a:noFill/>
          <a:ln/>
        </p:spPr>
        <p:txBody>
          <a:bodyPr wrap="square" lIns="0" tIns="0" rIns="0" bIns="0" rtlCol="0" anchor="ctr"/>
          <a:lstStyle/>
          <a:p>
            <a:pPr marL="0" indent="0">
              <a:buNone/>
            </a:pPr>
            <a:r>
              <a:rPr lang="en-US" sz="1300" dirty="0">
                <a:solidFill>
                  <a:srgbClr val="B9C4D0"/>
                </a:solidFill>
                <a:latin typeface="Calibri" pitchFamily="34" charset="0"/>
                <a:ea typeface="Calibri" pitchFamily="34" charset="-122"/>
                <a:cs typeface="Calibri" pitchFamily="34" charset="-120"/>
              </a:rPr>
              <a:t>Drop a .md file — its name becomes the command</a:t>
            </a:r>
            <a:endParaRPr lang="en-US" sz="1300" dirty="0"/>
          </a:p>
        </p:txBody>
      </p:sp>
      <p:sp>
        <p:nvSpPr>
          <p:cNvPr id="18" name="Text 16"/>
          <p:cNvSpPr/>
          <p:nvPr/>
        </p:nvSpPr>
        <p:spPr>
          <a:xfrm>
            <a:off x="914400" y="5532120"/>
            <a:ext cx="5029200" cy="365760"/>
          </a:xfrm>
          <a:prstGeom prst="rect">
            <a:avLst/>
          </a:prstGeom>
          <a:noFill/>
          <a:ln/>
        </p:spPr>
        <p:txBody>
          <a:bodyPr wrap="square" lIns="0" tIns="0" rIns="0" bIns="0" rtlCol="0" anchor="ctr"/>
          <a:lstStyle/>
          <a:p>
            <a:pPr marL="0" indent="0">
              <a:buNone/>
            </a:pPr>
            <a:r>
              <a:rPr lang="en-US" sz="1200" i="1" dirty="0">
                <a:solidFill>
                  <a:srgbClr val="5EB3F5"/>
                </a:solidFill>
                <a:latin typeface="Calibri" pitchFamily="34" charset="0"/>
                <a:ea typeface="Calibri" pitchFamily="34" charset="-122"/>
                <a:cs typeface="Calibri" pitchFamily="34" charset="-120"/>
              </a:rPr>
              <a:t>→ Picked up automatically. No restart needed.</a:t>
            </a:r>
            <a:endParaRPr lang="en-US" sz="1200" dirty="0"/>
          </a:p>
        </p:txBody>
      </p:sp>
      <p:sp>
        <p:nvSpPr>
          <p:cNvPr id="19" name="Shape 17"/>
          <p:cNvSpPr/>
          <p:nvPr/>
        </p:nvSpPr>
        <p:spPr>
          <a:xfrm>
            <a:off x="6309360" y="2103120"/>
            <a:ext cx="5349240" cy="3931920"/>
          </a:xfrm>
          <a:prstGeom prst="rect">
            <a:avLst/>
          </a:prstGeom>
          <a:solidFill>
            <a:srgbClr val="131820"/>
          </a:solidFill>
          <a:ln w="12700">
            <a:solidFill>
              <a:srgbClr val="2A3441"/>
            </a:solidFill>
            <a:prstDash val="solid"/>
          </a:ln>
        </p:spPr>
        <p:txBody>
          <a:bodyPr/>
          <a:lstStyle/>
          <a:p>
            <a:endParaRPr lang="en-GB"/>
          </a:p>
        </p:txBody>
      </p:sp>
      <p:sp>
        <p:nvSpPr>
          <p:cNvPr id="20" name="Text 18"/>
          <p:cNvSpPr/>
          <p:nvPr/>
        </p:nvSpPr>
        <p:spPr>
          <a:xfrm>
            <a:off x="6492240" y="2194560"/>
            <a:ext cx="5029200" cy="411480"/>
          </a:xfrm>
          <a:prstGeom prst="rect">
            <a:avLst/>
          </a:prstGeom>
          <a:noFill/>
          <a:ln/>
        </p:spPr>
        <p:txBody>
          <a:bodyPr wrap="square" lIns="0" tIns="0" rIns="0" bIns="0" rtlCol="0" anchor="ctr"/>
          <a:lstStyle/>
          <a:p>
            <a:pPr marL="0" indent="0">
              <a:buNone/>
            </a:pPr>
            <a:r>
              <a:rPr lang="en-US" sz="1700" b="1" dirty="0">
                <a:solidFill>
                  <a:srgbClr val="FF9E3D"/>
                </a:solidFill>
                <a:latin typeface="Consolas" pitchFamily="34" charset="0"/>
                <a:ea typeface="Consolas" pitchFamily="34" charset="-122"/>
                <a:cs typeface="Consolas" pitchFamily="34" charset="-120"/>
              </a:rPr>
              <a:t>Example: /audit</a:t>
            </a:r>
            <a:endParaRPr lang="en-US" sz="1700" dirty="0"/>
          </a:p>
        </p:txBody>
      </p:sp>
      <p:sp>
        <p:nvSpPr>
          <p:cNvPr id="21" name="Text 19"/>
          <p:cNvSpPr/>
          <p:nvPr/>
        </p:nvSpPr>
        <p:spPr>
          <a:xfrm>
            <a:off x="6492240" y="2606040"/>
            <a:ext cx="5029200" cy="320040"/>
          </a:xfrm>
          <a:prstGeom prst="rect">
            <a:avLst/>
          </a:prstGeom>
          <a:noFill/>
          <a:ln/>
        </p:spPr>
        <p:txBody>
          <a:bodyPr wrap="square" lIns="0" tIns="0" rIns="0" bIns="0" rtlCol="0" anchor="ctr"/>
          <a:lstStyle/>
          <a:p>
            <a:pPr marL="0" indent="0">
              <a:buNone/>
            </a:pPr>
            <a:r>
              <a:rPr lang="en-US" sz="1100" i="1" dirty="0">
                <a:solidFill>
                  <a:srgbClr val="6B7785"/>
                </a:solidFill>
                <a:latin typeface="Consolas" pitchFamily="34" charset="0"/>
                <a:ea typeface="Consolas" pitchFamily="34" charset="-122"/>
                <a:cs typeface="Consolas" pitchFamily="34" charset="-120"/>
              </a:rPr>
              <a:t>.claude/commands/audit.md</a:t>
            </a:r>
            <a:endParaRPr lang="en-US" sz="1100" dirty="0"/>
          </a:p>
        </p:txBody>
      </p:sp>
      <p:sp>
        <p:nvSpPr>
          <p:cNvPr id="22" name="Shape 20"/>
          <p:cNvSpPr/>
          <p:nvPr/>
        </p:nvSpPr>
        <p:spPr>
          <a:xfrm>
            <a:off x="6492240" y="3017520"/>
            <a:ext cx="5029200" cy="2880360"/>
          </a:xfrm>
          <a:prstGeom prst="rect">
            <a:avLst/>
          </a:prstGeom>
          <a:solidFill>
            <a:srgbClr val="1A2030"/>
          </a:solidFill>
          <a:ln/>
        </p:spPr>
        <p:txBody>
          <a:bodyPr/>
          <a:lstStyle/>
          <a:p>
            <a:endParaRPr lang="en-GB"/>
          </a:p>
        </p:txBody>
      </p:sp>
      <p:sp>
        <p:nvSpPr>
          <p:cNvPr id="23" name="Text 21"/>
          <p:cNvSpPr/>
          <p:nvPr/>
        </p:nvSpPr>
        <p:spPr>
          <a:xfrm>
            <a:off x="6675120" y="3108960"/>
            <a:ext cx="4754880" cy="2743200"/>
          </a:xfrm>
          <a:prstGeom prst="rect">
            <a:avLst/>
          </a:prstGeom>
          <a:noFill/>
          <a:ln/>
        </p:spPr>
        <p:txBody>
          <a:bodyPr wrap="square" lIns="0" tIns="0" rIns="0" bIns="0" rtlCol="0" anchor="t"/>
          <a:lstStyle/>
          <a:p>
            <a:pPr marL="0" indent="0">
              <a:buNone/>
            </a:pPr>
            <a:r>
              <a:rPr lang="en-US" sz="1200" dirty="0">
                <a:solidFill>
                  <a:srgbClr val="B9C4D0"/>
                </a:solidFill>
                <a:latin typeface="Consolas" pitchFamily="34" charset="0"/>
                <a:ea typeface="Consolas" pitchFamily="34" charset="-122"/>
                <a:cs typeface="Consolas" pitchFamily="34" charset="-120"/>
              </a:rPr>
              <a:t>Audit project dependencies</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for vulnerabilities:</a:t>
            </a:r>
            <a:endParaRPr lang="en-US" sz="1200" dirty="0"/>
          </a:p>
          <a:p>
            <a:pPr marL="0" indent="0">
              <a:buNone/>
            </a:pP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1. Run </a:t>
            </a:r>
            <a:r>
              <a:rPr lang="en-US" sz="1200" b="1" dirty="0">
                <a:solidFill>
                  <a:srgbClr val="FF9E3D"/>
                </a:solidFill>
                <a:latin typeface="Consolas" pitchFamily="34" charset="0"/>
                <a:ea typeface="Consolas" pitchFamily="34" charset="-122"/>
                <a:cs typeface="Consolas" pitchFamily="34" charset="-120"/>
              </a:rPr>
              <a:t>npm audit</a:t>
            </a:r>
            <a:r>
              <a:rPr lang="en-US" sz="1200" dirty="0">
                <a:solidFill>
                  <a:srgbClr val="B9C4D0"/>
                </a:solidFill>
                <a:latin typeface="Consolas" pitchFamily="34" charset="0"/>
                <a:ea typeface="Consolas" pitchFamily="34" charset="-122"/>
                <a:cs typeface="Consolas" pitchFamily="34" charset="-120"/>
              </a:rPr>
              <a:t> to find issues</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2. Run </a:t>
            </a:r>
            <a:r>
              <a:rPr lang="en-US" sz="1200" b="1" dirty="0">
                <a:solidFill>
                  <a:srgbClr val="FF9E3D"/>
                </a:solidFill>
                <a:latin typeface="Consolas" pitchFamily="34" charset="0"/>
                <a:ea typeface="Consolas" pitchFamily="34" charset="-122"/>
                <a:cs typeface="Consolas" pitchFamily="34" charset="-120"/>
              </a:rPr>
              <a:t>npm audit fix</a:t>
            </a:r>
            <a:r>
              <a:rPr lang="en-US" sz="1200" dirty="0">
                <a:solidFill>
                  <a:srgbClr val="B9C4D0"/>
                </a:solidFill>
                <a:latin typeface="Consolas" pitchFamily="34" charset="0"/>
                <a:ea typeface="Consolas" pitchFamily="34" charset="-122"/>
                <a:cs typeface="Consolas" pitchFamily="34" charset="-120"/>
              </a:rPr>
              <a:t> to apply updates</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3. Run tests to verify nothing</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   broke</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4. Report what was updated</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section_3/custom_commands_args.md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25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Custom commands with arguments</a:t>
            </a:r>
            <a:endParaRPr lang="en-US" sz="3000" dirty="0"/>
          </a:p>
        </p:txBody>
      </p:sp>
      <p:sp>
        <p:nvSpPr>
          <p:cNvPr id="6" name="Text 4"/>
          <p:cNvSpPr/>
          <p:nvPr/>
        </p:nvSpPr>
        <p:spPr>
          <a:xfrm>
            <a:off x="731520" y="1417320"/>
            <a:ext cx="10972800" cy="45720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Use $ARGUMENTS in your command file. Everything after the command name fills in there.</a:t>
            </a:r>
            <a:endParaRPr lang="en-US" sz="1400" dirty="0"/>
          </a:p>
        </p:txBody>
      </p:sp>
      <p:sp>
        <p:nvSpPr>
          <p:cNvPr id="7" name="Text 5"/>
          <p:cNvSpPr/>
          <p:nvPr/>
        </p:nvSpPr>
        <p:spPr>
          <a:xfrm>
            <a:off x="731520" y="1920240"/>
            <a:ext cx="10972800" cy="320040"/>
          </a:xfrm>
          <a:prstGeom prst="rect">
            <a:avLst/>
          </a:prstGeom>
          <a:noFill/>
          <a:ln/>
        </p:spPr>
        <p:txBody>
          <a:bodyPr wrap="square" lIns="0" tIns="0" rIns="0" bIns="0" rtlCol="0" anchor="ctr"/>
          <a:lstStyle/>
          <a:p>
            <a:pPr marL="0" indent="0">
              <a:buNone/>
            </a:pPr>
            <a:r>
              <a:rPr lang="en-US" sz="1100" i="1" dirty="0">
                <a:solidFill>
                  <a:srgbClr val="6B7785"/>
                </a:solidFill>
                <a:latin typeface="Consolas" pitchFamily="34" charset="0"/>
                <a:ea typeface="Consolas" pitchFamily="34" charset="-122"/>
                <a:cs typeface="Consolas" pitchFamily="34" charset="-120"/>
              </a:rPr>
              <a:t>.claude/commands/write_tests.md</a:t>
            </a:r>
            <a:endParaRPr lang="en-US" sz="1100" dirty="0"/>
          </a:p>
        </p:txBody>
      </p:sp>
      <p:sp>
        <p:nvSpPr>
          <p:cNvPr id="8" name="Shape 6"/>
          <p:cNvSpPr/>
          <p:nvPr/>
        </p:nvSpPr>
        <p:spPr>
          <a:xfrm>
            <a:off x="731520" y="2286000"/>
            <a:ext cx="10698480" cy="1828800"/>
          </a:xfrm>
          <a:prstGeom prst="rect">
            <a:avLst/>
          </a:prstGeom>
          <a:solidFill>
            <a:srgbClr val="1A2030"/>
          </a:solidFill>
          <a:ln w="12700">
            <a:solidFill>
              <a:srgbClr val="2A3441"/>
            </a:solidFill>
            <a:prstDash val="solid"/>
          </a:ln>
        </p:spPr>
        <p:txBody>
          <a:bodyPr/>
          <a:lstStyle/>
          <a:p>
            <a:endParaRPr lang="en-GB"/>
          </a:p>
        </p:txBody>
      </p:sp>
      <p:sp>
        <p:nvSpPr>
          <p:cNvPr id="9" name="Text 7"/>
          <p:cNvSpPr/>
          <p:nvPr/>
        </p:nvSpPr>
        <p:spPr>
          <a:xfrm>
            <a:off x="914400" y="2377440"/>
            <a:ext cx="10515600" cy="1691640"/>
          </a:xfrm>
          <a:prstGeom prst="rect">
            <a:avLst/>
          </a:prstGeom>
          <a:noFill/>
          <a:ln/>
        </p:spPr>
        <p:txBody>
          <a:bodyPr wrap="square" lIns="0" tIns="0" rIns="0" bIns="0" rtlCol="0" anchor="t"/>
          <a:lstStyle/>
          <a:p>
            <a:pPr marL="0" indent="0">
              <a:buNone/>
            </a:pPr>
            <a:r>
              <a:rPr lang="en-US" sz="1300" dirty="0">
                <a:solidFill>
                  <a:srgbClr val="B9C4D0"/>
                </a:solidFill>
                <a:latin typeface="Consolas" pitchFamily="34" charset="0"/>
                <a:ea typeface="Consolas" pitchFamily="34" charset="-122"/>
                <a:cs typeface="Consolas" pitchFamily="34" charset="-120"/>
              </a:rPr>
              <a:t>Write comprehensive tests for: </a:t>
            </a:r>
            <a:r>
              <a:rPr lang="en-US" sz="1300" b="1" dirty="0">
                <a:solidFill>
                  <a:srgbClr val="FF9E3D"/>
                </a:solidFill>
                <a:latin typeface="Consolas" pitchFamily="34" charset="0"/>
                <a:ea typeface="Consolas" pitchFamily="34" charset="-122"/>
                <a:cs typeface="Consolas" pitchFamily="34" charset="-120"/>
              </a:rPr>
              <a:t>$ARGUMENTS</a:t>
            </a:r>
            <a:endParaRPr lang="en-US" sz="1300" dirty="0"/>
          </a:p>
          <a:p>
            <a:pPr marL="0" indent="0">
              <a:buNone/>
            </a:pPr>
            <a:endParaRPr lang="en-US" sz="1300" dirty="0"/>
          </a:p>
          <a:p>
            <a:pPr marL="0" indent="0">
              <a:buNone/>
            </a:pPr>
            <a:r>
              <a:rPr lang="en-US" sz="1200" b="1" dirty="0">
                <a:solidFill>
                  <a:srgbClr val="5EB3F5"/>
                </a:solidFill>
                <a:latin typeface="Consolas" pitchFamily="34" charset="0"/>
                <a:ea typeface="Consolas" pitchFamily="34" charset="-122"/>
                <a:cs typeface="Consolas" pitchFamily="34" charset="-120"/>
              </a:rPr>
              <a:t>Testing conventions:</a:t>
            </a:r>
            <a:endParaRPr lang="en-US" sz="1300" dirty="0"/>
          </a:p>
          <a:p>
            <a:pPr marL="0" indent="0">
              <a:buNone/>
            </a:pPr>
            <a:r>
              <a:rPr lang="en-US" sz="1200" dirty="0">
                <a:solidFill>
                  <a:srgbClr val="B9C4D0"/>
                </a:solidFill>
                <a:latin typeface="Consolas" pitchFamily="34" charset="0"/>
                <a:ea typeface="Consolas" pitchFamily="34" charset="-122"/>
                <a:cs typeface="Consolas" pitchFamily="34" charset="-120"/>
              </a:rPr>
              <a:t>• Use Vitest with React Testing Library</a:t>
            </a:r>
            <a:endParaRPr lang="en-US" sz="1300" dirty="0"/>
          </a:p>
          <a:p>
            <a:pPr marL="0" indent="0">
              <a:buNone/>
            </a:pPr>
            <a:r>
              <a:rPr lang="en-US" sz="1200" dirty="0">
                <a:solidFill>
                  <a:srgbClr val="B9C4D0"/>
                </a:solidFill>
                <a:latin typeface="Consolas" pitchFamily="34" charset="0"/>
                <a:ea typeface="Consolas" pitchFamily="34" charset="-122"/>
                <a:cs typeface="Consolas" pitchFamily="34" charset="-120"/>
              </a:rPr>
              <a:t>• Place files in __tests__/ next to the source</a:t>
            </a:r>
            <a:endParaRPr lang="en-US" sz="1300" dirty="0"/>
          </a:p>
          <a:p>
            <a:pPr marL="0" indent="0">
              <a:buNone/>
            </a:pPr>
            <a:r>
              <a:rPr lang="en-US" sz="1200" dirty="0">
                <a:solidFill>
                  <a:srgbClr val="B9C4D0"/>
                </a:solidFill>
                <a:latin typeface="Consolas" pitchFamily="34" charset="0"/>
                <a:ea typeface="Consolas" pitchFamily="34" charset="-122"/>
                <a:cs typeface="Consolas" pitchFamily="34" charset="-120"/>
              </a:rPr>
              <a:t>• Name: [filename].test.ts(x)   ·   Use @/ for imports</a:t>
            </a:r>
            <a:endParaRPr lang="en-US" sz="1300" dirty="0"/>
          </a:p>
          <a:p>
            <a:pPr marL="0" indent="0">
              <a:buNone/>
            </a:pPr>
            <a:r>
              <a:rPr lang="en-US" sz="1200" dirty="0">
                <a:solidFill>
                  <a:srgbClr val="B9C4D0"/>
                </a:solidFill>
                <a:latin typeface="Consolas" pitchFamily="34" charset="0"/>
                <a:ea typeface="Consolas" pitchFamily="34" charset="-122"/>
                <a:cs typeface="Consolas" pitchFamily="34" charset="-120"/>
              </a:rPr>
              <a:t>Cover happy paths, edge cases, and error states.</a:t>
            </a:r>
            <a:endParaRPr lang="en-US" sz="1300" dirty="0"/>
          </a:p>
        </p:txBody>
      </p:sp>
      <p:sp>
        <p:nvSpPr>
          <p:cNvPr id="10" name="Text 8"/>
          <p:cNvSpPr/>
          <p:nvPr/>
        </p:nvSpPr>
        <p:spPr>
          <a:xfrm>
            <a:off x="731520" y="4251960"/>
            <a:ext cx="10972800" cy="320040"/>
          </a:xfrm>
          <a:prstGeom prst="rect">
            <a:avLst/>
          </a:prstGeom>
          <a:noFill/>
          <a:ln/>
        </p:spPr>
        <p:txBody>
          <a:bodyPr wrap="square" lIns="0" tIns="0" rIns="0" bIns="0" rtlCol="0" anchor="ctr"/>
          <a:lstStyle/>
          <a:p>
            <a:pPr marL="0" indent="0">
              <a:buNone/>
            </a:pPr>
            <a:r>
              <a:rPr lang="en-US" sz="1300" b="1" dirty="0">
                <a:solidFill>
                  <a:srgbClr val="FF9E3D"/>
                </a:solidFill>
                <a:latin typeface="Consolas" pitchFamily="34" charset="0"/>
                <a:ea typeface="Consolas" pitchFamily="34" charset="-122"/>
                <a:cs typeface="Consolas" pitchFamily="34" charset="-120"/>
              </a:rPr>
              <a:t>How you call it:</a:t>
            </a:r>
            <a:endParaRPr lang="en-US" sz="1300" dirty="0"/>
          </a:p>
        </p:txBody>
      </p:sp>
      <p:sp>
        <p:nvSpPr>
          <p:cNvPr id="11" name="Shape 9"/>
          <p:cNvSpPr/>
          <p:nvPr/>
        </p:nvSpPr>
        <p:spPr>
          <a:xfrm>
            <a:off x="731520" y="4572000"/>
            <a:ext cx="10698480" cy="777240"/>
          </a:xfrm>
          <a:prstGeom prst="rect">
            <a:avLst/>
          </a:prstGeom>
          <a:solidFill>
            <a:srgbClr val="1A2030"/>
          </a:solidFill>
          <a:ln w="12700">
            <a:solidFill>
              <a:srgbClr val="FF9E3D"/>
            </a:solidFill>
            <a:prstDash val="solid"/>
          </a:ln>
        </p:spPr>
        <p:txBody>
          <a:bodyPr/>
          <a:lstStyle/>
          <a:p>
            <a:endParaRPr lang="en-GB"/>
          </a:p>
        </p:txBody>
      </p:sp>
      <p:sp>
        <p:nvSpPr>
          <p:cNvPr id="12" name="Text 10"/>
          <p:cNvSpPr/>
          <p:nvPr/>
        </p:nvSpPr>
        <p:spPr>
          <a:xfrm>
            <a:off x="914400" y="4572000"/>
            <a:ext cx="10515600" cy="777240"/>
          </a:xfrm>
          <a:prstGeom prst="rect">
            <a:avLst/>
          </a:prstGeom>
          <a:noFill/>
          <a:ln/>
        </p:spPr>
        <p:txBody>
          <a:bodyPr wrap="square" lIns="0" tIns="0" rIns="0" bIns="0" rtlCol="0" anchor="ctr"/>
          <a:lstStyle/>
          <a:p>
            <a:pPr marL="0" indent="0">
              <a:buNone/>
            </a:pPr>
            <a:r>
              <a:rPr lang="en-US" sz="1600" b="1" dirty="0">
                <a:solidFill>
                  <a:srgbClr val="FF9E3D"/>
                </a:solidFill>
                <a:latin typeface="Consolas" pitchFamily="34" charset="0"/>
                <a:ea typeface="Consolas" pitchFamily="34" charset="-122"/>
                <a:cs typeface="Consolas" pitchFamily="34" charset="-120"/>
              </a:rPr>
              <a:t>/write_tests </a:t>
            </a:r>
            <a:r>
              <a:rPr lang="en-US" sz="1600" dirty="0">
                <a:solidFill>
                  <a:srgbClr val="E6EDF3"/>
                </a:solidFill>
                <a:latin typeface="Consolas" pitchFamily="34" charset="0"/>
                <a:ea typeface="Consolas" pitchFamily="34" charset="-122"/>
                <a:cs typeface="Consolas" pitchFamily="34" charset="-120"/>
              </a:rPr>
              <a:t>the use-auth.ts file in the hooks directory</a:t>
            </a:r>
            <a:endParaRPr lang="en-US" sz="1600" dirty="0"/>
          </a:p>
        </p:txBody>
      </p:sp>
      <p:sp>
        <p:nvSpPr>
          <p:cNvPr id="13" name="Text 11"/>
          <p:cNvSpPr/>
          <p:nvPr/>
        </p:nvSpPr>
        <p:spPr>
          <a:xfrm>
            <a:off x="731520" y="5486400"/>
            <a:ext cx="10698480" cy="365760"/>
          </a:xfrm>
          <a:prstGeom prst="rect">
            <a:avLst/>
          </a:prstGeom>
          <a:noFill/>
          <a:ln/>
        </p:spPr>
        <p:txBody>
          <a:bodyPr wrap="square" lIns="0" tIns="0" rIns="0" bIns="0" rtlCol="0" anchor="ctr"/>
          <a:lstStyle/>
          <a:p>
            <a:pPr marL="0" indent="0">
              <a:buNone/>
            </a:pPr>
            <a:r>
              <a:rPr lang="en-US" sz="1200" i="1" dirty="0">
                <a:solidFill>
                  <a:srgbClr val="B9C4D0"/>
                </a:solidFill>
                <a:latin typeface="Calibri" pitchFamily="34" charset="0"/>
                <a:ea typeface="Calibri" pitchFamily="34" charset="-122"/>
                <a:cs typeface="Calibri" pitchFamily="34" charset="-120"/>
              </a:rPr>
              <a:t>→ Everything after "/write_tests" gets substituted for $ARGUMENTS. Arguments can be file paths, descriptions, anything.</a:t>
            </a:r>
            <a:endParaRPr lang="en-US" sz="1200" dirty="0"/>
          </a:p>
        </p:txBody>
      </p:sp>
      <p:sp>
        <p:nvSpPr>
          <p:cNvPr id="14" name="Text 12"/>
          <p:cNvSpPr/>
          <p:nvPr/>
        </p:nvSpPr>
        <p:spPr>
          <a:xfrm>
            <a:off x="731520" y="5989320"/>
            <a:ext cx="10698480" cy="320040"/>
          </a:xfrm>
          <a:prstGeom prst="rect">
            <a:avLst/>
          </a:prstGeom>
          <a:noFill/>
          <a:ln/>
        </p:spPr>
        <p:txBody>
          <a:bodyPr wrap="square" lIns="0" tIns="0" rIns="0" bIns="0" rtlCol="0" anchor="ctr"/>
          <a:lstStyle/>
          <a:p>
            <a:pPr marL="0" indent="0" algn="ctr">
              <a:buNone/>
            </a:pPr>
            <a:r>
              <a:rPr lang="en-US" sz="1100" b="1" dirty="0">
                <a:solidFill>
                  <a:srgbClr val="FF9E3D"/>
                </a:solidFill>
                <a:latin typeface="Consolas" pitchFamily="34" charset="0"/>
                <a:ea typeface="Consolas" pitchFamily="34" charset="-122"/>
                <a:cs typeface="Consolas" pitchFamily="34" charset="-120"/>
              </a:rPr>
              <a:t>Automation </a:t>
            </a:r>
            <a:r>
              <a:rPr lang="en-US" sz="1100" dirty="0">
                <a:solidFill>
                  <a:srgbClr val="6B7785"/>
                </a:solidFill>
              </a:rPr>
              <a:t>·  </a:t>
            </a:r>
            <a:r>
              <a:rPr lang="en-US" sz="1100" b="1" dirty="0">
                <a:solidFill>
                  <a:srgbClr val="5EB3F5"/>
                </a:solidFill>
                <a:latin typeface="Consolas" pitchFamily="34" charset="0"/>
                <a:ea typeface="Consolas" pitchFamily="34" charset="-122"/>
                <a:cs typeface="Consolas" pitchFamily="34" charset="-120"/>
              </a:rPr>
              <a:t>Consistency </a:t>
            </a:r>
            <a:r>
              <a:rPr lang="en-US" sz="1100" dirty="0">
                <a:solidFill>
                  <a:srgbClr val="6B7785"/>
                </a:solidFill>
              </a:rPr>
              <a:t>·  </a:t>
            </a:r>
            <a:r>
              <a:rPr lang="en-US" sz="1100" b="1" dirty="0">
                <a:solidFill>
                  <a:srgbClr val="8AE65C"/>
                </a:solidFill>
                <a:latin typeface="Consolas" pitchFamily="34" charset="0"/>
                <a:ea typeface="Consolas" pitchFamily="34" charset="-122"/>
                <a:cs typeface="Consolas" pitchFamily="34" charset="-120"/>
              </a:rPr>
              <a:t>Context </a:t>
            </a:r>
            <a:r>
              <a:rPr lang="en-US" sz="1100" dirty="0">
                <a:solidFill>
                  <a:srgbClr val="6B7785"/>
                </a:solidFill>
              </a:rPr>
              <a:t>·  </a:t>
            </a:r>
            <a:r>
              <a:rPr lang="en-US" sz="1100" b="1" dirty="0">
                <a:solidFill>
                  <a:srgbClr val="C792EA"/>
                </a:solidFill>
                <a:latin typeface="Consolas" pitchFamily="34" charset="0"/>
                <a:ea typeface="Consolas" pitchFamily="34" charset="-122"/>
                <a:cs typeface="Consolas" pitchFamily="34" charset="-120"/>
              </a:rPr>
              <a:t>Flexibility</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section_4/mcp_intro.md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26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Extending Claude Code: MCP servers</a:t>
            </a:r>
            <a:endParaRPr lang="en-US" sz="3000" dirty="0"/>
          </a:p>
        </p:txBody>
      </p:sp>
      <p:sp>
        <p:nvSpPr>
          <p:cNvPr id="6" name="Text 4"/>
          <p:cNvSpPr/>
          <p:nvPr/>
        </p:nvSpPr>
        <p:spPr>
          <a:xfrm>
            <a:off x="731520" y="1417320"/>
            <a:ext cx="10972800" cy="50292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Model Context Protocol servers extend Claude with new tools. They run remotely or on your machine.</a:t>
            </a:r>
            <a:endParaRPr lang="en-US" sz="1400" dirty="0"/>
          </a:p>
        </p:txBody>
      </p:sp>
      <p:sp>
        <p:nvSpPr>
          <p:cNvPr id="7" name="Shape 5"/>
          <p:cNvSpPr/>
          <p:nvPr/>
        </p:nvSpPr>
        <p:spPr>
          <a:xfrm>
            <a:off x="4907128" y="3566160"/>
            <a:ext cx="2377440" cy="914400"/>
          </a:xfrm>
          <a:prstGeom prst="rect">
            <a:avLst/>
          </a:prstGeom>
          <a:solidFill>
            <a:srgbClr val="131820"/>
          </a:solidFill>
          <a:ln w="25400">
            <a:solidFill>
              <a:srgbClr val="FF9E3D"/>
            </a:solidFill>
            <a:prstDash val="solid"/>
          </a:ln>
        </p:spPr>
        <p:txBody>
          <a:bodyPr/>
          <a:lstStyle/>
          <a:p>
            <a:endParaRPr lang="en-GB"/>
          </a:p>
        </p:txBody>
      </p:sp>
      <p:pic>
        <p:nvPicPr>
          <p:cNvPr id="8" name="Image 0" descr="preencoded.png"/>
          <p:cNvPicPr>
            <a:picLocks noChangeAspect="1"/>
          </p:cNvPicPr>
          <p:nvPr/>
        </p:nvPicPr>
        <p:blipFill>
          <a:blip r:embed="rId3"/>
          <a:stretch>
            <a:fillRect/>
          </a:stretch>
        </p:blipFill>
        <p:spPr>
          <a:xfrm>
            <a:off x="5090008" y="3749040"/>
            <a:ext cx="548640" cy="548640"/>
          </a:xfrm>
          <a:prstGeom prst="rect">
            <a:avLst/>
          </a:prstGeom>
        </p:spPr>
      </p:pic>
      <p:sp>
        <p:nvSpPr>
          <p:cNvPr id="9" name="Text 6"/>
          <p:cNvSpPr/>
          <p:nvPr/>
        </p:nvSpPr>
        <p:spPr>
          <a:xfrm>
            <a:off x="5730088" y="3566160"/>
            <a:ext cx="1554480" cy="914400"/>
          </a:xfrm>
          <a:prstGeom prst="rect">
            <a:avLst/>
          </a:prstGeom>
          <a:noFill/>
          <a:ln/>
        </p:spPr>
        <p:txBody>
          <a:bodyPr wrap="square" lIns="0" tIns="0" rIns="0" bIns="0" rtlCol="0" anchor="ctr"/>
          <a:lstStyle/>
          <a:p>
            <a:pPr marL="0" indent="0">
              <a:buNone/>
            </a:pPr>
            <a:r>
              <a:rPr lang="en-US" sz="1600" b="1" dirty="0">
                <a:solidFill>
                  <a:srgbClr val="E6EDF3"/>
                </a:solidFill>
                <a:latin typeface="Consolas" pitchFamily="34" charset="0"/>
                <a:ea typeface="Consolas" pitchFamily="34" charset="-122"/>
                <a:cs typeface="Consolas" pitchFamily="34" charset="-120"/>
              </a:rPr>
              <a:t>Claude Code</a:t>
            </a:r>
            <a:endParaRPr lang="en-US" sz="1600" dirty="0"/>
          </a:p>
        </p:txBody>
      </p:sp>
      <p:sp>
        <p:nvSpPr>
          <p:cNvPr id="10" name="Shape 7"/>
          <p:cNvSpPr/>
          <p:nvPr/>
        </p:nvSpPr>
        <p:spPr>
          <a:xfrm>
            <a:off x="914400" y="2560320"/>
            <a:ext cx="2651760" cy="914400"/>
          </a:xfrm>
          <a:prstGeom prst="rect">
            <a:avLst/>
          </a:prstGeom>
          <a:solidFill>
            <a:srgbClr val="131820"/>
          </a:solidFill>
          <a:ln w="12700">
            <a:solidFill>
              <a:srgbClr val="2A3441"/>
            </a:solidFill>
            <a:prstDash val="solid"/>
          </a:ln>
        </p:spPr>
        <p:txBody>
          <a:bodyPr/>
          <a:lstStyle/>
          <a:p>
            <a:endParaRPr lang="en-GB"/>
          </a:p>
        </p:txBody>
      </p:sp>
      <p:pic>
        <p:nvPicPr>
          <p:cNvPr id="11" name="Image 1" descr="preencoded.png"/>
          <p:cNvPicPr>
            <a:picLocks noChangeAspect="1"/>
          </p:cNvPicPr>
          <p:nvPr/>
        </p:nvPicPr>
        <p:blipFill>
          <a:blip r:embed="rId4"/>
          <a:stretch>
            <a:fillRect/>
          </a:stretch>
        </p:blipFill>
        <p:spPr>
          <a:xfrm>
            <a:off x="1097280" y="2743200"/>
            <a:ext cx="502920" cy="502920"/>
          </a:xfrm>
          <a:prstGeom prst="rect">
            <a:avLst/>
          </a:prstGeom>
        </p:spPr>
      </p:pic>
      <p:sp>
        <p:nvSpPr>
          <p:cNvPr id="12" name="Text 8"/>
          <p:cNvSpPr/>
          <p:nvPr/>
        </p:nvSpPr>
        <p:spPr>
          <a:xfrm>
            <a:off x="1737360" y="2651760"/>
            <a:ext cx="1737360" cy="36576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Playwright</a:t>
            </a:r>
            <a:endParaRPr lang="en-US" sz="1400" dirty="0"/>
          </a:p>
        </p:txBody>
      </p:sp>
      <p:sp>
        <p:nvSpPr>
          <p:cNvPr id="13" name="Text 9"/>
          <p:cNvSpPr/>
          <p:nvPr/>
        </p:nvSpPr>
        <p:spPr>
          <a:xfrm>
            <a:off x="1737360" y="3017520"/>
            <a:ext cx="1737360" cy="36576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Browser control</a:t>
            </a:r>
            <a:endParaRPr lang="en-US" sz="1100" dirty="0"/>
          </a:p>
        </p:txBody>
      </p:sp>
      <p:sp>
        <p:nvSpPr>
          <p:cNvPr id="14" name="Shape 10"/>
          <p:cNvSpPr/>
          <p:nvPr/>
        </p:nvSpPr>
        <p:spPr>
          <a:xfrm>
            <a:off x="3566160" y="3017520"/>
            <a:ext cx="1340968" cy="1005840"/>
          </a:xfrm>
          <a:prstGeom prst="line">
            <a:avLst/>
          </a:prstGeom>
          <a:noFill/>
          <a:ln w="12700">
            <a:solidFill>
              <a:srgbClr val="FF9E3D"/>
            </a:solidFill>
            <a:prstDash val="dash"/>
          </a:ln>
        </p:spPr>
        <p:txBody>
          <a:bodyPr/>
          <a:lstStyle/>
          <a:p>
            <a:endParaRPr lang="en-GB"/>
          </a:p>
        </p:txBody>
      </p:sp>
      <p:sp>
        <p:nvSpPr>
          <p:cNvPr id="15" name="Shape 11"/>
          <p:cNvSpPr/>
          <p:nvPr/>
        </p:nvSpPr>
        <p:spPr>
          <a:xfrm>
            <a:off x="8595360" y="2560320"/>
            <a:ext cx="2651760" cy="914400"/>
          </a:xfrm>
          <a:prstGeom prst="rect">
            <a:avLst/>
          </a:prstGeom>
          <a:solidFill>
            <a:srgbClr val="131820"/>
          </a:solidFill>
          <a:ln w="12700">
            <a:solidFill>
              <a:srgbClr val="2A3441"/>
            </a:solidFill>
            <a:prstDash val="solid"/>
          </a:ln>
        </p:spPr>
        <p:txBody>
          <a:bodyPr/>
          <a:lstStyle/>
          <a:p>
            <a:endParaRPr lang="en-GB"/>
          </a:p>
        </p:txBody>
      </p:sp>
      <p:pic>
        <p:nvPicPr>
          <p:cNvPr id="16" name="Image 2" descr="preencoded.png"/>
          <p:cNvPicPr>
            <a:picLocks noChangeAspect="1"/>
          </p:cNvPicPr>
          <p:nvPr/>
        </p:nvPicPr>
        <p:blipFill>
          <a:blip r:embed="rId5"/>
          <a:stretch>
            <a:fillRect/>
          </a:stretch>
        </p:blipFill>
        <p:spPr>
          <a:xfrm>
            <a:off x="8778240" y="2743200"/>
            <a:ext cx="502920" cy="502920"/>
          </a:xfrm>
          <a:prstGeom prst="rect">
            <a:avLst/>
          </a:prstGeom>
        </p:spPr>
      </p:pic>
      <p:sp>
        <p:nvSpPr>
          <p:cNvPr id="17" name="Text 12"/>
          <p:cNvSpPr/>
          <p:nvPr/>
        </p:nvSpPr>
        <p:spPr>
          <a:xfrm>
            <a:off x="9418320" y="2651760"/>
            <a:ext cx="1737360" cy="36576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GitHub</a:t>
            </a:r>
            <a:endParaRPr lang="en-US" sz="1400" dirty="0"/>
          </a:p>
        </p:txBody>
      </p:sp>
      <p:sp>
        <p:nvSpPr>
          <p:cNvPr id="18" name="Text 13"/>
          <p:cNvSpPr/>
          <p:nvPr/>
        </p:nvSpPr>
        <p:spPr>
          <a:xfrm>
            <a:off x="9418320" y="3017520"/>
            <a:ext cx="1737360" cy="36576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PRs, issues</a:t>
            </a:r>
            <a:endParaRPr lang="en-US" sz="1100" dirty="0"/>
          </a:p>
        </p:txBody>
      </p:sp>
      <p:sp>
        <p:nvSpPr>
          <p:cNvPr id="19" name="Shape 14"/>
          <p:cNvSpPr/>
          <p:nvPr/>
        </p:nvSpPr>
        <p:spPr>
          <a:xfrm>
            <a:off x="7284568" y="3017520"/>
            <a:ext cx="1310792" cy="1005840"/>
          </a:xfrm>
          <a:prstGeom prst="line">
            <a:avLst/>
          </a:prstGeom>
          <a:noFill/>
          <a:ln w="12700">
            <a:solidFill>
              <a:srgbClr val="FF9E3D"/>
            </a:solidFill>
            <a:prstDash val="dash"/>
          </a:ln>
        </p:spPr>
        <p:txBody>
          <a:bodyPr/>
          <a:lstStyle/>
          <a:p>
            <a:endParaRPr lang="en-GB"/>
          </a:p>
        </p:txBody>
      </p:sp>
      <p:sp>
        <p:nvSpPr>
          <p:cNvPr id="20" name="Shape 15"/>
          <p:cNvSpPr/>
          <p:nvPr/>
        </p:nvSpPr>
        <p:spPr>
          <a:xfrm>
            <a:off x="914400" y="4846320"/>
            <a:ext cx="2651760" cy="914400"/>
          </a:xfrm>
          <a:prstGeom prst="rect">
            <a:avLst/>
          </a:prstGeom>
          <a:solidFill>
            <a:srgbClr val="131820"/>
          </a:solidFill>
          <a:ln w="12700">
            <a:solidFill>
              <a:srgbClr val="2A3441"/>
            </a:solidFill>
            <a:prstDash val="solid"/>
          </a:ln>
        </p:spPr>
        <p:txBody>
          <a:bodyPr/>
          <a:lstStyle/>
          <a:p>
            <a:endParaRPr lang="en-GB"/>
          </a:p>
        </p:txBody>
      </p:sp>
      <p:pic>
        <p:nvPicPr>
          <p:cNvPr id="21" name="Image 3" descr="preencoded.png"/>
          <p:cNvPicPr>
            <a:picLocks noChangeAspect="1"/>
          </p:cNvPicPr>
          <p:nvPr/>
        </p:nvPicPr>
        <p:blipFill>
          <a:blip r:embed="rId6"/>
          <a:stretch>
            <a:fillRect/>
          </a:stretch>
        </p:blipFill>
        <p:spPr>
          <a:xfrm>
            <a:off x="1097280" y="5029200"/>
            <a:ext cx="502920" cy="502920"/>
          </a:xfrm>
          <a:prstGeom prst="rect">
            <a:avLst/>
          </a:prstGeom>
        </p:spPr>
      </p:pic>
      <p:sp>
        <p:nvSpPr>
          <p:cNvPr id="22" name="Text 16"/>
          <p:cNvSpPr/>
          <p:nvPr/>
        </p:nvSpPr>
        <p:spPr>
          <a:xfrm>
            <a:off x="1737360" y="4937760"/>
            <a:ext cx="1737360" cy="36576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Postgres</a:t>
            </a:r>
            <a:endParaRPr lang="en-US" sz="1400" dirty="0"/>
          </a:p>
        </p:txBody>
      </p:sp>
      <p:sp>
        <p:nvSpPr>
          <p:cNvPr id="23" name="Text 17"/>
          <p:cNvSpPr/>
          <p:nvPr/>
        </p:nvSpPr>
        <p:spPr>
          <a:xfrm>
            <a:off x="1737360" y="5303520"/>
            <a:ext cx="1737360" cy="36576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DB queries</a:t>
            </a:r>
            <a:endParaRPr lang="en-US" sz="1100" dirty="0"/>
          </a:p>
        </p:txBody>
      </p:sp>
      <p:sp>
        <p:nvSpPr>
          <p:cNvPr id="24" name="Shape 18"/>
          <p:cNvSpPr/>
          <p:nvPr/>
        </p:nvSpPr>
        <p:spPr>
          <a:xfrm flipV="1">
            <a:off x="3566160" y="4023360"/>
            <a:ext cx="1340968" cy="1280160"/>
          </a:xfrm>
          <a:prstGeom prst="line">
            <a:avLst/>
          </a:prstGeom>
          <a:noFill/>
          <a:ln w="12700">
            <a:solidFill>
              <a:srgbClr val="FF9E3D"/>
            </a:solidFill>
            <a:prstDash val="dash"/>
          </a:ln>
        </p:spPr>
        <p:txBody>
          <a:bodyPr/>
          <a:lstStyle/>
          <a:p>
            <a:endParaRPr lang="en-GB"/>
          </a:p>
        </p:txBody>
      </p:sp>
      <p:sp>
        <p:nvSpPr>
          <p:cNvPr id="25" name="Shape 19"/>
          <p:cNvSpPr/>
          <p:nvPr/>
        </p:nvSpPr>
        <p:spPr>
          <a:xfrm>
            <a:off x="8595360" y="4846320"/>
            <a:ext cx="2651760" cy="914400"/>
          </a:xfrm>
          <a:prstGeom prst="rect">
            <a:avLst/>
          </a:prstGeom>
          <a:solidFill>
            <a:srgbClr val="131820"/>
          </a:solidFill>
          <a:ln w="12700">
            <a:solidFill>
              <a:srgbClr val="2A3441"/>
            </a:solidFill>
            <a:prstDash val="solid"/>
          </a:ln>
        </p:spPr>
        <p:txBody>
          <a:bodyPr/>
          <a:lstStyle/>
          <a:p>
            <a:endParaRPr lang="en-GB"/>
          </a:p>
        </p:txBody>
      </p:sp>
      <p:pic>
        <p:nvPicPr>
          <p:cNvPr id="26" name="Image 4" descr="preencoded.png"/>
          <p:cNvPicPr>
            <a:picLocks noChangeAspect="1"/>
          </p:cNvPicPr>
          <p:nvPr/>
        </p:nvPicPr>
        <p:blipFill>
          <a:blip r:embed="rId7"/>
          <a:stretch>
            <a:fillRect/>
          </a:stretch>
        </p:blipFill>
        <p:spPr>
          <a:xfrm>
            <a:off x="8778240" y="5029200"/>
            <a:ext cx="502920" cy="502920"/>
          </a:xfrm>
          <a:prstGeom prst="rect">
            <a:avLst/>
          </a:prstGeom>
        </p:spPr>
      </p:pic>
      <p:sp>
        <p:nvSpPr>
          <p:cNvPr id="27" name="Text 20"/>
          <p:cNvSpPr/>
          <p:nvPr/>
        </p:nvSpPr>
        <p:spPr>
          <a:xfrm>
            <a:off x="9418320" y="4937760"/>
            <a:ext cx="1737360" cy="36576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Custom</a:t>
            </a:r>
            <a:endParaRPr lang="en-US" sz="1400" dirty="0"/>
          </a:p>
        </p:txBody>
      </p:sp>
      <p:sp>
        <p:nvSpPr>
          <p:cNvPr id="28" name="Text 21"/>
          <p:cNvSpPr/>
          <p:nvPr/>
        </p:nvSpPr>
        <p:spPr>
          <a:xfrm>
            <a:off x="9418320" y="5303520"/>
            <a:ext cx="1737360" cy="365760"/>
          </a:xfrm>
          <a:prstGeom prst="rect">
            <a:avLst/>
          </a:prstGeom>
          <a:noFill/>
          <a:ln/>
        </p:spPr>
        <p:txBody>
          <a:bodyPr wrap="square" lIns="0" tIns="0" rIns="0" bIns="0" rtlCol="0" anchor="ctr"/>
          <a:lstStyle/>
          <a:p>
            <a:pPr marL="0" indent="0">
              <a:buNone/>
            </a:pPr>
            <a:r>
              <a:rPr lang="en-US" sz="1100" dirty="0">
                <a:solidFill>
                  <a:srgbClr val="B9C4D0"/>
                </a:solidFill>
                <a:latin typeface="Calibri" pitchFamily="34" charset="0"/>
                <a:ea typeface="Calibri" pitchFamily="34" charset="-122"/>
                <a:cs typeface="Calibri" pitchFamily="34" charset="-120"/>
              </a:rPr>
              <a:t>Your toolchain</a:t>
            </a:r>
            <a:endParaRPr lang="en-US" sz="1100" dirty="0"/>
          </a:p>
        </p:txBody>
      </p:sp>
      <p:sp>
        <p:nvSpPr>
          <p:cNvPr id="29" name="Shape 22"/>
          <p:cNvSpPr/>
          <p:nvPr/>
        </p:nvSpPr>
        <p:spPr>
          <a:xfrm flipV="1">
            <a:off x="7284568" y="4023360"/>
            <a:ext cx="1310792" cy="1280160"/>
          </a:xfrm>
          <a:prstGeom prst="line">
            <a:avLst/>
          </a:prstGeom>
          <a:noFill/>
          <a:ln w="12700">
            <a:solidFill>
              <a:srgbClr val="FF9E3D"/>
            </a:solidFill>
            <a:prstDash val="dash"/>
          </a:ln>
        </p:spPr>
        <p:txBody>
          <a:bodyPr/>
          <a:lstStyle/>
          <a:p>
            <a:endParaRPr lang="en-GB"/>
          </a:p>
        </p:txBody>
      </p:sp>
      <p:sp>
        <p:nvSpPr>
          <p:cNvPr id="30" name="Text 23"/>
          <p:cNvSpPr/>
          <p:nvPr/>
        </p:nvSpPr>
        <p:spPr>
          <a:xfrm>
            <a:off x="731520" y="6080760"/>
            <a:ext cx="10972800" cy="320040"/>
          </a:xfrm>
          <a:prstGeom prst="rect">
            <a:avLst/>
          </a:prstGeom>
          <a:noFill/>
          <a:ln/>
        </p:spPr>
        <p:txBody>
          <a:bodyPr wrap="square" lIns="0" tIns="0" rIns="0" bIns="0" rtlCol="0" anchor="ctr"/>
          <a:lstStyle/>
          <a:p>
            <a:pPr marL="0" indent="0">
              <a:buNone/>
            </a:pPr>
            <a:r>
              <a:rPr lang="en-US" sz="1200" i="1" dirty="0">
                <a:solidFill>
                  <a:srgbClr val="5EB3F5"/>
                </a:solidFill>
                <a:latin typeface="Calibri" pitchFamily="34" charset="0"/>
                <a:ea typeface="Calibri" pitchFamily="34" charset="-122"/>
                <a:cs typeface="Calibri" pitchFamily="34" charset="-120"/>
              </a:rPr>
              <a:t>→ Each server gives Claude a new family of tools — browser control, DB access, cloud APIs, whatever.</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section_4/install_playwright.md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27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Install Playwright MCP</a:t>
            </a:r>
            <a:endParaRPr lang="en-US" sz="3000" dirty="0"/>
          </a:p>
        </p:txBody>
      </p:sp>
      <p:sp>
        <p:nvSpPr>
          <p:cNvPr id="6" name="Text 4"/>
          <p:cNvSpPr/>
          <p:nvPr/>
        </p:nvSpPr>
        <p:spPr>
          <a:xfrm>
            <a:off x="731520" y="1508760"/>
            <a:ext cx="10972800" cy="36576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1. Install the server</a:t>
            </a:r>
            <a:endParaRPr lang="en-US" sz="1400" dirty="0"/>
          </a:p>
        </p:txBody>
      </p:sp>
      <p:sp>
        <p:nvSpPr>
          <p:cNvPr id="7" name="Shape 5"/>
          <p:cNvSpPr/>
          <p:nvPr/>
        </p:nvSpPr>
        <p:spPr>
          <a:xfrm>
            <a:off x="731520" y="1874520"/>
            <a:ext cx="10698480" cy="640080"/>
          </a:xfrm>
          <a:prstGeom prst="rect">
            <a:avLst/>
          </a:prstGeom>
          <a:solidFill>
            <a:srgbClr val="1A2030"/>
          </a:solidFill>
          <a:ln w="12700">
            <a:solidFill>
              <a:srgbClr val="2A3441"/>
            </a:solidFill>
            <a:prstDash val="solid"/>
          </a:ln>
        </p:spPr>
        <p:txBody>
          <a:bodyPr/>
          <a:lstStyle/>
          <a:p>
            <a:endParaRPr lang="en-GB"/>
          </a:p>
        </p:txBody>
      </p:sp>
      <p:sp>
        <p:nvSpPr>
          <p:cNvPr id="8" name="Text 6"/>
          <p:cNvSpPr/>
          <p:nvPr/>
        </p:nvSpPr>
        <p:spPr>
          <a:xfrm>
            <a:off x="914400" y="1874520"/>
            <a:ext cx="10515600" cy="640080"/>
          </a:xfrm>
          <a:prstGeom prst="rect">
            <a:avLst/>
          </a:prstGeom>
          <a:noFill/>
          <a:ln/>
        </p:spPr>
        <p:txBody>
          <a:bodyPr wrap="square" lIns="0" tIns="0" rIns="0" bIns="0" rtlCol="0" anchor="ctr"/>
          <a:lstStyle/>
          <a:p>
            <a:pPr marL="0" indent="0">
              <a:buNone/>
            </a:pPr>
            <a:r>
              <a:rPr lang="en-US" sz="1300" b="1" dirty="0">
                <a:solidFill>
                  <a:srgbClr val="8AE65C"/>
                </a:solidFill>
                <a:latin typeface="Consolas" pitchFamily="34" charset="0"/>
                <a:ea typeface="Consolas" pitchFamily="34" charset="-122"/>
                <a:cs typeface="Consolas" pitchFamily="34" charset="-120"/>
              </a:rPr>
              <a:t>$ </a:t>
            </a:r>
            <a:r>
              <a:rPr lang="en-US" sz="1300" dirty="0">
                <a:solidFill>
                  <a:srgbClr val="E6EDF3"/>
                </a:solidFill>
                <a:latin typeface="Consolas" pitchFamily="34" charset="0"/>
                <a:ea typeface="Consolas" pitchFamily="34" charset="-122"/>
                <a:cs typeface="Consolas" pitchFamily="34" charset="-120"/>
              </a:rPr>
              <a:t>claude mcp add playwright npx @playwright/mcp@latest</a:t>
            </a:r>
            <a:endParaRPr lang="en-US" sz="1300" dirty="0"/>
          </a:p>
        </p:txBody>
      </p:sp>
      <p:sp>
        <p:nvSpPr>
          <p:cNvPr id="9" name="Text 7"/>
          <p:cNvSpPr/>
          <p:nvPr/>
        </p:nvSpPr>
        <p:spPr>
          <a:xfrm>
            <a:off x="731520" y="2606040"/>
            <a:ext cx="10698480" cy="365760"/>
          </a:xfrm>
          <a:prstGeom prst="rect">
            <a:avLst/>
          </a:prstGeom>
          <a:noFill/>
          <a:ln/>
        </p:spPr>
        <p:txBody>
          <a:bodyPr wrap="square" lIns="0" tIns="0" rIns="0" bIns="0" rtlCol="0" anchor="ctr"/>
          <a:lstStyle/>
          <a:p>
            <a:pPr marL="0" indent="0">
              <a:buNone/>
            </a:pPr>
            <a:r>
              <a:rPr lang="en-US" sz="1100" i="1" dirty="0">
                <a:solidFill>
                  <a:srgbClr val="6B7785"/>
                </a:solidFill>
                <a:latin typeface="Calibri" pitchFamily="34" charset="0"/>
                <a:ea typeface="Calibri" pitchFamily="34" charset="-122"/>
                <a:cs typeface="Calibri" pitchFamily="34" charset="-120"/>
              </a:rPr>
              <a:t>Run this in your terminal — NOT inside Claude Code. Names the server "playwright" and registers the launch command.</a:t>
            </a:r>
            <a:endParaRPr lang="en-US" sz="1100" dirty="0"/>
          </a:p>
        </p:txBody>
      </p:sp>
      <p:sp>
        <p:nvSpPr>
          <p:cNvPr id="10" name="Text 8"/>
          <p:cNvSpPr/>
          <p:nvPr/>
        </p:nvSpPr>
        <p:spPr>
          <a:xfrm>
            <a:off x="731520" y="3154680"/>
            <a:ext cx="10972800" cy="36576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2. (Optional) pre-approve permissions</a:t>
            </a:r>
            <a:endParaRPr lang="en-US" sz="1400" dirty="0"/>
          </a:p>
        </p:txBody>
      </p:sp>
      <p:sp>
        <p:nvSpPr>
          <p:cNvPr id="11" name="Text 9"/>
          <p:cNvSpPr/>
          <p:nvPr/>
        </p:nvSpPr>
        <p:spPr>
          <a:xfrm>
            <a:off x="731520" y="3520440"/>
            <a:ext cx="10972800" cy="274320"/>
          </a:xfrm>
          <a:prstGeom prst="rect">
            <a:avLst/>
          </a:prstGeom>
          <a:noFill/>
          <a:ln/>
        </p:spPr>
        <p:txBody>
          <a:bodyPr wrap="square" lIns="0" tIns="0" rIns="0" bIns="0" rtlCol="0" anchor="ctr"/>
          <a:lstStyle/>
          <a:p>
            <a:pPr marL="0" indent="0">
              <a:buNone/>
            </a:pPr>
            <a:r>
              <a:rPr lang="en-US" sz="1000" i="1" dirty="0">
                <a:solidFill>
                  <a:srgbClr val="6B7785"/>
                </a:solidFill>
                <a:latin typeface="Consolas" pitchFamily="34" charset="0"/>
                <a:ea typeface="Consolas" pitchFamily="34" charset="-122"/>
                <a:cs typeface="Consolas" pitchFamily="34" charset="-120"/>
              </a:rPr>
              <a:t>.claude/settings.local.json</a:t>
            </a:r>
            <a:endParaRPr lang="en-US" sz="1000" dirty="0"/>
          </a:p>
        </p:txBody>
      </p:sp>
      <p:sp>
        <p:nvSpPr>
          <p:cNvPr id="12" name="Shape 10"/>
          <p:cNvSpPr/>
          <p:nvPr/>
        </p:nvSpPr>
        <p:spPr>
          <a:xfrm>
            <a:off x="731520" y="3840480"/>
            <a:ext cx="10698480" cy="1783080"/>
          </a:xfrm>
          <a:prstGeom prst="rect">
            <a:avLst/>
          </a:prstGeom>
          <a:solidFill>
            <a:srgbClr val="1A2030"/>
          </a:solidFill>
          <a:ln w="12700">
            <a:solidFill>
              <a:srgbClr val="2A3441"/>
            </a:solidFill>
            <a:prstDash val="solid"/>
          </a:ln>
        </p:spPr>
        <p:txBody>
          <a:bodyPr/>
          <a:lstStyle/>
          <a:p>
            <a:endParaRPr lang="en-GB"/>
          </a:p>
        </p:txBody>
      </p:sp>
      <p:sp>
        <p:nvSpPr>
          <p:cNvPr id="13" name="Text 11"/>
          <p:cNvSpPr/>
          <p:nvPr/>
        </p:nvSpPr>
        <p:spPr>
          <a:xfrm>
            <a:off x="914400" y="3931920"/>
            <a:ext cx="10515600" cy="1600200"/>
          </a:xfrm>
          <a:prstGeom prst="rect">
            <a:avLst/>
          </a:prstGeom>
          <a:noFill/>
          <a:ln/>
        </p:spPr>
        <p:txBody>
          <a:bodyPr wrap="square" lIns="0" tIns="0" rIns="0" bIns="0" rtlCol="0" anchor="t"/>
          <a:lstStyle/>
          <a:p>
            <a:pPr marL="0" indent="0">
              <a:buNone/>
            </a:pPr>
            <a:r>
              <a:rPr lang="en-US" sz="1300" dirty="0">
                <a:solidFill>
                  <a:srgbClr val="B9C4D0"/>
                </a:solidFill>
                <a:latin typeface="Consolas" pitchFamily="34" charset="0"/>
                <a:ea typeface="Consolas" pitchFamily="34" charset="-122"/>
                <a:cs typeface="Consolas" pitchFamily="34" charset="-120"/>
              </a:rPr>
              <a:t>{</a:t>
            </a:r>
            <a:endParaRPr lang="en-US" sz="1300" dirty="0"/>
          </a:p>
          <a:p>
            <a:pPr marL="0" indent="0">
              <a:buNone/>
            </a:pPr>
            <a:r>
              <a:rPr lang="en-US" sz="1300" dirty="0">
                <a:solidFill>
                  <a:srgbClr val="5EB3F5"/>
                </a:solidFill>
                <a:latin typeface="Consolas" pitchFamily="34" charset="0"/>
                <a:ea typeface="Consolas" pitchFamily="34" charset="-122"/>
                <a:cs typeface="Consolas" pitchFamily="34" charset="-120"/>
              </a:rPr>
              <a:t>  "permissions": {</a:t>
            </a:r>
            <a:endParaRPr lang="en-US" sz="1300" dirty="0"/>
          </a:p>
          <a:p>
            <a:pPr marL="0" indent="0">
              <a:buNone/>
            </a:pPr>
            <a:r>
              <a:rPr lang="en-US" sz="1300" dirty="0">
                <a:solidFill>
                  <a:srgbClr val="B9C4D0"/>
                </a:solidFill>
                <a:latin typeface="Consolas" pitchFamily="34" charset="0"/>
                <a:ea typeface="Consolas" pitchFamily="34" charset="-122"/>
                <a:cs typeface="Consolas" pitchFamily="34" charset="-120"/>
              </a:rPr>
              <a:t>    "allow": [</a:t>
            </a:r>
            <a:r>
              <a:rPr lang="en-US" sz="1300" b="1" dirty="0">
                <a:solidFill>
                  <a:srgbClr val="FF9E3D"/>
                </a:solidFill>
                <a:latin typeface="Consolas" pitchFamily="34" charset="0"/>
                <a:ea typeface="Consolas" pitchFamily="34" charset="-122"/>
                <a:cs typeface="Consolas" pitchFamily="34" charset="-120"/>
              </a:rPr>
              <a:t>"mcp__playwright"</a:t>
            </a:r>
            <a:r>
              <a:rPr lang="en-US" sz="1300" dirty="0">
                <a:solidFill>
                  <a:srgbClr val="B9C4D0"/>
                </a:solidFill>
                <a:latin typeface="Consolas" pitchFamily="34" charset="0"/>
                <a:ea typeface="Consolas" pitchFamily="34" charset="-122"/>
                <a:cs typeface="Consolas" pitchFamily="34" charset="-120"/>
              </a:rPr>
              <a:t>],</a:t>
            </a:r>
            <a:endParaRPr lang="en-US" sz="1300" dirty="0"/>
          </a:p>
          <a:p>
            <a:pPr marL="0" indent="0">
              <a:buNone/>
            </a:pPr>
            <a:r>
              <a:rPr lang="en-US" sz="1300" dirty="0">
                <a:solidFill>
                  <a:srgbClr val="B9C4D0"/>
                </a:solidFill>
                <a:latin typeface="Consolas" pitchFamily="34" charset="0"/>
                <a:ea typeface="Consolas" pitchFamily="34" charset="-122"/>
                <a:cs typeface="Consolas" pitchFamily="34" charset="-120"/>
              </a:rPr>
              <a:t>    "deny": []</a:t>
            </a:r>
            <a:endParaRPr lang="en-US" sz="1300" dirty="0"/>
          </a:p>
          <a:p>
            <a:pPr marL="0" indent="0">
              <a:buNone/>
            </a:pPr>
            <a:r>
              <a:rPr lang="en-US" sz="1300" dirty="0">
                <a:solidFill>
                  <a:srgbClr val="5EB3F5"/>
                </a:solidFill>
                <a:latin typeface="Consolas" pitchFamily="34" charset="0"/>
                <a:ea typeface="Consolas" pitchFamily="34" charset="-122"/>
                <a:cs typeface="Consolas" pitchFamily="34" charset="-120"/>
              </a:rPr>
              <a:t>  }</a:t>
            </a:r>
            <a:endParaRPr lang="en-US" sz="1300" dirty="0"/>
          </a:p>
          <a:p>
            <a:pPr marL="0" indent="0">
              <a:buNone/>
            </a:pPr>
            <a:r>
              <a:rPr lang="en-US" sz="1300" dirty="0">
                <a:solidFill>
                  <a:srgbClr val="B9C4D0"/>
                </a:solidFill>
                <a:latin typeface="Consolas" pitchFamily="34" charset="0"/>
                <a:ea typeface="Consolas" pitchFamily="34" charset="-122"/>
                <a:cs typeface="Consolas" pitchFamily="34" charset="-120"/>
              </a:rPr>
              <a:t>}</a:t>
            </a:r>
            <a:endParaRPr lang="en-US" sz="1300" dirty="0"/>
          </a:p>
        </p:txBody>
      </p:sp>
      <p:pic>
        <p:nvPicPr>
          <p:cNvPr id="14" name="Image 0" descr="preencoded.png"/>
          <p:cNvPicPr>
            <a:picLocks noChangeAspect="1"/>
          </p:cNvPicPr>
          <p:nvPr/>
        </p:nvPicPr>
        <p:blipFill>
          <a:blip r:embed="rId3"/>
          <a:stretch>
            <a:fillRect/>
          </a:stretch>
        </p:blipFill>
        <p:spPr>
          <a:xfrm>
            <a:off x="731520" y="5852160"/>
            <a:ext cx="320040" cy="320040"/>
          </a:xfrm>
          <a:prstGeom prst="rect">
            <a:avLst/>
          </a:prstGeom>
        </p:spPr>
      </p:pic>
      <p:sp>
        <p:nvSpPr>
          <p:cNvPr id="15" name="Text 12"/>
          <p:cNvSpPr/>
          <p:nvPr/>
        </p:nvSpPr>
        <p:spPr>
          <a:xfrm>
            <a:off x="1143000" y="5852160"/>
            <a:ext cx="10515600" cy="365760"/>
          </a:xfrm>
          <a:prstGeom prst="rect">
            <a:avLst/>
          </a:prstGeom>
          <a:noFill/>
          <a:ln/>
        </p:spPr>
        <p:txBody>
          <a:bodyPr wrap="square" lIns="0" tIns="0" rIns="0" bIns="0" rtlCol="0" anchor="ctr"/>
          <a:lstStyle/>
          <a:p>
            <a:pPr marL="0" indent="0">
              <a:buNone/>
            </a:pPr>
            <a:r>
              <a:rPr lang="en-US" sz="1200" b="1" dirty="0">
                <a:solidFill>
                  <a:srgbClr val="F87171"/>
                </a:solidFill>
                <a:latin typeface="Consolas" pitchFamily="34" charset="0"/>
                <a:ea typeface="Consolas" pitchFamily="34" charset="-122"/>
                <a:cs typeface="Consolas" pitchFamily="34" charset="-120"/>
              </a:rPr>
              <a:t>Note: </a:t>
            </a:r>
            <a:r>
              <a:rPr lang="en-US" sz="1200" dirty="0">
                <a:solidFill>
                  <a:srgbClr val="B9C4D0"/>
                </a:solidFill>
                <a:latin typeface="Calibri" pitchFamily="34" charset="0"/>
                <a:ea typeface="Calibri" pitchFamily="34" charset="-122"/>
                <a:cs typeface="Calibri" pitchFamily="34" charset="-120"/>
              </a:rPr>
              <a:t>double underscores in </a:t>
            </a:r>
            <a:r>
              <a:rPr lang="en-US" sz="1200" b="1" dirty="0">
                <a:solidFill>
                  <a:srgbClr val="FF9E3D"/>
                </a:solidFill>
                <a:latin typeface="Consolas" pitchFamily="34" charset="0"/>
                <a:ea typeface="Consolas" pitchFamily="34" charset="-122"/>
                <a:cs typeface="Consolas" pitchFamily="34" charset="-120"/>
              </a:rPr>
              <a:t>mcp__playwright</a:t>
            </a:r>
            <a:r>
              <a:rPr lang="en-US" sz="1200" dirty="0">
                <a:solidFill>
                  <a:srgbClr val="B9C4D0"/>
                </a:solidFill>
                <a:latin typeface="Calibri" pitchFamily="34" charset="0"/>
                <a:ea typeface="Calibri" pitchFamily="34" charset="-122"/>
                <a:cs typeface="Calibri" pitchFamily="34" charset="-120"/>
              </a:rPr>
              <a:t>. Without this, Claude asks permission each time you use the tools.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section_4/github_setup.md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28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GitHub integration: setup</a:t>
            </a:r>
            <a:endParaRPr lang="en-US" sz="3000" dirty="0"/>
          </a:p>
        </p:txBody>
      </p:sp>
      <p:sp>
        <p:nvSpPr>
          <p:cNvPr id="6" name="Text 4"/>
          <p:cNvSpPr/>
          <p:nvPr/>
        </p:nvSpPr>
        <p:spPr>
          <a:xfrm>
            <a:off x="731520" y="1417320"/>
            <a:ext cx="10972800" cy="457200"/>
          </a:xfrm>
          <a:prstGeom prst="rect">
            <a:avLst/>
          </a:prstGeom>
          <a:noFill/>
          <a:ln/>
        </p:spPr>
        <p:txBody>
          <a:bodyPr wrap="square" lIns="0" tIns="0" rIns="0" bIns="0" rtlCol="0" anchor="ctr"/>
          <a:lstStyle/>
          <a:p>
            <a:pPr marL="0" indent="0">
              <a:buNone/>
            </a:pPr>
            <a:r>
              <a:rPr lang="en-US" sz="1500" dirty="0">
                <a:solidFill>
                  <a:srgbClr val="B9C4D0"/>
                </a:solidFill>
                <a:latin typeface="Calibri" pitchFamily="34" charset="0"/>
                <a:ea typeface="Calibri" pitchFamily="34" charset="-122"/>
                <a:cs typeface="Calibri" pitchFamily="34" charset="-120"/>
              </a:rPr>
              <a:t>Run Claude inside GitHub Actions. One command sets up the whole thing.</a:t>
            </a:r>
            <a:endParaRPr lang="en-US" sz="1500" dirty="0"/>
          </a:p>
        </p:txBody>
      </p:sp>
      <p:sp>
        <p:nvSpPr>
          <p:cNvPr id="7" name="Shape 5"/>
          <p:cNvSpPr/>
          <p:nvPr/>
        </p:nvSpPr>
        <p:spPr>
          <a:xfrm>
            <a:off x="731520" y="2148840"/>
            <a:ext cx="10698480" cy="868680"/>
          </a:xfrm>
          <a:prstGeom prst="rect">
            <a:avLst/>
          </a:prstGeom>
          <a:solidFill>
            <a:srgbClr val="1A2030"/>
          </a:solidFill>
          <a:ln w="25400">
            <a:solidFill>
              <a:srgbClr val="FF9E3D"/>
            </a:solidFill>
            <a:prstDash val="solid"/>
          </a:ln>
        </p:spPr>
        <p:txBody>
          <a:bodyPr/>
          <a:lstStyle/>
          <a:p>
            <a:endParaRPr lang="en-GB"/>
          </a:p>
        </p:txBody>
      </p:sp>
      <p:sp>
        <p:nvSpPr>
          <p:cNvPr id="8" name="Text 6"/>
          <p:cNvSpPr/>
          <p:nvPr/>
        </p:nvSpPr>
        <p:spPr>
          <a:xfrm>
            <a:off x="914400" y="2148840"/>
            <a:ext cx="10515600" cy="868680"/>
          </a:xfrm>
          <a:prstGeom prst="rect">
            <a:avLst/>
          </a:prstGeom>
          <a:noFill/>
          <a:ln/>
        </p:spPr>
        <p:txBody>
          <a:bodyPr wrap="square" lIns="0" tIns="0" rIns="0" bIns="0" rtlCol="0" anchor="ctr"/>
          <a:lstStyle/>
          <a:p>
            <a:pPr marL="0" indent="0">
              <a:buNone/>
            </a:pPr>
            <a:r>
              <a:rPr lang="en-US" sz="1800" b="1" dirty="0">
                <a:solidFill>
                  <a:srgbClr val="8AE65C"/>
                </a:solidFill>
                <a:latin typeface="Consolas" pitchFamily="34" charset="0"/>
                <a:ea typeface="Consolas" pitchFamily="34" charset="-122"/>
                <a:cs typeface="Consolas" pitchFamily="34" charset="-120"/>
              </a:rPr>
              <a:t>claude&gt; </a:t>
            </a:r>
            <a:r>
              <a:rPr lang="en-US" sz="1800" b="1" dirty="0">
                <a:solidFill>
                  <a:srgbClr val="FF9E3D"/>
                </a:solidFill>
                <a:latin typeface="Consolas" pitchFamily="34" charset="0"/>
                <a:ea typeface="Consolas" pitchFamily="34" charset="-122"/>
                <a:cs typeface="Consolas" pitchFamily="34" charset="-120"/>
              </a:rPr>
              <a:t>/install-github-app</a:t>
            </a:r>
            <a:endParaRPr lang="en-US" sz="1800" dirty="0"/>
          </a:p>
        </p:txBody>
      </p:sp>
      <p:sp>
        <p:nvSpPr>
          <p:cNvPr id="9" name="Text 7"/>
          <p:cNvSpPr/>
          <p:nvPr/>
        </p:nvSpPr>
        <p:spPr>
          <a:xfrm>
            <a:off x="731520" y="3246120"/>
            <a:ext cx="10972800" cy="36576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What it walks you through:</a:t>
            </a:r>
            <a:endParaRPr lang="en-US" sz="1400" dirty="0"/>
          </a:p>
        </p:txBody>
      </p:sp>
      <p:sp>
        <p:nvSpPr>
          <p:cNvPr id="10" name="Shape 8"/>
          <p:cNvSpPr/>
          <p:nvPr/>
        </p:nvSpPr>
        <p:spPr>
          <a:xfrm>
            <a:off x="731520" y="3703320"/>
            <a:ext cx="10698480" cy="685800"/>
          </a:xfrm>
          <a:prstGeom prst="rect">
            <a:avLst/>
          </a:prstGeom>
          <a:solidFill>
            <a:srgbClr val="131820"/>
          </a:solidFill>
          <a:ln w="12700">
            <a:solidFill>
              <a:srgbClr val="2A3441"/>
            </a:solidFill>
            <a:prstDash val="solid"/>
          </a:ln>
        </p:spPr>
        <p:txBody>
          <a:bodyPr/>
          <a:lstStyle/>
          <a:p>
            <a:endParaRPr lang="en-GB"/>
          </a:p>
        </p:txBody>
      </p:sp>
      <p:sp>
        <p:nvSpPr>
          <p:cNvPr id="11" name="Shape 9"/>
          <p:cNvSpPr/>
          <p:nvPr/>
        </p:nvSpPr>
        <p:spPr>
          <a:xfrm>
            <a:off x="914400" y="3813048"/>
            <a:ext cx="457200" cy="457200"/>
          </a:xfrm>
          <a:prstGeom prst="ellipse">
            <a:avLst/>
          </a:prstGeom>
          <a:solidFill>
            <a:srgbClr val="1A2030"/>
          </a:solidFill>
          <a:ln w="12700">
            <a:solidFill>
              <a:srgbClr val="FF9E3D"/>
            </a:solidFill>
            <a:prstDash val="solid"/>
          </a:ln>
        </p:spPr>
        <p:txBody>
          <a:bodyPr/>
          <a:lstStyle/>
          <a:p>
            <a:endParaRPr lang="en-GB"/>
          </a:p>
        </p:txBody>
      </p:sp>
      <p:pic>
        <p:nvPicPr>
          <p:cNvPr id="12" name="Image 0" descr="preencoded.png"/>
          <p:cNvPicPr>
            <a:picLocks noChangeAspect="1"/>
          </p:cNvPicPr>
          <p:nvPr/>
        </p:nvPicPr>
        <p:blipFill>
          <a:blip r:embed="rId3"/>
          <a:stretch>
            <a:fillRect/>
          </a:stretch>
        </p:blipFill>
        <p:spPr>
          <a:xfrm>
            <a:off x="1005840" y="3904488"/>
            <a:ext cx="274320" cy="274320"/>
          </a:xfrm>
          <a:prstGeom prst="rect">
            <a:avLst/>
          </a:prstGeom>
        </p:spPr>
      </p:pic>
      <p:sp>
        <p:nvSpPr>
          <p:cNvPr id="13" name="Text 10"/>
          <p:cNvSpPr/>
          <p:nvPr/>
        </p:nvSpPr>
        <p:spPr>
          <a:xfrm>
            <a:off x="1554480" y="3703320"/>
            <a:ext cx="9692640" cy="685800"/>
          </a:xfrm>
          <a:prstGeom prst="rect">
            <a:avLst/>
          </a:prstGeom>
          <a:noFill/>
          <a:ln/>
        </p:spPr>
        <p:txBody>
          <a:bodyPr wrap="square" lIns="0" tIns="0" rIns="0" bIns="0" rtlCol="0" anchor="ctr"/>
          <a:lstStyle/>
          <a:p>
            <a:pPr marL="0" indent="0">
              <a:buNone/>
            </a:pPr>
            <a:r>
              <a:rPr lang="en-US" sz="1400" dirty="0">
                <a:solidFill>
                  <a:srgbClr val="E6EDF3"/>
                </a:solidFill>
                <a:latin typeface="Calibri" pitchFamily="34" charset="0"/>
                <a:ea typeface="Calibri" pitchFamily="34" charset="-122"/>
                <a:cs typeface="Calibri" pitchFamily="34" charset="-120"/>
              </a:rPr>
              <a:t>Install the Claude Code app on your GitHub repo</a:t>
            </a:r>
            <a:endParaRPr lang="en-US" sz="1400" dirty="0"/>
          </a:p>
        </p:txBody>
      </p:sp>
      <p:sp>
        <p:nvSpPr>
          <p:cNvPr id="14" name="Shape 11"/>
          <p:cNvSpPr/>
          <p:nvPr/>
        </p:nvSpPr>
        <p:spPr>
          <a:xfrm>
            <a:off x="731520" y="4480560"/>
            <a:ext cx="10698480" cy="685800"/>
          </a:xfrm>
          <a:prstGeom prst="rect">
            <a:avLst/>
          </a:prstGeom>
          <a:solidFill>
            <a:srgbClr val="131820"/>
          </a:solidFill>
          <a:ln w="12700">
            <a:solidFill>
              <a:srgbClr val="2A3441"/>
            </a:solidFill>
            <a:prstDash val="solid"/>
          </a:ln>
        </p:spPr>
        <p:txBody>
          <a:bodyPr/>
          <a:lstStyle/>
          <a:p>
            <a:endParaRPr lang="en-GB"/>
          </a:p>
        </p:txBody>
      </p:sp>
      <p:sp>
        <p:nvSpPr>
          <p:cNvPr id="15" name="Shape 12"/>
          <p:cNvSpPr/>
          <p:nvPr/>
        </p:nvSpPr>
        <p:spPr>
          <a:xfrm>
            <a:off x="914400" y="4590288"/>
            <a:ext cx="457200" cy="457200"/>
          </a:xfrm>
          <a:prstGeom prst="ellipse">
            <a:avLst/>
          </a:prstGeom>
          <a:solidFill>
            <a:srgbClr val="1A2030"/>
          </a:solidFill>
          <a:ln w="12700">
            <a:solidFill>
              <a:srgbClr val="FF9E3D"/>
            </a:solidFill>
            <a:prstDash val="solid"/>
          </a:ln>
        </p:spPr>
        <p:txBody>
          <a:bodyPr/>
          <a:lstStyle/>
          <a:p>
            <a:endParaRPr lang="en-GB"/>
          </a:p>
        </p:txBody>
      </p:sp>
      <p:pic>
        <p:nvPicPr>
          <p:cNvPr id="16" name="Image 1" descr="preencoded.png"/>
          <p:cNvPicPr>
            <a:picLocks noChangeAspect="1"/>
          </p:cNvPicPr>
          <p:nvPr/>
        </p:nvPicPr>
        <p:blipFill>
          <a:blip r:embed="rId4"/>
          <a:stretch>
            <a:fillRect/>
          </a:stretch>
        </p:blipFill>
        <p:spPr>
          <a:xfrm>
            <a:off x="1005840" y="4681728"/>
            <a:ext cx="274320" cy="274320"/>
          </a:xfrm>
          <a:prstGeom prst="rect">
            <a:avLst/>
          </a:prstGeom>
        </p:spPr>
      </p:pic>
      <p:sp>
        <p:nvSpPr>
          <p:cNvPr id="17" name="Text 13"/>
          <p:cNvSpPr/>
          <p:nvPr/>
        </p:nvSpPr>
        <p:spPr>
          <a:xfrm>
            <a:off x="1554480" y="4480560"/>
            <a:ext cx="9692640" cy="685800"/>
          </a:xfrm>
          <a:prstGeom prst="rect">
            <a:avLst/>
          </a:prstGeom>
          <a:noFill/>
          <a:ln/>
        </p:spPr>
        <p:txBody>
          <a:bodyPr wrap="square" lIns="0" tIns="0" rIns="0" bIns="0" rtlCol="0" anchor="ctr"/>
          <a:lstStyle/>
          <a:p>
            <a:pPr marL="0" indent="0">
              <a:buNone/>
            </a:pPr>
            <a:r>
              <a:rPr lang="en-US" sz="1400" dirty="0">
                <a:solidFill>
                  <a:srgbClr val="E6EDF3"/>
                </a:solidFill>
                <a:latin typeface="Calibri" pitchFamily="34" charset="0"/>
                <a:ea typeface="Calibri" pitchFamily="34" charset="-122"/>
                <a:cs typeface="Calibri" pitchFamily="34" charset="-120"/>
              </a:rPr>
              <a:t>Configure your Anthropic API key as a repo secret</a:t>
            </a:r>
            <a:endParaRPr lang="en-US" sz="1400" dirty="0"/>
          </a:p>
        </p:txBody>
      </p:sp>
      <p:sp>
        <p:nvSpPr>
          <p:cNvPr id="18" name="Shape 14"/>
          <p:cNvSpPr/>
          <p:nvPr/>
        </p:nvSpPr>
        <p:spPr>
          <a:xfrm>
            <a:off x="731520" y="5257800"/>
            <a:ext cx="10698480" cy="685800"/>
          </a:xfrm>
          <a:prstGeom prst="rect">
            <a:avLst/>
          </a:prstGeom>
          <a:solidFill>
            <a:srgbClr val="131820"/>
          </a:solidFill>
          <a:ln w="12700">
            <a:solidFill>
              <a:srgbClr val="2A3441"/>
            </a:solidFill>
            <a:prstDash val="solid"/>
          </a:ln>
        </p:spPr>
        <p:txBody>
          <a:bodyPr/>
          <a:lstStyle/>
          <a:p>
            <a:endParaRPr lang="en-GB"/>
          </a:p>
        </p:txBody>
      </p:sp>
      <p:sp>
        <p:nvSpPr>
          <p:cNvPr id="19" name="Shape 15"/>
          <p:cNvSpPr/>
          <p:nvPr/>
        </p:nvSpPr>
        <p:spPr>
          <a:xfrm>
            <a:off x="914400" y="5367528"/>
            <a:ext cx="457200" cy="457200"/>
          </a:xfrm>
          <a:prstGeom prst="ellipse">
            <a:avLst/>
          </a:prstGeom>
          <a:solidFill>
            <a:srgbClr val="1A2030"/>
          </a:solidFill>
          <a:ln w="12700">
            <a:solidFill>
              <a:srgbClr val="FF9E3D"/>
            </a:solidFill>
            <a:prstDash val="solid"/>
          </a:ln>
        </p:spPr>
        <p:txBody>
          <a:bodyPr/>
          <a:lstStyle/>
          <a:p>
            <a:endParaRPr lang="en-GB"/>
          </a:p>
        </p:txBody>
      </p:sp>
      <p:pic>
        <p:nvPicPr>
          <p:cNvPr id="20" name="Image 2" descr="preencoded.png"/>
          <p:cNvPicPr>
            <a:picLocks noChangeAspect="1"/>
          </p:cNvPicPr>
          <p:nvPr/>
        </p:nvPicPr>
        <p:blipFill>
          <a:blip r:embed="rId5"/>
          <a:stretch>
            <a:fillRect/>
          </a:stretch>
        </p:blipFill>
        <p:spPr>
          <a:xfrm>
            <a:off x="1005840" y="5458968"/>
            <a:ext cx="274320" cy="274320"/>
          </a:xfrm>
          <a:prstGeom prst="rect">
            <a:avLst/>
          </a:prstGeom>
        </p:spPr>
      </p:pic>
      <p:sp>
        <p:nvSpPr>
          <p:cNvPr id="21" name="Text 16"/>
          <p:cNvSpPr/>
          <p:nvPr/>
        </p:nvSpPr>
        <p:spPr>
          <a:xfrm>
            <a:off x="1554480" y="5257800"/>
            <a:ext cx="9692640" cy="685800"/>
          </a:xfrm>
          <a:prstGeom prst="rect">
            <a:avLst/>
          </a:prstGeom>
          <a:noFill/>
          <a:ln/>
        </p:spPr>
        <p:txBody>
          <a:bodyPr wrap="square" lIns="0" tIns="0" rIns="0" bIns="0" rtlCol="0" anchor="ctr"/>
          <a:lstStyle/>
          <a:p>
            <a:pPr marL="0" indent="0">
              <a:buNone/>
            </a:pPr>
            <a:r>
              <a:rPr lang="en-US" sz="1400" dirty="0">
                <a:solidFill>
                  <a:srgbClr val="E6EDF3"/>
                </a:solidFill>
                <a:latin typeface="Calibri" pitchFamily="34" charset="0"/>
                <a:ea typeface="Calibri" pitchFamily="34" charset="-122"/>
                <a:cs typeface="Calibri" pitchFamily="34" charset="-120"/>
              </a:rPr>
              <a:t>Auto-generate a PR with the workflow files</a:t>
            </a:r>
            <a:endParaRPr lang="en-US" sz="1400" dirty="0"/>
          </a:p>
        </p:txBody>
      </p:sp>
      <p:sp>
        <p:nvSpPr>
          <p:cNvPr id="22" name="Text 17"/>
          <p:cNvSpPr/>
          <p:nvPr/>
        </p:nvSpPr>
        <p:spPr>
          <a:xfrm>
            <a:off x="731520" y="6126480"/>
            <a:ext cx="10972800" cy="365760"/>
          </a:xfrm>
          <a:prstGeom prst="rect">
            <a:avLst/>
          </a:prstGeom>
          <a:noFill/>
          <a:ln/>
        </p:spPr>
        <p:txBody>
          <a:bodyPr wrap="square" lIns="0" tIns="0" rIns="0" bIns="0" rtlCol="0" anchor="ctr"/>
          <a:lstStyle/>
          <a:p>
            <a:pPr marL="0" indent="0">
              <a:buNone/>
            </a:pPr>
            <a:r>
              <a:rPr lang="en-US" sz="1200" i="1" dirty="0">
                <a:solidFill>
                  <a:srgbClr val="5EB3F5"/>
                </a:solidFill>
                <a:latin typeface="Calibri" pitchFamily="34" charset="0"/>
                <a:ea typeface="Calibri" pitchFamily="34" charset="-122"/>
                <a:cs typeface="Calibri" pitchFamily="34" charset="-120"/>
              </a:rPr>
              <a:t>→ Once you merge that PR, the workflows live in .github/workflows/ and you can customize them.</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section_4/github_actions.md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29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The two default workflows</a:t>
            </a:r>
            <a:endParaRPr lang="en-US" sz="3000" dirty="0"/>
          </a:p>
        </p:txBody>
      </p:sp>
      <p:sp>
        <p:nvSpPr>
          <p:cNvPr id="6" name="Shape 4"/>
          <p:cNvSpPr/>
          <p:nvPr/>
        </p:nvSpPr>
        <p:spPr>
          <a:xfrm>
            <a:off x="731520" y="1691640"/>
            <a:ext cx="5166360" cy="4297680"/>
          </a:xfrm>
          <a:prstGeom prst="rect">
            <a:avLst/>
          </a:prstGeom>
          <a:solidFill>
            <a:srgbClr val="131820"/>
          </a:solidFill>
          <a:ln w="12700">
            <a:solidFill>
              <a:srgbClr val="2A3441"/>
            </a:solidFill>
            <a:prstDash val="solid"/>
          </a:ln>
        </p:spPr>
        <p:txBody>
          <a:bodyPr/>
          <a:lstStyle/>
          <a:p>
            <a:endParaRPr lang="en-GB"/>
          </a:p>
        </p:txBody>
      </p:sp>
      <p:sp>
        <p:nvSpPr>
          <p:cNvPr id="7" name="Shape 5"/>
          <p:cNvSpPr/>
          <p:nvPr/>
        </p:nvSpPr>
        <p:spPr>
          <a:xfrm>
            <a:off x="731520" y="1691640"/>
            <a:ext cx="5166360" cy="91440"/>
          </a:xfrm>
          <a:prstGeom prst="rect">
            <a:avLst/>
          </a:prstGeom>
          <a:solidFill>
            <a:srgbClr val="FF9E3D"/>
          </a:solidFill>
          <a:ln/>
        </p:spPr>
        <p:txBody>
          <a:bodyPr/>
          <a:lstStyle/>
          <a:p>
            <a:endParaRPr lang="en-GB"/>
          </a:p>
        </p:txBody>
      </p:sp>
      <p:pic>
        <p:nvPicPr>
          <p:cNvPr id="8" name="Image 0" descr="preencoded.png"/>
          <p:cNvPicPr>
            <a:picLocks noChangeAspect="1"/>
          </p:cNvPicPr>
          <p:nvPr/>
        </p:nvPicPr>
        <p:blipFill>
          <a:blip r:embed="rId3"/>
          <a:stretch>
            <a:fillRect/>
          </a:stretch>
        </p:blipFill>
        <p:spPr>
          <a:xfrm>
            <a:off x="1005840" y="2103120"/>
            <a:ext cx="640080" cy="640080"/>
          </a:xfrm>
          <a:prstGeom prst="rect">
            <a:avLst/>
          </a:prstGeom>
        </p:spPr>
      </p:pic>
      <p:sp>
        <p:nvSpPr>
          <p:cNvPr id="9" name="Text 6"/>
          <p:cNvSpPr/>
          <p:nvPr/>
        </p:nvSpPr>
        <p:spPr>
          <a:xfrm>
            <a:off x="1828800" y="2057400"/>
            <a:ext cx="3886200" cy="457200"/>
          </a:xfrm>
          <a:prstGeom prst="rect">
            <a:avLst/>
          </a:prstGeom>
          <a:noFill/>
          <a:ln/>
        </p:spPr>
        <p:txBody>
          <a:bodyPr wrap="square" lIns="0" tIns="0" rIns="0" bIns="0" rtlCol="0" anchor="ctr"/>
          <a:lstStyle/>
          <a:p>
            <a:pPr marL="0" indent="0">
              <a:buNone/>
            </a:pPr>
            <a:r>
              <a:rPr lang="en-US" sz="2000" b="1" dirty="0">
                <a:solidFill>
                  <a:srgbClr val="E6EDF3"/>
                </a:solidFill>
                <a:latin typeface="Consolas" pitchFamily="34" charset="0"/>
                <a:ea typeface="Consolas" pitchFamily="34" charset="-122"/>
                <a:cs typeface="Consolas" pitchFamily="34" charset="-120"/>
              </a:rPr>
              <a:t>Mention Action</a:t>
            </a:r>
            <a:endParaRPr lang="en-US" sz="2000" dirty="0"/>
          </a:p>
        </p:txBody>
      </p:sp>
      <p:sp>
        <p:nvSpPr>
          <p:cNvPr id="10" name="Text 7"/>
          <p:cNvSpPr/>
          <p:nvPr/>
        </p:nvSpPr>
        <p:spPr>
          <a:xfrm>
            <a:off x="1828800" y="2514600"/>
            <a:ext cx="3886200" cy="274320"/>
          </a:xfrm>
          <a:prstGeom prst="rect">
            <a:avLst/>
          </a:prstGeom>
          <a:noFill/>
          <a:ln/>
        </p:spPr>
        <p:txBody>
          <a:bodyPr wrap="square" lIns="0" tIns="0" rIns="0" bIns="0" rtlCol="0" anchor="ctr"/>
          <a:lstStyle/>
          <a:p>
            <a:pPr marL="0" indent="0">
              <a:buNone/>
            </a:pPr>
            <a:r>
              <a:rPr lang="en-US" sz="900" b="1" kern="0" spc="300" dirty="0">
                <a:solidFill>
                  <a:srgbClr val="6B7785"/>
                </a:solidFill>
                <a:latin typeface="Consolas" pitchFamily="34" charset="0"/>
                <a:ea typeface="Consolas" pitchFamily="34" charset="-122"/>
                <a:cs typeface="Consolas" pitchFamily="34" charset="-120"/>
              </a:rPr>
              <a:t>TRIGGERED BY</a:t>
            </a:r>
            <a:endParaRPr lang="en-US" sz="900" dirty="0"/>
          </a:p>
        </p:txBody>
      </p:sp>
      <p:sp>
        <p:nvSpPr>
          <p:cNvPr id="11" name="Text 8"/>
          <p:cNvSpPr/>
          <p:nvPr/>
        </p:nvSpPr>
        <p:spPr>
          <a:xfrm>
            <a:off x="1828800" y="2788920"/>
            <a:ext cx="3886200" cy="365760"/>
          </a:xfrm>
          <a:prstGeom prst="rect">
            <a:avLst/>
          </a:prstGeom>
          <a:noFill/>
          <a:ln/>
        </p:spPr>
        <p:txBody>
          <a:bodyPr wrap="square" lIns="0" tIns="0" rIns="0" bIns="0" rtlCol="0" anchor="ctr"/>
          <a:lstStyle/>
          <a:p>
            <a:pPr marL="0" indent="0">
              <a:buNone/>
            </a:pPr>
            <a:r>
              <a:rPr lang="en-US" sz="1300" dirty="0">
                <a:solidFill>
                  <a:srgbClr val="FF9E3D"/>
                </a:solidFill>
                <a:latin typeface="Consolas" pitchFamily="34" charset="0"/>
                <a:ea typeface="Consolas" pitchFamily="34" charset="-122"/>
                <a:cs typeface="Consolas" pitchFamily="34" charset="-120"/>
              </a:rPr>
              <a:t>@claude in any issue or PR</a:t>
            </a:r>
            <a:endParaRPr lang="en-US" sz="1300" dirty="0"/>
          </a:p>
        </p:txBody>
      </p:sp>
      <p:sp>
        <p:nvSpPr>
          <p:cNvPr id="12" name="Shape 9"/>
          <p:cNvSpPr/>
          <p:nvPr/>
        </p:nvSpPr>
        <p:spPr>
          <a:xfrm>
            <a:off x="1005840" y="3383280"/>
            <a:ext cx="4617720" cy="0"/>
          </a:xfrm>
          <a:prstGeom prst="line">
            <a:avLst/>
          </a:prstGeom>
          <a:noFill/>
          <a:ln w="12700">
            <a:solidFill>
              <a:srgbClr val="2A3441"/>
            </a:solidFill>
            <a:prstDash val="solid"/>
          </a:ln>
        </p:spPr>
        <p:txBody>
          <a:bodyPr/>
          <a:lstStyle/>
          <a:p>
            <a:endParaRPr lang="en-GB"/>
          </a:p>
        </p:txBody>
      </p:sp>
      <p:sp>
        <p:nvSpPr>
          <p:cNvPr id="13" name="Text 10"/>
          <p:cNvSpPr/>
          <p:nvPr/>
        </p:nvSpPr>
        <p:spPr>
          <a:xfrm>
            <a:off x="1005840" y="3520440"/>
            <a:ext cx="4617720" cy="274320"/>
          </a:xfrm>
          <a:prstGeom prst="rect">
            <a:avLst/>
          </a:prstGeom>
          <a:noFill/>
          <a:ln/>
        </p:spPr>
        <p:txBody>
          <a:bodyPr wrap="square" lIns="0" tIns="0" rIns="0" bIns="0" rtlCol="0" anchor="ctr"/>
          <a:lstStyle/>
          <a:p>
            <a:pPr marL="0" indent="0">
              <a:buNone/>
            </a:pPr>
            <a:r>
              <a:rPr lang="en-US" sz="900" b="1" kern="0" spc="300" dirty="0">
                <a:solidFill>
                  <a:srgbClr val="6B7785"/>
                </a:solidFill>
                <a:latin typeface="Consolas" pitchFamily="34" charset="0"/>
                <a:ea typeface="Consolas" pitchFamily="34" charset="-122"/>
                <a:cs typeface="Consolas" pitchFamily="34" charset="-120"/>
              </a:rPr>
              <a:t>WHAT IT DOES</a:t>
            </a:r>
            <a:endParaRPr lang="en-US" sz="900" dirty="0"/>
          </a:p>
        </p:txBody>
      </p:sp>
      <p:sp>
        <p:nvSpPr>
          <p:cNvPr id="14" name="Text 11"/>
          <p:cNvSpPr/>
          <p:nvPr/>
        </p:nvSpPr>
        <p:spPr>
          <a:xfrm>
            <a:off x="1097280" y="3840480"/>
            <a:ext cx="4434840" cy="20116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Analyzes the request, builds a task plan</a:t>
            </a:r>
            <a:endParaRPr lang="en-US" sz="1300" dirty="0"/>
          </a:p>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Executes with full codebase access</a:t>
            </a:r>
            <a:endParaRPr lang="en-US" sz="1300" dirty="0"/>
          </a:p>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Responds inline on the issue or PR</a:t>
            </a:r>
            <a:endParaRPr lang="en-US" sz="1300" dirty="0"/>
          </a:p>
        </p:txBody>
      </p:sp>
      <p:sp>
        <p:nvSpPr>
          <p:cNvPr id="15" name="Shape 12"/>
          <p:cNvSpPr/>
          <p:nvPr/>
        </p:nvSpPr>
        <p:spPr>
          <a:xfrm>
            <a:off x="6263640" y="1691640"/>
            <a:ext cx="5166360" cy="4297680"/>
          </a:xfrm>
          <a:prstGeom prst="rect">
            <a:avLst/>
          </a:prstGeom>
          <a:solidFill>
            <a:srgbClr val="131820"/>
          </a:solidFill>
          <a:ln w="12700">
            <a:solidFill>
              <a:srgbClr val="2A3441"/>
            </a:solidFill>
            <a:prstDash val="solid"/>
          </a:ln>
        </p:spPr>
        <p:txBody>
          <a:bodyPr/>
          <a:lstStyle/>
          <a:p>
            <a:endParaRPr lang="en-GB"/>
          </a:p>
        </p:txBody>
      </p:sp>
      <p:sp>
        <p:nvSpPr>
          <p:cNvPr id="16" name="Shape 13"/>
          <p:cNvSpPr/>
          <p:nvPr/>
        </p:nvSpPr>
        <p:spPr>
          <a:xfrm>
            <a:off x="6263640" y="1691640"/>
            <a:ext cx="5166360" cy="91440"/>
          </a:xfrm>
          <a:prstGeom prst="rect">
            <a:avLst/>
          </a:prstGeom>
          <a:solidFill>
            <a:srgbClr val="5EB3F5"/>
          </a:solidFill>
          <a:ln/>
        </p:spPr>
        <p:txBody>
          <a:bodyPr/>
          <a:lstStyle/>
          <a:p>
            <a:endParaRPr lang="en-GB"/>
          </a:p>
        </p:txBody>
      </p:sp>
      <p:pic>
        <p:nvPicPr>
          <p:cNvPr id="17" name="Image 1" descr="preencoded.png"/>
          <p:cNvPicPr>
            <a:picLocks noChangeAspect="1"/>
          </p:cNvPicPr>
          <p:nvPr/>
        </p:nvPicPr>
        <p:blipFill>
          <a:blip r:embed="rId4"/>
          <a:stretch>
            <a:fillRect/>
          </a:stretch>
        </p:blipFill>
        <p:spPr>
          <a:xfrm>
            <a:off x="6537960" y="2103120"/>
            <a:ext cx="640080" cy="640080"/>
          </a:xfrm>
          <a:prstGeom prst="rect">
            <a:avLst/>
          </a:prstGeom>
        </p:spPr>
      </p:pic>
      <p:sp>
        <p:nvSpPr>
          <p:cNvPr id="18" name="Text 14"/>
          <p:cNvSpPr/>
          <p:nvPr/>
        </p:nvSpPr>
        <p:spPr>
          <a:xfrm>
            <a:off x="7360920" y="2057400"/>
            <a:ext cx="3886200" cy="457200"/>
          </a:xfrm>
          <a:prstGeom prst="rect">
            <a:avLst/>
          </a:prstGeom>
          <a:noFill/>
          <a:ln/>
        </p:spPr>
        <p:txBody>
          <a:bodyPr wrap="square" lIns="0" tIns="0" rIns="0" bIns="0" rtlCol="0" anchor="ctr"/>
          <a:lstStyle/>
          <a:p>
            <a:pPr marL="0" indent="0">
              <a:buNone/>
            </a:pPr>
            <a:r>
              <a:rPr lang="en-US" sz="2000" b="1" dirty="0">
                <a:solidFill>
                  <a:srgbClr val="E6EDF3"/>
                </a:solidFill>
                <a:latin typeface="Consolas" pitchFamily="34" charset="0"/>
                <a:ea typeface="Consolas" pitchFamily="34" charset="-122"/>
                <a:cs typeface="Consolas" pitchFamily="34" charset="-120"/>
              </a:rPr>
              <a:t>Pull Request Action</a:t>
            </a:r>
            <a:endParaRPr lang="en-US" sz="2000" dirty="0"/>
          </a:p>
        </p:txBody>
      </p:sp>
      <p:sp>
        <p:nvSpPr>
          <p:cNvPr id="19" name="Text 15"/>
          <p:cNvSpPr/>
          <p:nvPr/>
        </p:nvSpPr>
        <p:spPr>
          <a:xfrm>
            <a:off x="7360920" y="2514600"/>
            <a:ext cx="3886200" cy="274320"/>
          </a:xfrm>
          <a:prstGeom prst="rect">
            <a:avLst/>
          </a:prstGeom>
          <a:noFill/>
          <a:ln/>
        </p:spPr>
        <p:txBody>
          <a:bodyPr wrap="square" lIns="0" tIns="0" rIns="0" bIns="0" rtlCol="0" anchor="ctr"/>
          <a:lstStyle/>
          <a:p>
            <a:pPr marL="0" indent="0">
              <a:buNone/>
            </a:pPr>
            <a:r>
              <a:rPr lang="en-US" sz="900" b="1" kern="0" spc="300" dirty="0">
                <a:solidFill>
                  <a:srgbClr val="6B7785"/>
                </a:solidFill>
                <a:latin typeface="Consolas" pitchFamily="34" charset="0"/>
                <a:ea typeface="Consolas" pitchFamily="34" charset="-122"/>
                <a:cs typeface="Consolas" pitchFamily="34" charset="-120"/>
              </a:rPr>
              <a:t>TRIGGERED BY</a:t>
            </a:r>
            <a:endParaRPr lang="en-US" sz="900" dirty="0"/>
          </a:p>
        </p:txBody>
      </p:sp>
      <p:sp>
        <p:nvSpPr>
          <p:cNvPr id="20" name="Text 16"/>
          <p:cNvSpPr/>
          <p:nvPr/>
        </p:nvSpPr>
        <p:spPr>
          <a:xfrm>
            <a:off x="7360920" y="2788920"/>
            <a:ext cx="3886200" cy="365760"/>
          </a:xfrm>
          <a:prstGeom prst="rect">
            <a:avLst/>
          </a:prstGeom>
          <a:noFill/>
          <a:ln/>
        </p:spPr>
        <p:txBody>
          <a:bodyPr wrap="square" lIns="0" tIns="0" rIns="0" bIns="0" rtlCol="0" anchor="ctr"/>
          <a:lstStyle/>
          <a:p>
            <a:pPr marL="0" indent="0">
              <a:buNone/>
            </a:pPr>
            <a:r>
              <a:rPr lang="en-US" sz="1300" dirty="0">
                <a:solidFill>
                  <a:srgbClr val="5EB3F5"/>
                </a:solidFill>
                <a:latin typeface="Consolas" pitchFamily="34" charset="0"/>
                <a:ea typeface="Consolas" pitchFamily="34" charset="-122"/>
                <a:cs typeface="Consolas" pitchFamily="34" charset="-120"/>
              </a:rPr>
              <a:t>Any new pull request</a:t>
            </a:r>
            <a:endParaRPr lang="en-US" sz="1300" dirty="0"/>
          </a:p>
        </p:txBody>
      </p:sp>
      <p:sp>
        <p:nvSpPr>
          <p:cNvPr id="21" name="Shape 17"/>
          <p:cNvSpPr/>
          <p:nvPr/>
        </p:nvSpPr>
        <p:spPr>
          <a:xfrm>
            <a:off x="6537960" y="3383280"/>
            <a:ext cx="4617720" cy="0"/>
          </a:xfrm>
          <a:prstGeom prst="line">
            <a:avLst/>
          </a:prstGeom>
          <a:noFill/>
          <a:ln w="12700">
            <a:solidFill>
              <a:srgbClr val="2A3441"/>
            </a:solidFill>
            <a:prstDash val="solid"/>
          </a:ln>
        </p:spPr>
        <p:txBody>
          <a:bodyPr/>
          <a:lstStyle/>
          <a:p>
            <a:endParaRPr lang="en-GB"/>
          </a:p>
        </p:txBody>
      </p:sp>
      <p:sp>
        <p:nvSpPr>
          <p:cNvPr id="22" name="Text 18"/>
          <p:cNvSpPr/>
          <p:nvPr/>
        </p:nvSpPr>
        <p:spPr>
          <a:xfrm>
            <a:off x="6537960" y="3520440"/>
            <a:ext cx="4617720" cy="274320"/>
          </a:xfrm>
          <a:prstGeom prst="rect">
            <a:avLst/>
          </a:prstGeom>
          <a:noFill/>
          <a:ln/>
        </p:spPr>
        <p:txBody>
          <a:bodyPr wrap="square" lIns="0" tIns="0" rIns="0" bIns="0" rtlCol="0" anchor="ctr"/>
          <a:lstStyle/>
          <a:p>
            <a:pPr marL="0" indent="0">
              <a:buNone/>
            </a:pPr>
            <a:r>
              <a:rPr lang="en-US" sz="900" b="1" kern="0" spc="300" dirty="0">
                <a:solidFill>
                  <a:srgbClr val="6B7785"/>
                </a:solidFill>
                <a:latin typeface="Consolas" pitchFamily="34" charset="0"/>
                <a:ea typeface="Consolas" pitchFamily="34" charset="-122"/>
                <a:cs typeface="Consolas" pitchFamily="34" charset="-120"/>
              </a:rPr>
              <a:t>WHAT IT DOES</a:t>
            </a:r>
            <a:endParaRPr lang="en-US" sz="900" dirty="0"/>
          </a:p>
        </p:txBody>
      </p:sp>
      <p:sp>
        <p:nvSpPr>
          <p:cNvPr id="23" name="Text 19"/>
          <p:cNvSpPr/>
          <p:nvPr/>
        </p:nvSpPr>
        <p:spPr>
          <a:xfrm>
            <a:off x="6629400" y="3840480"/>
            <a:ext cx="4434840" cy="20116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Reviews proposed changes automatically</a:t>
            </a:r>
            <a:endParaRPr lang="en-US" sz="1300" dirty="0"/>
          </a:p>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Analyzes impact across the codebase</a:t>
            </a:r>
            <a:endParaRPr lang="en-US" sz="1300" dirty="0"/>
          </a:p>
          <a:p>
            <a:pPr marL="342900" indent="-342900">
              <a:spcAft>
                <a:spcPts val="800"/>
              </a:spcAft>
              <a:buSzPct val="100000"/>
              <a:buChar char="►"/>
            </a:pPr>
            <a:r>
              <a:rPr lang="en-US" sz="1300" dirty="0">
                <a:solidFill>
                  <a:srgbClr val="B9C4D0"/>
                </a:solidFill>
                <a:latin typeface="Calibri" pitchFamily="34" charset="0"/>
                <a:ea typeface="Calibri" pitchFamily="34" charset="-122"/>
                <a:cs typeface="Calibri" pitchFamily="34" charset="-120"/>
              </a:rPr>
              <a:t>Posts a detailed report on the PR</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section_4/github_customize.md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30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Customizing the workflows</a:t>
            </a:r>
            <a:endParaRPr lang="en-US" sz="3000" dirty="0"/>
          </a:p>
        </p:txBody>
      </p:sp>
      <p:sp>
        <p:nvSpPr>
          <p:cNvPr id="6" name="Text 4"/>
          <p:cNvSpPr/>
          <p:nvPr/>
        </p:nvSpPr>
        <p:spPr>
          <a:xfrm>
            <a:off x="731520" y="1417320"/>
            <a:ext cx="10972800" cy="45720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After merging the setup PR, edit the workflow YAML. Three common customizations:</a:t>
            </a:r>
            <a:endParaRPr lang="en-US" sz="1400" dirty="0"/>
          </a:p>
        </p:txBody>
      </p:sp>
      <p:sp>
        <p:nvSpPr>
          <p:cNvPr id="7" name="Text 5"/>
          <p:cNvSpPr/>
          <p:nvPr/>
        </p:nvSpPr>
        <p:spPr>
          <a:xfrm>
            <a:off x="731520" y="1828800"/>
            <a:ext cx="3931920" cy="365760"/>
          </a:xfrm>
          <a:prstGeom prst="rect">
            <a:avLst/>
          </a:prstGeom>
          <a:noFill/>
          <a:ln/>
        </p:spPr>
        <p:txBody>
          <a:bodyPr wrap="square" lIns="0" tIns="0" rIns="0" bIns="0" rtlCol="0" anchor="ctr"/>
          <a:lstStyle/>
          <a:p>
            <a:pPr marL="0" indent="0">
              <a:buNone/>
            </a:pPr>
            <a:r>
              <a:rPr lang="en-US" sz="1500" b="1" dirty="0">
                <a:solidFill>
                  <a:srgbClr val="FF9E3D"/>
                </a:solidFill>
                <a:latin typeface="Consolas" pitchFamily="34" charset="0"/>
                <a:ea typeface="Consolas" pitchFamily="34" charset="-122"/>
                <a:cs typeface="Consolas" pitchFamily="34" charset="-120"/>
              </a:rPr>
              <a:t>Project setup steps</a:t>
            </a:r>
            <a:endParaRPr lang="en-US" sz="1500" dirty="0"/>
          </a:p>
        </p:txBody>
      </p:sp>
      <p:sp>
        <p:nvSpPr>
          <p:cNvPr id="8" name="Text 6"/>
          <p:cNvSpPr/>
          <p:nvPr/>
        </p:nvSpPr>
        <p:spPr>
          <a:xfrm>
            <a:off x="731520" y="2240280"/>
            <a:ext cx="3931920" cy="77724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Prepare the environment before Claude runs.</a:t>
            </a:r>
            <a:endParaRPr lang="en-US" sz="1200" dirty="0"/>
          </a:p>
        </p:txBody>
      </p:sp>
      <p:sp>
        <p:nvSpPr>
          <p:cNvPr id="9" name="Shape 7"/>
          <p:cNvSpPr/>
          <p:nvPr/>
        </p:nvSpPr>
        <p:spPr>
          <a:xfrm>
            <a:off x="4846320" y="1828800"/>
            <a:ext cx="6583680" cy="1188720"/>
          </a:xfrm>
          <a:prstGeom prst="rect">
            <a:avLst/>
          </a:prstGeom>
          <a:solidFill>
            <a:srgbClr val="1A2030"/>
          </a:solidFill>
          <a:ln w="12700">
            <a:solidFill>
              <a:srgbClr val="2A3441"/>
            </a:solidFill>
            <a:prstDash val="solid"/>
          </a:ln>
        </p:spPr>
        <p:txBody>
          <a:bodyPr/>
          <a:lstStyle/>
          <a:p>
            <a:endParaRPr lang="en-GB"/>
          </a:p>
        </p:txBody>
      </p:sp>
      <p:sp>
        <p:nvSpPr>
          <p:cNvPr id="10" name="Text 8"/>
          <p:cNvSpPr/>
          <p:nvPr/>
        </p:nvSpPr>
        <p:spPr>
          <a:xfrm>
            <a:off x="4983480" y="1901952"/>
            <a:ext cx="6400800" cy="1051560"/>
          </a:xfrm>
          <a:prstGeom prst="rect">
            <a:avLst/>
          </a:prstGeom>
          <a:noFill/>
          <a:ln/>
        </p:spPr>
        <p:txBody>
          <a:bodyPr wrap="square" lIns="0" tIns="0" rIns="0" bIns="0" rtlCol="0" anchor="t"/>
          <a:lstStyle/>
          <a:p>
            <a:pPr marL="0" indent="0">
              <a:buNone/>
            </a:pPr>
            <a:r>
              <a:rPr lang="en-US" sz="1100" dirty="0">
                <a:solidFill>
                  <a:srgbClr val="B9C4D0"/>
                </a:solidFill>
                <a:latin typeface="Consolas" pitchFamily="34" charset="0"/>
                <a:ea typeface="Consolas" pitchFamily="34" charset="-122"/>
                <a:cs typeface="Consolas" pitchFamily="34" charset="-120"/>
              </a:rPr>
              <a:t>- name: Project Setup</a:t>
            </a: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  run: |</a:t>
            </a: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    npm run setup</a:t>
            </a: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    npm run dev:daemon</a:t>
            </a:r>
            <a:endParaRPr lang="en-US" sz="1100" dirty="0"/>
          </a:p>
        </p:txBody>
      </p:sp>
      <p:sp>
        <p:nvSpPr>
          <p:cNvPr id="11" name="Text 9"/>
          <p:cNvSpPr/>
          <p:nvPr/>
        </p:nvSpPr>
        <p:spPr>
          <a:xfrm>
            <a:off x="731520" y="3154680"/>
            <a:ext cx="3931920" cy="365760"/>
          </a:xfrm>
          <a:prstGeom prst="rect">
            <a:avLst/>
          </a:prstGeom>
          <a:noFill/>
          <a:ln/>
        </p:spPr>
        <p:txBody>
          <a:bodyPr wrap="square" lIns="0" tIns="0" rIns="0" bIns="0" rtlCol="0" anchor="ctr"/>
          <a:lstStyle/>
          <a:p>
            <a:pPr marL="0" indent="0">
              <a:buNone/>
            </a:pPr>
            <a:r>
              <a:rPr lang="en-US" sz="1500" b="1" dirty="0">
                <a:solidFill>
                  <a:srgbClr val="FF9E3D"/>
                </a:solidFill>
                <a:latin typeface="Consolas" pitchFamily="34" charset="0"/>
                <a:ea typeface="Consolas" pitchFamily="34" charset="-122"/>
                <a:cs typeface="Consolas" pitchFamily="34" charset="-120"/>
              </a:rPr>
              <a:t>Custom instructions</a:t>
            </a:r>
            <a:endParaRPr lang="en-US" sz="1500" dirty="0"/>
          </a:p>
        </p:txBody>
      </p:sp>
      <p:sp>
        <p:nvSpPr>
          <p:cNvPr id="12" name="Text 10"/>
          <p:cNvSpPr/>
          <p:nvPr/>
        </p:nvSpPr>
        <p:spPr>
          <a:xfrm>
            <a:off x="731520" y="3566160"/>
            <a:ext cx="3931920" cy="77724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Give Claude the same context as your CLAUDE.md.</a:t>
            </a:r>
            <a:endParaRPr lang="en-US" sz="1200" dirty="0"/>
          </a:p>
        </p:txBody>
      </p:sp>
      <p:sp>
        <p:nvSpPr>
          <p:cNvPr id="13" name="Shape 11"/>
          <p:cNvSpPr/>
          <p:nvPr/>
        </p:nvSpPr>
        <p:spPr>
          <a:xfrm>
            <a:off x="4846320" y="3154680"/>
            <a:ext cx="6583680" cy="1188720"/>
          </a:xfrm>
          <a:prstGeom prst="rect">
            <a:avLst/>
          </a:prstGeom>
          <a:solidFill>
            <a:srgbClr val="1A2030"/>
          </a:solidFill>
          <a:ln w="12700">
            <a:solidFill>
              <a:srgbClr val="2A3441"/>
            </a:solidFill>
            <a:prstDash val="solid"/>
          </a:ln>
        </p:spPr>
        <p:txBody>
          <a:bodyPr/>
          <a:lstStyle/>
          <a:p>
            <a:endParaRPr lang="en-GB"/>
          </a:p>
        </p:txBody>
      </p:sp>
      <p:sp>
        <p:nvSpPr>
          <p:cNvPr id="14" name="Text 12"/>
          <p:cNvSpPr/>
          <p:nvPr/>
        </p:nvSpPr>
        <p:spPr>
          <a:xfrm>
            <a:off x="4983480" y="3227832"/>
            <a:ext cx="6400800" cy="1051560"/>
          </a:xfrm>
          <a:prstGeom prst="rect">
            <a:avLst/>
          </a:prstGeom>
          <a:noFill/>
          <a:ln/>
        </p:spPr>
        <p:txBody>
          <a:bodyPr wrap="square" lIns="0" tIns="0" rIns="0" bIns="0" rtlCol="0" anchor="t"/>
          <a:lstStyle/>
          <a:p>
            <a:pPr marL="0" indent="0">
              <a:buNone/>
            </a:pPr>
            <a:r>
              <a:rPr lang="en-US" sz="1100" dirty="0">
                <a:solidFill>
                  <a:srgbClr val="B9C4D0"/>
                </a:solidFill>
                <a:latin typeface="Consolas" pitchFamily="34" charset="0"/>
                <a:ea typeface="Consolas" pitchFamily="34" charset="-122"/>
                <a:cs typeface="Consolas" pitchFamily="34" charset="-120"/>
              </a:rPr>
              <a:t>custom_instructions: |</a:t>
            </a: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  Dependencies are installed.</a:t>
            </a: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  Server runs at localhost:3000.</a:t>
            </a: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  Use sqlite3 CLI to query the db.</a:t>
            </a:r>
            <a:endParaRPr lang="en-US" sz="1100" dirty="0"/>
          </a:p>
        </p:txBody>
      </p:sp>
      <p:sp>
        <p:nvSpPr>
          <p:cNvPr id="15" name="Text 13"/>
          <p:cNvSpPr/>
          <p:nvPr/>
        </p:nvSpPr>
        <p:spPr>
          <a:xfrm>
            <a:off x="731520" y="4480560"/>
            <a:ext cx="3931920" cy="365760"/>
          </a:xfrm>
          <a:prstGeom prst="rect">
            <a:avLst/>
          </a:prstGeom>
          <a:noFill/>
          <a:ln/>
        </p:spPr>
        <p:txBody>
          <a:bodyPr wrap="square" lIns="0" tIns="0" rIns="0" bIns="0" rtlCol="0" anchor="ctr"/>
          <a:lstStyle/>
          <a:p>
            <a:pPr marL="0" indent="0">
              <a:buNone/>
            </a:pPr>
            <a:r>
              <a:rPr lang="en-US" sz="1500" b="1" dirty="0">
                <a:solidFill>
                  <a:srgbClr val="FF9E3D"/>
                </a:solidFill>
                <a:latin typeface="Consolas" pitchFamily="34" charset="0"/>
                <a:ea typeface="Consolas" pitchFamily="34" charset="-122"/>
                <a:cs typeface="Consolas" pitchFamily="34" charset="-120"/>
              </a:rPr>
              <a:t>Tool permissions</a:t>
            </a:r>
            <a:endParaRPr lang="en-US" sz="1500" dirty="0"/>
          </a:p>
        </p:txBody>
      </p:sp>
      <p:sp>
        <p:nvSpPr>
          <p:cNvPr id="16" name="Text 14"/>
          <p:cNvSpPr/>
          <p:nvPr/>
        </p:nvSpPr>
        <p:spPr>
          <a:xfrm>
            <a:off x="731520" y="4892040"/>
            <a:ext cx="3931920" cy="77724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Every tool must be explicit — no shortcuts in CI.</a:t>
            </a:r>
            <a:endParaRPr lang="en-US" sz="1200" dirty="0"/>
          </a:p>
        </p:txBody>
      </p:sp>
      <p:sp>
        <p:nvSpPr>
          <p:cNvPr id="17" name="Shape 15"/>
          <p:cNvSpPr/>
          <p:nvPr/>
        </p:nvSpPr>
        <p:spPr>
          <a:xfrm>
            <a:off x="4846320" y="4480560"/>
            <a:ext cx="6583680" cy="1188720"/>
          </a:xfrm>
          <a:prstGeom prst="rect">
            <a:avLst/>
          </a:prstGeom>
          <a:solidFill>
            <a:srgbClr val="1A2030"/>
          </a:solidFill>
          <a:ln w="12700">
            <a:solidFill>
              <a:srgbClr val="2A3441"/>
            </a:solidFill>
            <a:prstDash val="solid"/>
          </a:ln>
        </p:spPr>
        <p:txBody>
          <a:bodyPr/>
          <a:lstStyle/>
          <a:p>
            <a:endParaRPr lang="en-GB"/>
          </a:p>
        </p:txBody>
      </p:sp>
      <p:sp>
        <p:nvSpPr>
          <p:cNvPr id="18" name="Text 16"/>
          <p:cNvSpPr/>
          <p:nvPr/>
        </p:nvSpPr>
        <p:spPr>
          <a:xfrm>
            <a:off x="4983480" y="4553712"/>
            <a:ext cx="6400800" cy="1051560"/>
          </a:xfrm>
          <a:prstGeom prst="rect">
            <a:avLst/>
          </a:prstGeom>
          <a:noFill/>
          <a:ln/>
        </p:spPr>
        <p:txBody>
          <a:bodyPr wrap="square" lIns="0" tIns="0" rIns="0" bIns="0" rtlCol="0" anchor="t"/>
          <a:lstStyle/>
          <a:p>
            <a:pPr marL="0" indent="0">
              <a:buNone/>
            </a:pPr>
            <a:r>
              <a:rPr lang="en-US" sz="1100" dirty="0">
                <a:solidFill>
                  <a:srgbClr val="B9C4D0"/>
                </a:solidFill>
                <a:latin typeface="Consolas" pitchFamily="34" charset="0"/>
                <a:ea typeface="Consolas" pitchFamily="34" charset="-122"/>
                <a:cs typeface="Consolas" pitchFamily="34" charset="-120"/>
              </a:rPr>
              <a:t>allowed_tools: "Bash(npm:*),</a:t>
            </a: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  mcp__playwright__browser_snapshot,</a:t>
            </a: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  mcp__playwright__browser_click,</a:t>
            </a: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  ..."</a:t>
            </a:r>
            <a:endParaRPr lang="en-US" sz="1100" dirty="0"/>
          </a:p>
        </p:txBody>
      </p:sp>
      <p:sp>
        <p:nvSpPr>
          <p:cNvPr id="19" name="Text 17"/>
          <p:cNvSpPr/>
          <p:nvPr/>
        </p:nvSpPr>
        <p:spPr>
          <a:xfrm>
            <a:off x="731520" y="5897880"/>
            <a:ext cx="10972800" cy="274320"/>
          </a:xfrm>
          <a:prstGeom prst="rect">
            <a:avLst/>
          </a:prstGeom>
          <a:noFill/>
          <a:ln/>
        </p:spPr>
        <p:txBody>
          <a:bodyPr wrap="square" lIns="0" tIns="0" rIns="0" bIns="0" rtlCol="0" anchor="ctr"/>
          <a:lstStyle/>
          <a:p>
            <a:pPr marL="0" indent="0">
              <a:buNone/>
            </a:pPr>
            <a:r>
              <a:rPr lang="en-US" sz="1100" i="1" dirty="0">
                <a:solidFill>
                  <a:srgbClr val="F87171"/>
                </a:solidFill>
                <a:latin typeface="Calibri" pitchFamily="34" charset="0"/>
                <a:ea typeface="Calibri" pitchFamily="34" charset="-122"/>
                <a:cs typeface="Calibri" pitchFamily="34" charset="-120"/>
              </a:rPr>
              <a:t>→ Unlike local dev, every tool must be explicitly listed in CI. No batch-allow shortcuts.</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section_4/hooks_intro.md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31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Hooks: automation that fires automatically</a:t>
            </a:r>
            <a:endParaRPr lang="en-US" sz="3000" dirty="0"/>
          </a:p>
        </p:txBody>
      </p:sp>
      <p:sp>
        <p:nvSpPr>
          <p:cNvPr id="6" name="Text 4"/>
          <p:cNvSpPr/>
          <p:nvPr/>
        </p:nvSpPr>
        <p:spPr>
          <a:xfrm>
            <a:off x="731520" y="1417320"/>
            <a:ext cx="10972800" cy="64008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Run commands before or after Claude uses a tool. Format files after edits, run tests on change, block access to secrets.</a:t>
            </a:r>
            <a:endParaRPr lang="en-US" sz="1400" dirty="0"/>
          </a:p>
        </p:txBody>
      </p:sp>
      <p:sp>
        <p:nvSpPr>
          <p:cNvPr id="7" name="Shape 5"/>
          <p:cNvSpPr/>
          <p:nvPr/>
        </p:nvSpPr>
        <p:spPr>
          <a:xfrm>
            <a:off x="508864" y="3017520"/>
            <a:ext cx="2103120" cy="1097280"/>
          </a:xfrm>
          <a:prstGeom prst="rect">
            <a:avLst/>
          </a:prstGeom>
          <a:solidFill>
            <a:srgbClr val="131820"/>
          </a:solidFill>
          <a:ln w="12700">
            <a:solidFill>
              <a:srgbClr val="5EB3F5"/>
            </a:solidFill>
            <a:prstDash val="solid"/>
          </a:ln>
        </p:spPr>
        <p:txBody>
          <a:bodyPr/>
          <a:lstStyle/>
          <a:p>
            <a:endParaRPr lang="en-GB"/>
          </a:p>
        </p:txBody>
      </p:sp>
      <p:sp>
        <p:nvSpPr>
          <p:cNvPr id="8" name="Text 6"/>
          <p:cNvSpPr/>
          <p:nvPr/>
        </p:nvSpPr>
        <p:spPr>
          <a:xfrm>
            <a:off x="600304" y="3017520"/>
            <a:ext cx="1920240" cy="1097280"/>
          </a:xfrm>
          <a:prstGeom prst="rect">
            <a:avLst/>
          </a:prstGeom>
          <a:noFill/>
          <a:ln/>
        </p:spPr>
        <p:txBody>
          <a:bodyPr wrap="square" lIns="0" tIns="0" rIns="0" bIns="0" rtlCol="0" anchor="ctr"/>
          <a:lstStyle/>
          <a:p>
            <a:pPr marL="0" indent="0" algn="ctr">
              <a:buNone/>
            </a:pPr>
            <a:r>
              <a:rPr lang="en-US" sz="1400" b="1" dirty="0">
                <a:solidFill>
                  <a:srgbClr val="5EB3F5"/>
                </a:solidFill>
                <a:latin typeface="Consolas" pitchFamily="34" charset="0"/>
                <a:ea typeface="Consolas" pitchFamily="34" charset="-122"/>
                <a:cs typeface="Consolas" pitchFamily="34" charset="-120"/>
              </a:rPr>
              <a:t>Your prompt</a:t>
            </a:r>
            <a:endParaRPr lang="en-US" sz="1400" dirty="0"/>
          </a:p>
        </p:txBody>
      </p:sp>
      <p:sp>
        <p:nvSpPr>
          <p:cNvPr id="9" name="Shape 7"/>
          <p:cNvSpPr/>
          <p:nvPr/>
        </p:nvSpPr>
        <p:spPr>
          <a:xfrm>
            <a:off x="2621128" y="3566160"/>
            <a:ext cx="146304" cy="0"/>
          </a:xfrm>
          <a:prstGeom prst="line">
            <a:avLst/>
          </a:prstGeom>
          <a:noFill/>
          <a:ln w="25400">
            <a:solidFill>
              <a:srgbClr val="6B7785"/>
            </a:solidFill>
            <a:prstDash val="solid"/>
            <a:tailEnd type="triangle"/>
          </a:ln>
        </p:spPr>
        <p:txBody>
          <a:bodyPr/>
          <a:lstStyle/>
          <a:p>
            <a:endParaRPr lang="en-GB"/>
          </a:p>
        </p:txBody>
      </p:sp>
      <p:sp>
        <p:nvSpPr>
          <p:cNvPr id="10" name="Shape 8"/>
          <p:cNvSpPr/>
          <p:nvPr/>
        </p:nvSpPr>
        <p:spPr>
          <a:xfrm>
            <a:off x="2776576" y="2651760"/>
            <a:ext cx="2103120" cy="1828800"/>
          </a:xfrm>
          <a:prstGeom prst="rect">
            <a:avLst/>
          </a:prstGeom>
          <a:solidFill>
            <a:srgbClr val="1A2030"/>
          </a:solidFill>
          <a:ln w="25400">
            <a:solidFill>
              <a:srgbClr val="FF9E3D"/>
            </a:solidFill>
            <a:prstDash val="solid"/>
          </a:ln>
        </p:spPr>
        <p:txBody>
          <a:bodyPr/>
          <a:lstStyle/>
          <a:p>
            <a:endParaRPr lang="en-GB"/>
          </a:p>
        </p:txBody>
      </p:sp>
      <p:sp>
        <p:nvSpPr>
          <p:cNvPr id="11" name="Text 9"/>
          <p:cNvSpPr/>
          <p:nvPr/>
        </p:nvSpPr>
        <p:spPr>
          <a:xfrm>
            <a:off x="2868016" y="2788920"/>
            <a:ext cx="1920240" cy="274320"/>
          </a:xfrm>
          <a:prstGeom prst="rect">
            <a:avLst/>
          </a:prstGeom>
          <a:noFill/>
          <a:ln/>
        </p:spPr>
        <p:txBody>
          <a:bodyPr wrap="square" lIns="0" tIns="0" rIns="0" bIns="0" rtlCol="0" anchor="ctr"/>
          <a:lstStyle/>
          <a:p>
            <a:pPr marL="0" indent="0" algn="ctr">
              <a:buNone/>
            </a:pPr>
            <a:r>
              <a:rPr lang="en-US" sz="1000" b="1" kern="0" spc="300" dirty="0">
                <a:solidFill>
                  <a:srgbClr val="FF9E3D"/>
                </a:solidFill>
                <a:latin typeface="Consolas" pitchFamily="34" charset="0"/>
                <a:ea typeface="Consolas" pitchFamily="34" charset="-122"/>
                <a:cs typeface="Consolas" pitchFamily="34" charset="-120"/>
              </a:rPr>
              <a:t>HOOK</a:t>
            </a:r>
            <a:endParaRPr lang="en-US" sz="1000" dirty="0"/>
          </a:p>
        </p:txBody>
      </p:sp>
      <p:sp>
        <p:nvSpPr>
          <p:cNvPr id="12" name="Text 10"/>
          <p:cNvSpPr/>
          <p:nvPr/>
        </p:nvSpPr>
        <p:spPr>
          <a:xfrm>
            <a:off x="2868016" y="3108960"/>
            <a:ext cx="1920240" cy="457200"/>
          </a:xfrm>
          <a:prstGeom prst="rect">
            <a:avLst/>
          </a:prstGeom>
          <a:noFill/>
          <a:ln/>
        </p:spPr>
        <p:txBody>
          <a:bodyPr wrap="square" lIns="0" tIns="0" rIns="0" bIns="0" rtlCol="0" anchor="ctr"/>
          <a:lstStyle/>
          <a:p>
            <a:pPr marL="0" indent="0" algn="ctr">
              <a:buNone/>
            </a:pPr>
            <a:r>
              <a:rPr lang="en-US" sz="1700" b="1" dirty="0">
                <a:solidFill>
                  <a:srgbClr val="E6EDF3"/>
                </a:solidFill>
                <a:latin typeface="Consolas" pitchFamily="34" charset="0"/>
                <a:ea typeface="Consolas" pitchFamily="34" charset="-122"/>
                <a:cs typeface="Consolas" pitchFamily="34" charset="-120"/>
              </a:rPr>
              <a:t>PreToolUse</a:t>
            </a:r>
            <a:endParaRPr lang="en-US" sz="1700" dirty="0"/>
          </a:p>
        </p:txBody>
      </p:sp>
      <p:sp>
        <p:nvSpPr>
          <p:cNvPr id="13" name="Text 11"/>
          <p:cNvSpPr/>
          <p:nvPr/>
        </p:nvSpPr>
        <p:spPr>
          <a:xfrm>
            <a:off x="2868016" y="3657600"/>
            <a:ext cx="1920240" cy="731520"/>
          </a:xfrm>
          <a:prstGeom prst="rect">
            <a:avLst/>
          </a:prstGeom>
          <a:noFill/>
          <a:ln/>
        </p:spPr>
        <p:txBody>
          <a:bodyPr wrap="square" lIns="0" tIns="0" rIns="0" bIns="0" rtlCol="0" anchor="ctr"/>
          <a:lstStyle/>
          <a:p>
            <a:pPr marL="0" indent="0" algn="ctr">
              <a:buNone/>
            </a:pPr>
            <a:r>
              <a:rPr lang="en-US" sz="1200" i="1" dirty="0">
                <a:solidFill>
                  <a:srgbClr val="B9C4D0"/>
                </a:solidFill>
                <a:latin typeface="Calibri" pitchFamily="34" charset="0"/>
                <a:ea typeface="Calibri" pitchFamily="34" charset="-122"/>
                <a:cs typeface="Calibri" pitchFamily="34" charset="-120"/>
              </a:rPr>
              <a:t>Block or allow</a:t>
            </a:r>
            <a:endParaRPr lang="en-US" sz="1200" dirty="0"/>
          </a:p>
        </p:txBody>
      </p:sp>
      <p:sp>
        <p:nvSpPr>
          <p:cNvPr id="14" name="Shape 12"/>
          <p:cNvSpPr/>
          <p:nvPr/>
        </p:nvSpPr>
        <p:spPr>
          <a:xfrm>
            <a:off x="4888840" y="3566160"/>
            <a:ext cx="146304" cy="0"/>
          </a:xfrm>
          <a:prstGeom prst="line">
            <a:avLst/>
          </a:prstGeom>
          <a:noFill/>
          <a:ln w="25400">
            <a:solidFill>
              <a:srgbClr val="6B7785"/>
            </a:solidFill>
            <a:prstDash val="solid"/>
            <a:tailEnd type="triangle"/>
          </a:ln>
        </p:spPr>
        <p:txBody>
          <a:bodyPr/>
          <a:lstStyle/>
          <a:p>
            <a:endParaRPr lang="en-GB"/>
          </a:p>
        </p:txBody>
      </p:sp>
      <p:sp>
        <p:nvSpPr>
          <p:cNvPr id="15" name="Shape 13"/>
          <p:cNvSpPr/>
          <p:nvPr/>
        </p:nvSpPr>
        <p:spPr>
          <a:xfrm>
            <a:off x="5044288" y="3017520"/>
            <a:ext cx="2103120" cy="1097280"/>
          </a:xfrm>
          <a:prstGeom prst="rect">
            <a:avLst/>
          </a:prstGeom>
          <a:solidFill>
            <a:srgbClr val="131820"/>
          </a:solidFill>
          <a:ln w="12700">
            <a:solidFill>
              <a:srgbClr val="E6EDF3"/>
            </a:solidFill>
            <a:prstDash val="solid"/>
          </a:ln>
        </p:spPr>
        <p:txBody>
          <a:bodyPr/>
          <a:lstStyle/>
          <a:p>
            <a:endParaRPr lang="en-GB"/>
          </a:p>
        </p:txBody>
      </p:sp>
      <p:sp>
        <p:nvSpPr>
          <p:cNvPr id="16" name="Text 14"/>
          <p:cNvSpPr/>
          <p:nvPr/>
        </p:nvSpPr>
        <p:spPr>
          <a:xfrm>
            <a:off x="5135728" y="3017520"/>
            <a:ext cx="1920240" cy="1097280"/>
          </a:xfrm>
          <a:prstGeom prst="rect">
            <a:avLst/>
          </a:prstGeom>
          <a:noFill/>
          <a:ln/>
        </p:spPr>
        <p:txBody>
          <a:bodyPr wrap="square" lIns="0" tIns="0" rIns="0" bIns="0" rtlCol="0" anchor="ctr"/>
          <a:lstStyle/>
          <a:p>
            <a:pPr marL="0" indent="0" algn="ctr">
              <a:buNone/>
            </a:pPr>
            <a:r>
              <a:rPr lang="en-US" sz="1400" b="1" dirty="0">
                <a:solidFill>
                  <a:srgbClr val="E6EDF3"/>
                </a:solidFill>
                <a:latin typeface="Consolas" pitchFamily="34" charset="0"/>
                <a:ea typeface="Consolas" pitchFamily="34" charset="-122"/>
                <a:cs typeface="Consolas" pitchFamily="34" charset="-120"/>
              </a:rPr>
              <a:t>Tool runs</a:t>
            </a:r>
            <a:endParaRPr lang="en-US" sz="1400" dirty="0"/>
          </a:p>
        </p:txBody>
      </p:sp>
      <p:sp>
        <p:nvSpPr>
          <p:cNvPr id="17" name="Shape 15"/>
          <p:cNvSpPr/>
          <p:nvPr/>
        </p:nvSpPr>
        <p:spPr>
          <a:xfrm>
            <a:off x="7156552" y="3566160"/>
            <a:ext cx="146304" cy="0"/>
          </a:xfrm>
          <a:prstGeom prst="line">
            <a:avLst/>
          </a:prstGeom>
          <a:noFill/>
          <a:ln w="25400">
            <a:solidFill>
              <a:srgbClr val="6B7785"/>
            </a:solidFill>
            <a:prstDash val="solid"/>
            <a:tailEnd type="triangle"/>
          </a:ln>
        </p:spPr>
        <p:txBody>
          <a:bodyPr/>
          <a:lstStyle/>
          <a:p>
            <a:endParaRPr lang="en-GB"/>
          </a:p>
        </p:txBody>
      </p:sp>
      <p:sp>
        <p:nvSpPr>
          <p:cNvPr id="18" name="Shape 16"/>
          <p:cNvSpPr/>
          <p:nvPr/>
        </p:nvSpPr>
        <p:spPr>
          <a:xfrm>
            <a:off x="7312000" y="2651760"/>
            <a:ext cx="2103120" cy="1828800"/>
          </a:xfrm>
          <a:prstGeom prst="rect">
            <a:avLst/>
          </a:prstGeom>
          <a:solidFill>
            <a:srgbClr val="1A2030"/>
          </a:solidFill>
          <a:ln w="25400">
            <a:solidFill>
              <a:srgbClr val="FF9E3D"/>
            </a:solidFill>
            <a:prstDash val="solid"/>
          </a:ln>
        </p:spPr>
        <p:txBody>
          <a:bodyPr/>
          <a:lstStyle/>
          <a:p>
            <a:endParaRPr lang="en-GB"/>
          </a:p>
        </p:txBody>
      </p:sp>
      <p:sp>
        <p:nvSpPr>
          <p:cNvPr id="19" name="Text 17"/>
          <p:cNvSpPr/>
          <p:nvPr/>
        </p:nvSpPr>
        <p:spPr>
          <a:xfrm>
            <a:off x="7403440" y="2788920"/>
            <a:ext cx="1920240" cy="274320"/>
          </a:xfrm>
          <a:prstGeom prst="rect">
            <a:avLst/>
          </a:prstGeom>
          <a:noFill/>
          <a:ln/>
        </p:spPr>
        <p:txBody>
          <a:bodyPr wrap="square" lIns="0" tIns="0" rIns="0" bIns="0" rtlCol="0" anchor="ctr"/>
          <a:lstStyle/>
          <a:p>
            <a:pPr marL="0" indent="0" algn="ctr">
              <a:buNone/>
            </a:pPr>
            <a:r>
              <a:rPr lang="en-US" sz="1000" b="1" kern="0" spc="300" dirty="0">
                <a:solidFill>
                  <a:srgbClr val="FF9E3D"/>
                </a:solidFill>
                <a:latin typeface="Consolas" pitchFamily="34" charset="0"/>
                <a:ea typeface="Consolas" pitchFamily="34" charset="-122"/>
                <a:cs typeface="Consolas" pitchFamily="34" charset="-120"/>
              </a:rPr>
              <a:t>HOOK</a:t>
            </a:r>
            <a:endParaRPr lang="en-US" sz="1000" dirty="0"/>
          </a:p>
        </p:txBody>
      </p:sp>
      <p:sp>
        <p:nvSpPr>
          <p:cNvPr id="20" name="Text 18"/>
          <p:cNvSpPr/>
          <p:nvPr/>
        </p:nvSpPr>
        <p:spPr>
          <a:xfrm>
            <a:off x="7403440" y="3108960"/>
            <a:ext cx="1920240" cy="457200"/>
          </a:xfrm>
          <a:prstGeom prst="rect">
            <a:avLst/>
          </a:prstGeom>
          <a:noFill/>
          <a:ln/>
        </p:spPr>
        <p:txBody>
          <a:bodyPr wrap="square" lIns="0" tIns="0" rIns="0" bIns="0" rtlCol="0" anchor="ctr"/>
          <a:lstStyle/>
          <a:p>
            <a:pPr marL="0" indent="0" algn="ctr">
              <a:buNone/>
            </a:pPr>
            <a:r>
              <a:rPr lang="en-US" sz="1700" b="1" dirty="0">
                <a:solidFill>
                  <a:srgbClr val="E6EDF3"/>
                </a:solidFill>
                <a:latin typeface="Consolas" pitchFamily="34" charset="0"/>
                <a:ea typeface="Consolas" pitchFamily="34" charset="-122"/>
                <a:cs typeface="Consolas" pitchFamily="34" charset="-120"/>
              </a:rPr>
              <a:t>PostToolUse</a:t>
            </a:r>
            <a:endParaRPr lang="en-US" sz="1700" dirty="0"/>
          </a:p>
        </p:txBody>
      </p:sp>
      <p:sp>
        <p:nvSpPr>
          <p:cNvPr id="21" name="Text 19"/>
          <p:cNvSpPr/>
          <p:nvPr/>
        </p:nvSpPr>
        <p:spPr>
          <a:xfrm>
            <a:off x="7403440" y="3657600"/>
            <a:ext cx="1920240" cy="731520"/>
          </a:xfrm>
          <a:prstGeom prst="rect">
            <a:avLst/>
          </a:prstGeom>
          <a:noFill/>
          <a:ln/>
        </p:spPr>
        <p:txBody>
          <a:bodyPr wrap="square" lIns="0" tIns="0" rIns="0" bIns="0" rtlCol="0" anchor="ctr"/>
          <a:lstStyle/>
          <a:p>
            <a:pPr marL="0" indent="0" algn="ctr">
              <a:buNone/>
            </a:pPr>
            <a:r>
              <a:rPr lang="en-US" sz="1200" i="1" dirty="0">
                <a:solidFill>
                  <a:srgbClr val="B9C4D0"/>
                </a:solidFill>
                <a:latin typeface="Calibri" pitchFamily="34" charset="0"/>
                <a:ea typeface="Calibri" pitchFamily="34" charset="-122"/>
                <a:cs typeface="Calibri" pitchFamily="34" charset="-120"/>
              </a:rPr>
              <a:t>Run follow-up</a:t>
            </a:r>
            <a:endParaRPr lang="en-US" sz="1200" dirty="0"/>
          </a:p>
        </p:txBody>
      </p:sp>
      <p:sp>
        <p:nvSpPr>
          <p:cNvPr id="22" name="Shape 20"/>
          <p:cNvSpPr/>
          <p:nvPr/>
        </p:nvSpPr>
        <p:spPr>
          <a:xfrm>
            <a:off x="9424264" y="3566160"/>
            <a:ext cx="146304" cy="0"/>
          </a:xfrm>
          <a:prstGeom prst="line">
            <a:avLst/>
          </a:prstGeom>
          <a:noFill/>
          <a:ln w="25400">
            <a:solidFill>
              <a:srgbClr val="6B7785"/>
            </a:solidFill>
            <a:prstDash val="solid"/>
            <a:tailEnd type="triangle"/>
          </a:ln>
        </p:spPr>
        <p:txBody>
          <a:bodyPr/>
          <a:lstStyle/>
          <a:p>
            <a:endParaRPr lang="en-GB"/>
          </a:p>
        </p:txBody>
      </p:sp>
      <p:sp>
        <p:nvSpPr>
          <p:cNvPr id="23" name="Shape 21"/>
          <p:cNvSpPr/>
          <p:nvPr/>
        </p:nvSpPr>
        <p:spPr>
          <a:xfrm>
            <a:off x="9579712" y="3017520"/>
            <a:ext cx="2103120" cy="1097280"/>
          </a:xfrm>
          <a:prstGeom prst="rect">
            <a:avLst/>
          </a:prstGeom>
          <a:solidFill>
            <a:srgbClr val="131820"/>
          </a:solidFill>
          <a:ln w="12700">
            <a:solidFill>
              <a:srgbClr val="8AE65C"/>
            </a:solidFill>
            <a:prstDash val="solid"/>
          </a:ln>
        </p:spPr>
        <p:txBody>
          <a:bodyPr/>
          <a:lstStyle/>
          <a:p>
            <a:endParaRPr lang="en-GB"/>
          </a:p>
        </p:txBody>
      </p:sp>
      <p:sp>
        <p:nvSpPr>
          <p:cNvPr id="24" name="Text 22"/>
          <p:cNvSpPr/>
          <p:nvPr/>
        </p:nvSpPr>
        <p:spPr>
          <a:xfrm>
            <a:off x="9671152" y="3017520"/>
            <a:ext cx="1920240" cy="1097280"/>
          </a:xfrm>
          <a:prstGeom prst="rect">
            <a:avLst/>
          </a:prstGeom>
          <a:noFill/>
          <a:ln/>
        </p:spPr>
        <p:txBody>
          <a:bodyPr wrap="square" lIns="0" tIns="0" rIns="0" bIns="0" rtlCol="0" anchor="ctr"/>
          <a:lstStyle/>
          <a:p>
            <a:pPr marL="0" indent="0" algn="ctr">
              <a:buNone/>
            </a:pPr>
            <a:r>
              <a:rPr lang="en-US" sz="1400" b="1" dirty="0">
                <a:solidFill>
                  <a:srgbClr val="8AE65C"/>
                </a:solidFill>
                <a:latin typeface="Consolas" pitchFamily="34" charset="0"/>
                <a:ea typeface="Consolas" pitchFamily="34" charset="-122"/>
                <a:cs typeface="Consolas" pitchFamily="34" charset="-120"/>
              </a:rPr>
              <a:t>Continue</a:t>
            </a:r>
            <a:endParaRPr lang="en-US" sz="1400" dirty="0"/>
          </a:p>
        </p:txBody>
      </p:sp>
      <p:sp>
        <p:nvSpPr>
          <p:cNvPr id="25" name="Shape 23"/>
          <p:cNvSpPr/>
          <p:nvPr/>
        </p:nvSpPr>
        <p:spPr>
          <a:xfrm>
            <a:off x="731520" y="5074920"/>
            <a:ext cx="5349240" cy="1188720"/>
          </a:xfrm>
          <a:prstGeom prst="rect">
            <a:avLst/>
          </a:prstGeom>
          <a:solidFill>
            <a:srgbClr val="131820"/>
          </a:solidFill>
          <a:ln w="12700">
            <a:solidFill>
              <a:srgbClr val="FF9E3D"/>
            </a:solidFill>
            <a:prstDash val="solid"/>
          </a:ln>
        </p:spPr>
        <p:txBody>
          <a:bodyPr/>
          <a:lstStyle/>
          <a:p>
            <a:endParaRPr lang="en-GB"/>
          </a:p>
        </p:txBody>
      </p:sp>
      <p:sp>
        <p:nvSpPr>
          <p:cNvPr id="26" name="Text 24"/>
          <p:cNvSpPr/>
          <p:nvPr/>
        </p:nvSpPr>
        <p:spPr>
          <a:xfrm>
            <a:off x="914400" y="5166360"/>
            <a:ext cx="5029200" cy="365760"/>
          </a:xfrm>
          <a:prstGeom prst="rect">
            <a:avLst/>
          </a:prstGeom>
          <a:noFill/>
          <a:ln/>
        </p:spPr>
        <p:txBody>
          <a:bodyPr wrap="square" lIns="0" tIns="0" rIns="0" bIns="0" rtlCol="0" anchor="ctr"/>
          <a:lstStyle/>
          <a:p>
            <a:pPr marL="0" indent="0">
              <a:buNone/>
            </a:pPr>
            <a:r>
              <a:rPr lang="en-US" sz="1300" b="1" dirty="0">
                <a:solidFill>
                  <a:srgbClr val="FF9E3D"/>
                </a:solidFill>
                <a:latin typeface="Consolas" pitchFamily="34" charset="0"/>
                <a:ea typeface="Consolas" pitchFamily="34" charset="-122"/>
                <a:cs typeface="Consolas" pitchFamily="34" charset="-120"/>
              </a:rPr>
              <a:t>PreToolUse can:</a:t>
            </a:r>
            <a:endParaRPr lang="en-US" sz="1300" dirty="0"/>
          </a:p>
        </p:txBody>
      </p:sp>
      <p:sp>
        <p:nvSpPr>
          <p:cNvPr id="27" name="Text 25"/>
          <p:cNvSpPr/>
          <p:nvPr/>
        </p:nvSpPr>
        <p:spPr>
          <a:xfrm>
            <a:off x="914400" y="5532120"/>
            <a:ext cx="5029200" cy="685800"/>
          </a:xfrm>
          <a:prstGeom prst="rect">
            <a:avLst/>
          </a:prstGeom>
          <a:noFill/>
          <a:ln/>
        </p:spPr>
        <p:txBody>
          <a:bodyPr wrap="square" lIns="0" tIns="0" rIns="0" bIns="0" rtlCol="0" anchor="ctr"/>
          <a:lstStyle/>
          <a:p>
            <a:pPr marL="0" indent="0">
              <a:buNone/>
            </a:pPr>
            <a:r>
              <a:rPr lang="en-US" sz="1200" dirty="0">
                <a:solidFill>
                  <a:srgbClr val="8AE65C"/>
                </a:solidFill>
                <a:latin typeface="Consolas" pitchFamily="34" charset="0"/>
                <a:ea typeface="Consolas" pitchFamily="34" charset="-122"/>
                <a:cs typeface="Consolas" pitchFamily="34" charset="-120"/>
              </a:rPr>
              <a:t>✓ Allow operation to proceed</a:t>
            </a:r>
            <a:endParaRPr lang="en-US" sz="1200" dirty="0"/>
          </a:p>
          <a:p>
            <a:pPr marL="0" indent="0">
              <a:buNone/>
            </a:pPr>
            <a:r>
              <a:rPr lang="en-US" sz="1200" dirty="0">
                <a:solidFill>
                  <a:srgbClr val="F87171"/>
                </a:solidFill>
                <a:latin typeface="Consolas" pitchFamily="34" charset="0"/>
                <a:ea typeface="Consolas" pitchFamily="34" charset="-122"/>
                <a:cs typeface="Consolas" pitchFamily="34" charset="-120"/>
              </a:rPr>
              <a:t>✗ Block + send error to Claude</a:t>
            </a:r>
            <a:endParaRPr lang="en-US" sz="1200" dirty="0"/>
          </a:p>
        </p:txBody>
      </p:sp>
      <p:sp>
        <p:nvSpPr>
          <p:cNvPr id="28" name="Shape 26"/>
          <p:cNvSpPr/>
          <p:nvPr/>
        </p:nvSpPr>
        <p:spPr>
          <a:xfrm>
            <a:off x="6309360" y="5074920"/>
            <a:ext cx="5349240" cy="1188720"/>
          </a:xfrm>
          <a:prstGeom prst="rect">
            <a:avLst/>
          </a:prstGeom>
          <a:solidFill>
            <a:srgbClr val="131820"/>
          </a:solidFill>
          <a:ln w="12700">
            <a:solidFill>
              <a:srgbClr val="FF9E3D"/>
            </a:solidFill>
            <a:prstDash val="solid"/>
          </a:ln>
        </p:spPr>
        <p:txBody>
          <a:bodyPr/>
          <a:lstStyle/>
          <a:p>
            <a:endParaRPr lang="en-GB"/>
          </a:p>
        </p:txBody>
      </p:sp>
      <p:sp>
        <p:nvSpPr>
          <p:cNvPr id="29" name="Text 27"/>
          <p:cNvSpPr/>
          <p:nvPr/>
        </p:nvSpPr>
        <p:spPr>
          <a:xfrm>
            <a:off x="6492240" y="5166360"/>
            <a:ext cx="5029200" cy="365760"/>
          </a:xfrm>
          <a:prstGeom prst="rect">
            <a:avLst/>
          </a:prstGeom>
          <a:noFill/>
          <a:ln/>
        </p:spPr>
        <p:txBody>
          <a:bodyPr wrap="square" lIns="0" tIns="0" rIns="0" bIns="0" rtlCol="0" anchor="ctr"/>
          <a:lstStyle/>
          <a:p>
            <a:pPr marL="0" indent="0">
              <a:buNone/>
            </a:pPr>
            <a:r>
              <a:rPr lang="en-US" sz="1300" b="1" dirty="0">
                <a:solidFill>
                  <a:srgbClr val="FF9E3D"/>
                </a:solidFill>
                <a:latin typeface="Consolas" pitchFamily="34" charset="0"/>
                <a:ea typeface="Consolas" pitchFamily="34" charset="-122"/>
                <a:cs typeface="Consolas" pitchFamily="34" charset="-120"/>
              </a:rPr>
              <a:t>PostToolUse can:</a:t>
            </a:r>
            <a:endParaRPr lang="en-US" sz="1300" dirty="0"/>
          </a:p>
        </p:txBody>
      </p:sp>
      <p:sp>
        <p:nvSpPr>
          <p:cNvPr id="30" name="Text 28"/>
          <p:cNvSpPr/>
          <p:nvPr/>
        </p:nvSpPr>
        <p:spPr>
          <a:xfrm>
            <a:off x="6492240" y="5532120"/>
            <a:ext cx="5029200" cy="685800"/>
          </a:xfrm>
          <a:prstGeom prst="rect">
            <a:avLst/>
          </a:prstGeom>
          <a:noFill/>
          <a:ln/>
        </p:spPr>
        <p:txBody>
          <a:bodyPr wrap="square" lIns="0" tIns="0" rIns="0" bIns="0" rtlCol="0" anchor="ctr"/>
          <a:lstStyle/>
          <a:p>
            <a:pPr marL="0" indent="0">
              <a:buNone/>
            </a:pPr>
            <a:r>
              <a:rPr lang="en-US" sz="1200" dirty="0">
                <a:solidFill>
                  <a:srgbClr val="8AE65C"/>
                </a:solidFill>
                <a:latin typeface="Consolas" pitchFamily="34" charset="0"/>
                <a:ea typeface="Consolas" pitchFamily="34" charset="-122"/>
                <a:cs typeface="Consolas" pitchFamily="34" charset="-120"/>
              </a:rPr>
              <a:t>→ Run follow-up (format, test)</a:t>
            </a:r>
            <a:endParaRPr lang="en-US" sz="1200" dirty="0"/>
          </a:p>
          <a:p>
            <a:pPr marL="0" indent="0">
              <a:buNone/>
            </a:pPr>
            <a:r>
              <a:rPr lang="en-US" sz="1200" dirty="0">
                <a:solidFill>
                  <a:srgbClr val="5EB3F5"/>
                </a:solidFill>
                <a:latin typeface="Consolas" pitchFamily="34" charset="0"/>
                <a:ea typeface="Consolas" pitchFamily="34" charset="-122"/>
                <a:cs typeface="Consolas" pitchFamily="34" charset="-120"/>
              </a:rPr>
              <a:t>→ Send feedback to Claude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section_4/implement_hook.md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32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Implementing a hook: block .env reads</a:t>
            </a:r>
            <a:endParaRPr lang="en-US" sz="3000" dirty="0"/>
          </a:p>
        </p:txBody>
      </p:sp>
      <p:sp>
        <p:nvSpPr>
          <p:cNvPr id="6" name="Text 4"/>
          <p:cNvSpPr/>
          <p:nvPr/>
        </p:nvSpPr>
        <p:spPr>
          <a:xfrm>
            <a:off x="731520" y="1508760"/>
            <a:ext cx="5486400" cy="274320"/>
          </a:xfrm>
          <a:prstGeom prst="rect">
            <a:avLst/>
          </a:prstGeom>
          <a:noFill/>
          <a:ln/>
        </p:spPr>
        <p:txBody>
          <a:bodyPr wrap="square" lIns="0" tIns="0" rIns="0" bIns="0" rtlCol="0" anchor="ctr"/>
          <a:lstStyle/>
          <a:p>
            <a:pPr marL="0" indent="0">
              <a:buNone/>
            </a:pPr>
            <a:r>
              <a:rPr lang="en-US" sz="1000" i="1" dirty="0">
                <a:solidFill>
                  <a:srgbClr val="6B7785"/>
                </a:solidFill>
                <a:latin typeface="Consolas" pitchFamily="34" charset="0"/>
                <a:ea typeface="Consolas" pitchFamily="34" charset="-122"/>
                <a:cs typeface="Consolas" pitchFamily="34" charset="-120"/>
              </a:rPr>
              <a:t>.claude/settings.local.json</a:t>
            </a:r>
            <a:endParaRPr lang="en-US" sz="1000" dirty="0"/>
          </a:p>
        </p:txBody>
      </p:sp>
      <p:sp>
        <p:nvSpPr>
          <p:cNvPr id="7" name="Shape 5"/>
          <p:cNvSpPr/>
          <p:nvPr/>
        </p:nvSpPr>
        <p:spPr>
          <a:xfrm>
            <a:off x="731520" y="1828800"/>
            <a:ext cx="5486400" cy="4023360"/>
          </a:xfrm>
          <a:prstGeom prst="rect">
            <a:avLst/>
          </a:prstGeom>
          <a:solidFill>
            <a:srgbClr val="1A2030"/>
          </a:solidFill>
          <a:ln w="12700">
            <a:solidFill>
              <a:srgbClr val="2A3441"/>
            </a:solidFill>
            <a:prstDash val="solid"/>
          </a:ln>
        </p:spPr>
        <p:txBody>
          <a:bodyPr/>
          <a:lstStyle/>
          <a:p>
            <a:endParaRPr lang="en-GB"/>
          </a:p>
        </p:txBody>
      </p:sp>
      <p:sp>
        <p:nvSpPr>
          <p:cNvPr id="8" name="Text 6"/>
          <p:cNvSpPr/>
          <p:nvPr/>
        </p:nvSpPr>
        <p:spPr>
          <a:xfrm>
            <a:off x="914400" y="1920240"/>
            <a:ext cx="5212080" cy="3840480"/>
          </a:xfrm>
          <a:prstGeom prst="rect">
            <a:avLst/>
          </a:prstGeom>
          <a:noFill/>
          <a:ln/>
        </p:spPr>
        <p:txBody>
          <a:bodyPr wrap="square" lIns="0" tIns="0" rIns="0" bIns="0" rtlCol="0" anchor="t"/>
          <a:lstStyle/>
          <a:p>
            <a:pPr marL="0" indent="0">
              <a:buNone/>
            </a:pPr>
            <a:r>
              <a:rPr lang="en-US" sz="1200" dirty="0">
                <a:solidFill>
                  <a:srgbClr val="B9C4D0"/>
                </a:solidFill>
                <a:latin typeface="Consolas" pitchFamily="34" charset="0"/>
                <a:ea typeface="Consolas" pitchFamily="34" charset="-122"/>
                <a:cs typeface="Consolas" pitchFamily="34" charset="-120"/>
              </a:rPr>
              <a:t>{</a:t>
            </a:r>
            <a:endParaRPr lang="en-US" sz="1200" dirty="0"/>
          </a:p>
          <a:p>
            <a:pPr marL="0" indent="0">
              <a:buNone/>
            </a:pPr>
            <a:r>
              <a:rPr lang="en-US" sz="1200" dirty="0">
                <a:solidFill>
                  <a:srgbClr val="5EB3F5"/>
                </a:solidFill>
                <a:latin typeface="Consolas" pitchFamily="34" charset="0"/>
                <a:ea typeface="Consolas" pitchFamily="34" charset="-122"/>
                <a:cs typeface="Consolas" pitchFamily="34" charset="-120"/>
              </a:rPr>
              <a:t>  "hooks": {</a:t>
            </a:r>
            <a:endParaRPr lang="en-US" sz="1200" dirty="0"/>
          </a:p>
          <a:p>
            <a:pPr marL="0" indent="0">
              <a:buNone/>
            </a:pPr>
            <a:r>
              <a:rPr lang="en-US" sz="1200" b="1" dirty="0">
                <a:solidFill>
                  <a:srgbClr val="FF9E3D"/>
                </a:solidFill>
                <a:latin typeface="Consolas" pitchFamily="34" charset="0"/>
                <a:ea typeface="Consolas" pitchFamily="34" charset="-122"/>
                <a:cs typeface="Consolas" pitchFamily="34" charset="-120"/>
              </a:rPr>
              <a:t>    "PreToolUse": [{</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      "matcher": "Read",</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      "hooks": [{</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        "type": "command",</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        "command":</a:t>
            </a:r>
            <a:endParaRPr lang="en-US" sz="1200" dirty="0"/>
          </a:p>
          <a:p>
            <a:pPr marL="0" indent="0">
              <a:buNone/>
            </a:pPr>
            <a:r>
              <a:rPr lang="en-US" sz="1200" dirty="0">
                <a:solidFill>
                  <a:srgbClr val="C792EA"/>
                </a:solidFill>
                <a:latin typeface="Consolas" pitchFamily="34" charset="0"/>
                <a:ea typeface="Consolas" pitchFamily="34" charset="-122"/>
                <a:cs typeface="Consolas" pitchFamily="34" charset="-120"/>
              </a:rPr>
              <a:t>          "node $PWD/hooks/</a:t>
            </a:r>
            <a:endParaRPr lang="en-US" sz="1200" dirty="0"/>
          </a:p>
          <a:p>
            <a:pPr marL="0" indent="0">
              <a:buNone/>
            </a:pPr>
            <a:r>
              <a:rPr lang="en-US" sz="1200" dirty="0">
                <a:solidFill>
                  <a:srgbClr val="C792EA"/>
                </a:solidFill>
                <a:latin typeface="Consolas" pitchFamily="34" charset="0"/>
                <a:ea typeface="Consolas" pitchFamily="34" charset="-122"/>
                <a:cs typeface="Consolas" pitchFamily="34" charset="-120"/>
              </a:rPr>
              <a:t>          read_hook.js"</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FF9E3D"/>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5EB3F5"/>
                </a:solidFill>
                <a:latin typeface="Consolas" pitchFamily="34" charset="0"/>
                <a:ea typeface="Consolas" pitchFamily="34" charset="-122"/>
                <a:cs typeface="Consolas" pitchFamily="34" charset="-120"/>
              </a:rPr>
              <a:t>  }</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a:t>
            </a:r>
            <a:endParaRPr lang="en-US" sz="1200" dirty="0"/>
          </a:p>
        </p:txBody>
      </p:sp>
      <p:sp>
        <p:nvSpPr>
          <p:cNvPr id="9" name="Text 7"/>
          <p:cNvSpPr/>
          <p:nvPr/>
        </p:nvSpPr>
        <p:spPr>
          <a:xfrm>
            <a:off x="6400800" y="1508760"/>
            <a:ext cx="5486400" cy="274320"/>
          </a:xfrm>
          <a:prstGeom prst="rect">
            <a:avLst/>
          </a:prstGeom>
          <a:noFill/>
          <a:ln/>
        </p:spPr>
        <p:txBody>
          <a:bodyPr wrap="square" lIns="0" tIns="0" rIns="0" bIns="0" rtlCol="0" anchor="ctr"/>
          <a:lstStyle/>
          <a:p>
            <a:pPr marL="0" indent="0">
              <a:buNone/>
            </a:pPr>
            <a:r>
              <a:rPr lang="en-US" sz="1000" i="1" dirty="0">
                <a:solidFill>
                  <a:srgbClr val="6B7785"/>
                </a:solidFill>
                <a:latin typeface="Consolas" pitchFamily="34" charset="0"/>
                <a:ea typeface="Consolas" pitchFamily="34" charset="-122"/>
                <a:cs typeface="Consolas" pitchFamily="34" charset="-120"/>
              </a:rPr>
              <a:t>hooks/read_hook.js</a:t>
            </a:r>
            <a:endParaRPr lang="en-US" sz="1000" dirty="0"/>
          </a:p>
        </p:txBody>
      </p:sp>
      <p:sp>
        <p:nvSpPr>
          <p:cNvPr id="10" name="Shape 8"/>
          <p:cNvSpPr/>
          <p:nvPr/>
        </p:nvSpPr>
        <p:spPr>
          <a:xfrm>
            <a:off x="6400800" y="1828800"/>
            <a:ext cx="5166360" cy="4023360"/>
          </a:xfrm>
          <a:prstGeom prst="rect">
            <a:avLst/>
          </a:prstGeom>
          <a:solidFill>
            <a:srgbClr val="1A2030"/>
          </a:solidFill>
          <a:ln w="12700">
            <a:solidFill>
              <a:srgbClr val="2A3441"/>
            </a:solidFill>
            <a:prstDash val="solid"/>
          </a:ln>
        </p:spPr>
        <p:txBody>
          <a:bodyPr/>
          <a:lstStyle/>
          <a:p>
            <a:endParaRPr lang="en-GB"/>
          </a:p>
        </p:txBody>
      </p:sp>
      <p:sp>
        <p:nvSpPr>
          <p:cNvPr id="11" name="Text 9"/>
          <p:cNvSpPr/>
          <p:nvPr/>
        </p:nvSpPr>
        <p:spPr>
          <a:xfrm>
            <a:off x="6583680" y="1920240"/>
            <a:ext cx="4937760" cy="3840480"/>
          </a:xfrm>
          <a:prstGeom prst="rect">
            <a:avLst/>
          </a:prstGeom>
          <a:noFill/>
          <a:ln/>
        </p:spPr>
        <p:txBody>
          <a:bodyPr wrap="square" lIns="0" tIns="0" rIns="0" bIns="0" rtlCol="0" anchor="t"/>
          <a:lstStyle/>
          <a:p>
            <a:pPr marL="0" indent="0">
              <a:buNone/>
            </a:pPr>
            <a:r>
              <a:rPr lang="en-US" sz="1100" dirty="0">
                <a:solidFill>
                  <a:srgbClr val="B9C4D0"/>
                </a:solidFill>
                <a:latin typeface="Consolas" pitchFamily="34" charset="0"/>
                <a:ea typeface="Consolas" pitchFamily="34" charset="-122"/>
                <a:cs typeface="Consolas" pitchFamily="34" charset="-120"/>
              </a:rPr>
              <a:t>process.stdin.setEncoding("utf8");</a:t>
            </a: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let input = "";</a:t>
            </a:r>
            <a:endParaRPr lang="en-US" sz="1100" dirty="0"/>
          </a:p>
          <a:p>
            <a:pPr marL="0" indent="0">
              <a:buNone/>
            </a:pP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process.stdin.on("data",</a:t>
            </a: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  (d) =&gt; (input += d));</a:t>
            </a:r>
            <a:endParaRPr lang="en-US" sz="1100" dirty="0"/>
          </a:p>
          <a:p>
            <a:pPr marL="0" indent="0">
              <a:buNone/>
            </a:pP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process.stdin.on("end", () =&gt; {</a:t>
            </a: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  const args = JSON.parse(input);</a:t>
            </a: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  const p = args.tool_input?</a:t>
            </a: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    .file_path || "";</a:t>
            </a:r>
            <a:endParaRPr lang="en-US" sz="1100" dirty="0"/>
          </a:p>
          <a:p>
            <a:pPr marL="0" indent="0">
              <a:buNone/>
            </a:pPr>
            <a:r>
              <a:rPr lang="en-US" sz="1100" b="1" dirty="0">
                <a:solidFill>
                  <a:srgbClr val="FF9E3D"/>
                </a:solidFill>
                <a:latin typeface="Consolas" pitchFamily="34" charset="0"/>
                <a:ea typeface="Consolas" pitchFamily="34" charset="-122"/>
                <a:cs typeface="Consolas" pitchFamily="34" charset="-120"/>
              </a:rPr>
              <a:t>  if (p.includes(".env")) {</a:t>
            </a:r>
            <a:endParaRPr lang="en-US" sz="1100" dirty="0"/>
          </a:p>
          <a:p>
            <a:pPr marL="0" indent="0">
              <a:buNone/>
            </a:pPr>
            <a:r>
              <a:rPr lang="en-US" sz="1100" dirty="0">
                <a:solidFill>
                  <a:srgbClr val="F87171"/>
                </a:solidFill>
                <a:latin typeface="Consolas" pitchFamily="34" charset="0"/>
                <a:ea typeface="Consolas" pitchFamily="34" charset="-122"/>
                <a:cs typeface="Consolas" pitchFamily="34" charset="-120"/>
              </a:rPr>
              <a:t>    console.error("Cannot read .env");</a:t>
            </a:r>
            <a:endParaRPr lang="en-US" sz="1100" dirty="0"/>
          </a:p>
          <a:p>
            <a:pPr marL="0" indent="0">
              <a:buNone/>
            </a:pPr>
            <a:r>
              <a:rPr lang="en-US" sz="1100" b="1" dirty="0">
                <a:solidFill>
                  <a:srgbClr val="F87171"/>
                </a:solidFill>
                <a:latin typeface="Consolas" pitchFamily="34" charset="0"/>
                <a:ea typeface="Consolas" pitchFamily="34" charset="-122"/>
                <a:cs typeface="Consolas" pitchFamily="34" charset="-120"/>
              </a:rPr>
              <a:t>    process.exit(2);  // block</a:t>
            </a:r>
            <a:endParaRPr lang="en-US" sz="1100" dirty="0"/>
          </a:p>
          <a:p>
            <a:pPr marL="0" indent="0">
              <a:buNone/>
            </a:pPr>
            <a:r>
              <a:rPr lang="en-US" sz="1100" b="1" dirty="0">
                <a:solidFill>
                  <a:srgbClr val="FF9E3D"/>
                </a:solidFill>
                <a:latin typeface="Consolas" pitchFamily="34" charset="0"/>
                <a:ea typeface="Consolas" pitchFamily="34" charset="-122"/>
                <a:cs typeface="Consolas" pitchFamily="34" charset="-120"/>
              </a:rPr>
              <a:t>  }</a:t>
            </a:r>
            <a:endParaRPr lang="en-US" sz="1100" dirty="0"/>
          </a:p>
          <a:p>
            <a:pPr marL="0" indent="0">
              <a:buNone/>
            </a:pPr>
            <a:r>
              <a:rPr lang="en-US" sz="1100" b="1" dirty="0">
                <a:solidFill>
                  <a:srgbClr val="8AE65C"/>
                </a:solidFill>
                <a:latin typeface="Consolas" pitchFamily="34" charset="0"/>
                <a:ea typeface="Consolas" pitchFamily="34" charset="-122"/>
                <a:cs typeface="Consolas" pitchFamily="34" charset="-120"/>
              </a:rPr>
              <a:t>  process.exit(0);  // allow</a:t>
            </a:r>
            <a:endParaRPr lang="en-US" sz="1100" dirty="0"/>
          </a:p>
          <a:p>
            <a:pPr marL="0" indent="0">
              <a:buNone/>
            </a:pPr>
            <a:r>
              <a:rPr lang="en-US" sz="1100" dirty="0">
                <a:solidFill>
                  <a:srgbClr val="B9C4D0"/>
                </a:solidFill>
                <a:latin typeface="Consolas" pitchFamily="34" charset="0"/>
                <a:ea typeface="Consolas" pitchFamily="34" charset="-122"/>
                <a:cs typeface="Consolas" pitchFamily="34" charset="-120"/>
              </a:rPr>
              <a:t>});</a:t>
            </a:r>
            <a:endParaRPr lang="en-US" sz="1100" dirty="0"/>
          </a:p>
        </p:txBody>
      </p:sp>
      <p:sp>
        <p:nvSpPr>
          <p:cNvPr id="12" name="Text 10"/>
          <p:cNvSpPr/>
          <p:nvPr/>
        </p:nvSpPr>
        <p:spPr>
          <a:xfrm>
            <a:off x="731520" y="5989320"/>
            <a:ext cx="10698480" cy="365760"/>
          </a:xfrm>
          <a:prstGeom prst="rect">
            <a:avLst/>
          </a:prstGeom>
          <a:noFill/>
          <a:ln/>
        </p:spPr>
        <p:txBody>
          <a:bodyPr wrap="square" lIns="0" tIns="0" rIns="0" bIns="0" rtlCol="0" anchor="ctr"/>
          <a:lstStyle/>
          <a:p>
            <a:pPr marL="0" indent="0">
              <a:buNone/>
            </a:pPr>
            <a:r>
              <a:rPr lang="en-US" sz="1100" i="1" dirty="0">
                <a:solidFill>
                  <a:srgbClr val="6B7785"/>
                </a:solidFill>
                <a:latin typeface="Calibri" pitchFamily="34" charset="0"/>
                <a:ea typeface="Calibri" pitchFamily="34" charset="-122"/>
                <a:cs typeface="Calibri" pitchFamily="34" charset="-120"/>
              </a:rPr>
              <a:t>Exit 0 = allow. Exit 2 = block (stderr becomes Claude's error message). For full coverage, also use permissions.deny rules.</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section_4/other_hooks.md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33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More hook types</a:t>
            </a:r>
            <a:endParaRPr lang="en-US" sz="3000" dirty="0"/>
          </a:p>
        </p:txBody>
      </p:sp>
      <p:sp>
        <p:nvSpPr>
          <p:cNvPr id="6" name="Text 4"/>
          <p:cNvSpPr/>
          <p:nvPr/>
        </p:nvSpPr>
        <p:spPr>
          <a:xfrm>
            <a:off x="731520" y="1417320"/>
            <a:ext cx="10972800" cy="457200"/>
          </a:xfrm>
          <a:prstGeom prst="rect">
            <a:avLst/>
          </a:prstGeom>
          <a:noFill/>
          <a:ln/>
        </p:spPr>
        <p:txBody>
          <a:bodyPr wrap="square" lIns="0" tIns="0" rIns="0" bIns="0" rtlCol="0" anchor="ctr"/>
          <a:lstStyle/>
          <a:p>
            <a:pPr marL="0" indent="0">
              <a:buNone/>
            </a:pPr>
            <a:r>
              <a:rPr lang="en-US" sz="1400" dirty="0">
                <a:solidFill>
                  <a:srgbClr val="B9C4D0"/>
                </a:solidFill>
                <a:latin typeface="Calibri" pitchFamily="34" charset="0"/>
                <a:ea typeface="Calibri" pitchFamily="34" charset="-122"/>
                <a:cs typeface="Calibri" pitchFamily="34" charset="-120"/>
              </a:rPr>
              <a:t>Beyond PreToolUse and PostToolUse, Claude Code fires hooks on other lifecycle events:</a:t>
            </a:r>
            <a:endParaRPr lang="en-US" sz="1400" dirty="0"/>
          </a:p>
        </p:txBody>
      </p:sp>
      <p:sp>
        <p:nvSpPr>
          <p:cNvPr id="7" name="Shape 5"/>
          <p:cNvSpPr/>
          <p:nvPr/>
        </p:nvSpPr>
        <p:spPr>
          <a:xfrm>
            <a:off x="731520" y="2011680"/>
            <a:ext cx="5349240" cy="777240"/>
          </a:xfrm>
          <a:prstGeom prst="rect">
            <a:avLst/>
          </a:prstGeom>
          <a:solidFill>
            <a:srgbClr val="131820"/>
          </a:solidFill>
          <a:ln w="12700">
            <a:solidFill>
              <a:srgbClr val="2A3441"/>
            </a:solidFill>
            <a:prstDash val="solid"/>
          </a:ln>
        </p:spPr>
        <p:txBody>
          <a:bodyPr/>
          <a:lstStyle/>
          <a:p>
            <a:endParaRPr lang="en-GB"/>
          </a:p>
        </p:txBody>
      </p:sp>
      <p:sp>
        <p:nvSpPr>
          <p:cNvPr id="8" name="Shape 6"/>
          <p:cNvSpPr/>
          <p:nvPr/>
        </p:nvSpPr>
        <p:spPr>
          <a:xfrm>
            <a:off x="731520" y="2011680"/>
            <a:ext cx="54864" cy="777240"/>
          </a:xfrm>
          <a:prstGeom prst="rect">
            <a:avLst/>
          </a:prstGeom>
          <a:solidFill>
            <a:srgbClr val="FF9E3D"/>
          </a:solidFill>
          <a:ln/>
        </p:spPr>
        <p:txBody>
          <a:bodyPr/>
          <a:lstStyle/>
          <a:p>
            <a:endParaRPr lang="en-GB"/>
          </a:p>
        </p:txBody>
      </p:sp>
      <p:sp>
        <p:nvSpPr>
          <p:cNvPr id="9" name="Text 7"/>
          <p:cNvSpPr/>
          <p:nvPr/>
        </p:nvSpPr>
        <p:spPr>
          <a:xfrm>
            <a:off x="960120" y="2011680"/>
            <a:ext cx="1828800" cy="77724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Notification</a:t>
            </a:r>
            <a:endParaRPr lang="en-US" sz="1400" dirty="0"/>
          </a:p>
        </p:txBody>
      </p:sp>
      <p:sp>
        <p:nvSpPr>
          <p:cNvPr id="10" name="Text 8"/>
          <p:cNvSpPr/>
          <p:nvPr/>
        </p:nvSpPr>
        <p:spPr>
          <a:xfrm>
            <a:off x="2788920" y="2011680"/>
            <a:ext cx="3154680" cy="77724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Claude needs permission, or has been idle 60s</a:t>
            </a:r>
            <a:endParaRPr lang="en-US" sz="1200" dirty="0"/>
          </a:p>
        </p:txBody>
      </p:sp>
      <p:sp>
        <p:nvSpPr>
          <p:cNvPr id="11" name="Shape 9"/>
          <p:cNvSpPr/>
          <p:nvPr/>
        </p:nvSpPr>
        <p:spPr>
          <a:xfrm>
            <a:off x="6263640" y="2011680"/>
            <a:ext cx="5349240" cy="777240"/>
          </a:xfrm>
          <a:prstGeom prst="rect">
            <a:avLst/>
          </a:prstGeom>
          <a:solidFill>
            <a:srgbClr val="131820"/>
          </a:solidFill>
          <a:ln w="12700">
            <a:solidFill>
              <a:srgbClr val="2A3441"/>
            </a:solidFill>
            <a:prstDash val="solid"/>
          </a:ln>
        </p:spPr>
        <p:txBody>
          <a:bodyPr/>
          <a:lstStyle/>
          <a:p>
            <a:endParaRPr lang="en-GB"/>
          </a:p>
        </p:txBody>
      </p:sp>
      <p:sp>
        <p:nvSpPr>
          <p:cNvPr id="12" name="Shape 10"/>
          <p:cNvSpPr/>
          <p:nvPr/>
        </p:nvSpPr>
        <p:spPr>
          <a:xfrm>
            <a:off x="6263640" y="2011680"/>
            <a:ext cx="54864" cy="777240"/>
          </a:xfrm>
          <a:prstGeom prst="rect">
            <a:avLst/>
          </a:prstGeom>
          <a:solidFill>
            <a:srgbClr val="FF9E3D"/>
          </a:solidFill>
          <a:ln/>
        </p:spPr>
        <p:txBody>
          <a:bodyPr/>
          <a:lstStyle/>
          <a:p>
            <a:endParaRPr lang="en-GB"/>
          </a:p>
        </p:txBody>
      </p:sp>
      <p:sp>
        <p:nvSpPr>
          <p:cNvPr id="13" name="Text 11"/>
          <p:cNvSpPr/>
          <p:nvPr/>
        </p:nvSpPr>
        <p:spPr>
          <a:xfrm>
            <a:off x="6492240" y="2011680"/>
            <a:ext cx="1828800" cy="77724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Stop</a:t>
            </a:r>
            <a:endParaRPr lang="en-US" sz="1400" dirty="0"/>
          </a:p>
        </p:txBody>
      </p:sp>
      <p:sp>
        <p:nvSpPr>
          <p:cNvPr id="14" name="Text 12"/>
          <p:cNvSpPr/>
          <p:nvPr/>
        </p:nvSpPr>
        <p:spPr>
          <a:xfrm>
            <a:off x="8321040" y="2011680"/>
            <a:ext cx="3154680" cy="77724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Claude finished responding</a:t>
            </a:r>
            <a:endParaRPr lang="en-US" sz="1200" dirty="0"/>
          </a:p>
        </p:txBody>
      </p:sp>
      <p:sp>
        <p:nvSpPr>
          <p:cNvPr id="15" name="Shape 13"/>
          <p:cNvSpPr/>
          <p:nvPr/>
        </p:nvSpPr>
        <p:spPr>
          <a:xfrm>
            <a:off x="731520" y="2926080"/>
            <a:ext cx="5349240" cy="777240"/>
          </a:xfrm>
          <a:prstGeom prst="rect">
            <a:avLst/>
          </a:prstGeom>
          <a:solidFill>
            <a:srgbClr val="131820"/>
          </a:solidFill>
          <a:ln w="12700">
            <a:solidFill>
              <a:srgbClr val="2A3441"/>
            </a:solidFill>
            <a:prstDash val="solid"/>
          </a:ln>
        </p:spPr>
        <p:txBody>
          <a:bodyPr/>
          <a:lstStyle/>
          <a:p>
            <a:endParaRPr lang="en-GB"/>
          </a:p>
        </p:txBody>
      </p:sp>
      <p:sp>
        <p:nvSpPr>
          <p:cNvPr id="16" name="Shape 14"/>
          <p:cNvSpPr/>
          <p:nvPr/>
        </p:nvSpPr>
        <p:spPr>
          <a:xfrm>
            <a:off x="731520" y="2926080"/>
            <a:ext cx="54864" cy="777240"/>
          </a:xfrm>
          <a:prstGeom prst="rect">
            <a:avLst/>
          </a:prstGeom>
          <a:solidFill>
            <a:srgbClr val="FF9E3D"/>
          </a:solidFill>
          <a:ln/>
        </p:spPr>
        <p:txBody>
          <a:bodyPr/>
          <a:lstStyle/>
          <a:p>
            <a:endParaRPr lang="en-GB"/>
          </a:p>
        </p:txBody>
      </p:sp>
      <p:sp>
        <p:nvSpPr>
          <p:cNvPr id="17" name="Text 15"/>
          <p:cNvSpPr/>
          <p:nvPr/>
        </p:nvSpPr>
        <p:spPr>
          <a:xfrm>
            <a:off x="960120" y="2926080"/>
            <a:ext cx="1828800" cy="77724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SubagentStop</a:t>
            </a:r>
            <a:endParaRPr lang="en-US" sz="1400" dirty="0"/>
          </a:p>
        </p:txBody>
      </p:sp>
      <p:sp>
        <p:nvSpPr>
          <p:cNvPr id="18" name="Text 16"/>
          <p:cNvSpPr/>
          <p:nvPr/>
        </p:nvSpPr>
        <p:spPr>
          <a:xfrm>
            <a:off x="2788920" y="2926080"/>
            <a:ext cx="3154680" cy="77724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A spawned subagent (Task) finished</a:t>
            </a:r>
            <a:endParaRPr lang="en-US" sz="1200" dirty="0"/>
          </a:p>
        </p:txBody>
      </p:sp>
      <p:sp>
        <p:nvSpPr>
          <p:cNvPr id="19" name="Shape 17"/>
          <p:cNvSpPr/>
          <p:nvPr/>
        </p:nvSpPr>
        <p:spPr>
          <a:xfrm>
            <a:off x="6263640" y="2926080"/>
            <a:ext cx="5349240" cy="777240"/>
          </a:xfrm>
          <a:prstGeom prst="rect">
            <a:avLst/>
          </a:prstGeom>
          <a:solidFill>
            <a:srgbClr val="131820"/>
          </a:solidFill>
          <a:ln w="12700">
            <a:solidFill>
              <a:srgbClr val="2A3441"/>
            </a:solidFill>
            <a:prstDash val="solid"/>
          </a:ln>
        </p:spPr>
        <p:txBody>
          <a:bodyPr/>
          <a:lstStyle/>
          <a:p>
            <a:endParaRPr lang="en-GB"/>
          </a:p>
        </p:txBody>
      </p:sp>
      <p:sp>
        <p:nvSpPr>
          <p:cNvPr id="20" name="Shape 18"/>
          <p:cNvSpPr/>
          <p:nvPr/>
        </p:nvSpPr>
        <p:spPr>
          <a:xfrm>
            <a:off x="6263640" y="2926080"/>
            <a:ext cx="54864" cy="777240"/>
          </a:xfrm>
          <a:prstGeom prst="rect">
            <a:avLst/>
          </a:prstGeom>
          <a:solidFill>
            <a:srgbClr val="FF9E3D"/>
          </a:solidFill>
          <a:ln/>
        </p:spPr>
        <p:txBody>
          <a:bodyPr/>
          <a:lstStyle/>
          <a:p>
            <a:endParaRPr lang="en-GB"/>
          </a:p>
        </p:txBody>
      </p:sp>
      <p:sp>
        <p:nvSpPr>
          <p:cNvPr id="21" name="Text 19"/>
          <p:cNvSpPr/>
          <p:nvPr/>
        </p:nvSpPr>
        <p:spPr>
          <a:xfrm>
            <a:off x="6492240" y="2926080"/>
            <a:ext cx="1828800" cy="77724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PreCompact</a:t>
            </a:r>
            <a:endParaRPr lang="en-US" sz="1400" dirty="0"/>
          </a:p>
        </p:txBody>
      </p:sp>
      <p:sp>
        <p:nvSpPr>
          <p:cNvPr id="22" name="Text 20"/>
          <p:cNvSpPr/>
          <p:nvPr/>
        </p:nvSpPr>
        <p:spPr>
          <a:xfrm>
            <a:off x="8321040" y="2926080"/>
            <a:ext cx="3154680" cy="77724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Before a compact runs — manual or automatic</a:t>
            </a:r>
            <a:endParaRPr lang="en-US" sz="1200" dirty="0"/>
          </a:p>
        </p:txBody>
      </p:sp>
      <p:sp>
        <p:nvSpPr>
          <p:cNvPr id="23" name="Shape 21"/>
          <p:cNvSpPr/>
          <p:nvPr/>
        </p:nvSpPr>
        <p:spPr>
          <a:xfrm>
            <a:off x="731520" y="3840480"/>
            <a:ext cx="5349240" cy="777240"/>
          </a:xfrm>
          <a:prstGeom prst="rect">
            <a:avLst/>
          </a:prstGeom>
          <a:solidFill>
            <a:srgbClr val="131820"/>
          </a:solidFill>
          <a:ln w="12700">
            <a:solidFill>
              <a:srgbClr val="2A3441"/>
            </a:solidFill>
            <a:prstDash val="solid"/>
          </a:ln>
        </p:spPr>
        <p:txBody>
          <a:bodyPr/>
          <a:lstStyle/>
          <a:p>
            <a:endParaRPr lang="en-GB"/>
          </a:p>
        </p:txBody>
      </p:sp>
      <p:sp>
        <p:nvSpPr>
          <p:cNvPr id="24" name="Shape 22"/>
          <p:cNvSpPr/>
          <p:nvPr/>
        </p:nvSpPr>
        <p:spPr>
          <a:xfrm>
            <a:off x="731520" y="3840480"/>
            <a:ext cx="54864" cy="777240"/>
          </a:xfrm>
          <a:prstGeom prst="rect">
            <a:avLst/>
          </a:prstGeom>
          <a:solidFill>
            <a:srgbClr val="FF9E3D"/>
          </a:solidFill>
          <a:ln/>
        </p:spPr>
        <p:txBody>
          <a:bodyPr/>
          <a:lstStyle/>
          <a:p>
            <a:endParaRPr lang="en-GB"/>
          </a:p>
        </p:txBody>
      </p:sp>
      <p:sp>
        <p:nvSpPr>
          <p:cNvPr id="25" name="Text 23"/>
          <p:cNvSpPr/>
          <p:nvPr/>
        </p:nvSpPr>
        <p:spPr>
          <a:xfrm>
            <a:off x="960120" y="3840480"/>
            <a:ext cx="1828800" cy="77724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UserPromptSubmit</a:t>
            </a:r>
            <a:endParaRPr lang="en-US" sz="1400" dirty="0"/>
          </a:p>
        </p:txBody>
      </p:sp>
      <p:sp>
        <p:nvSpPr>
          <p:cNvPr id="26" name="Text 24"/>
          <p:cNvSpPr/>
          <p:nvPr/>
        </p:nvSpPr>
        <p:spPr>
          <a:xfrm>
            <a:off x="2788920" y="3840480"/>
            <a:ext cx="3154680" cy="77724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Before Claude processes your prompt</a:t>
            </a:r>
            <a:endParaRPr lang="en-US" sz="1200" dirty="0"/>
          </a:p>
        </p:txBody>
      </p:sp>
      <p:sp>
        <p:nvSpPr>
          <p:cNvPr id="27" name="Shape 25"/>
          <p:cNvSpPr/>
          <p:nvPr/>
        </p:nvSpPr>
        <p:spPr>
          <a:xfrm>
            <a:off x="6263640" y="3840480"/>
            <a:ext cx="5349240" cy="777240"/>
          </a:xfrm>
          <a:prstGeom prst="rect">
            <a:avLst/>
          </a:prstGeom>
          <a:solidFill>
            <a:srgbClr val="131820"/>
          </a:solidFill>
          <a:ln w="12700">
            <a:solidFill>
              <a:srgbClr val="2A3441"/>
            </a:solidFill>
            <a:prstDash val="solid"/>
          </a:ln>
        </p:spPr>
        <p:txBody>
          <a:bodyPr/>
          <a:lstStyle/>
          <a:p>
            <a:endParaRPr lang="en-GB"/>
          </a:p>
        </p:txBody>
      </p:sp>
      <p:sp>
        <p:nvSpPr>
          <p:cNvPr id="28" name="Shape 26"/>
          <p:cNvSpPr/>
          <p:nvPr/>
        </p:nvSpPr>
        <p:spPr>
          <a:xfrm>
            <a:off x="6263640" y="3840480"/>
            <a:ext cx="54864" cy="777240"/>
          </a:xfrm>
          <a:prstGeom prst="rect">
            <a:avLst/>
          </a:prstGeom>
          <a:solidFill>
            <a:srgbClr val="FF9E3D"/>
          </a:solidFill>
          <a:ln/>
        </p:spPr>
        <p:txBody>
          <a:bodyPr/>
          <a:lstStyle/>
          <a:p>
            <a:endParaRPr lang="en-GB"/>
          </a:p>
        </p:txBody>
      </p:sp>
      <p:sp>
        <p:nvSpPr>
          <p:cNvPr id="29" name="Text 27"/>
          <p:cNvSpPr/>
          <p:nvPr/>
        </p:nvSpPr>
        <p:spPr>
          <a:xfrm>
            <a:off x="6492240" y="3840480"/>
            <a:ext cx="1828800" cy="77724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SessionStart</a:t>
            </a:r>
            <a:endParaRPr lang="en-US" sz="1400" dirty="0"/>
          </a:p>
        </p:txBody>
      </p:sp>
      <p:sp>
        <p:nvSpPr>
          <p:cNvPr id="30" name="Text 28"/>
          <p:cNvSpPr/>
          <p:nvPr/>
        </p:nvSpPr>
        <p:spPr>
          <a:xfrm>
            <a:off x="8321040" y="3840480"/>
            <a:ext cx="3154680" cy="77724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Starting or resuming a session</a:t>
            </a:r>
            <a:endParaRPr lang="en-US" sz="1200" dirty="0"/>
          </a:p>
        </p:txBody>
      </p:sp>
      <p:sp>
        <p:nvSpPr>
          <p:cNvPr id="31" name="Shape 29"/>
          <p:cNvSpPr/>
          <p:nvPr/>
        </p:nvSpPr>
        <p:spPr>
          <a:xfrm>
            <a:off x="731520" y="4754880"/>
            <a:ext cx="5349240" cy="777240"/>
          </a:xfrm>
          <a:prstGeom prst="rect">
            <a:avLst/>
          </a:prstGeom>
          <a:solidFill>
            <a:srgbClr val="131820"/>
          </a:solidFill>
          <a:ln w="12700">
            <a:solidFill>
              <a:srgbClr val="2A3441"/>
            </a:solidFill>
            <a:prstDash val="solid"/>
          </a:ln>
        </p:spPr>
        <p:txBody>
          <a:bodyPr/>
          <a:lstStyle/>
          <a:p>
            <a:endParaRPr lang="en-GB"/>
          </a:p>
        </p:txBody>
      </p:sp>
      <p:sp>
        <p:nvSpPr>
          <p:cNvPr id="32" name="Shape 30"/>
          <p:cNvSpPr/>
          <p:nvPr/>
        </p:nvSpPr>
        <p:spPr>
          <a:xfrm>
            <a:off x="731520" y="4754880"/>
            <a:ext cx="54864" cy="777240"/>
          </a:xfrm>
          <a:prstGeom prst="rect">
            <a:avLst/>
          </a:prstGeom>
          <a:solidFill>
            <a:srgbClr val="FF9E3D"/>
          </a:solidFill>
          <a:ln/>
        </p:spPr>
        <p:txBody>
          <a:bodyPr/>
          <a:lstStyle/>
          <a:p>
            <a:endParaRPr lang="en-GB"/>
          </a:p>
        </p:txBody>
      </p:sp>
      <p:sp>
        <p:nvSpPr>
          <p:cNvPr id="33" name="Text 31"/>
          <p:cNvSpPr/>
          <p:nvPr/>
        </p:nvSpPr>
        <p:spPr>
          <a:xfrm>
            <a:off x="960120" y="4754880"/>
            <a:ext cx="1828800" cy="777240"/>
          </a:xfrm>
          <a:prstGeom prst="rect">
            <a:avLst/>
          </a:prstGeom>
          <a:noFill/>
          <a:ln/>
        </p:spPr>
        <p:txBody>
          <a:bodyPr wrap="square" lIns="0" tIns="0" rIns="0" bIns="0" rtlCol="0" anchor="ctr"/>
          <a:lstStyle/>
          <a:p>
            <a:pPr marL="0" indent="0">
              <a:buNone/>
            </a:pPr>
            <a:r>
              <a:rPr lang="en-US" sz="1400" b="1" dirty="0">
                <a:solidFill>
                  <a:srgbClr val="FF9E3D"/>
                </a:solidFill>
                <a:latin typeface="Consolas" pitchFamily="34" charset="0"/>
                <a:ea typeface="Consolas" pitchFamily="34" charset="-122"/>
                <a:cs typeface="Consolas" pitchFamily="34" charset="-120"/>
              </a:rPr>
              <a:t>SessionEnd</a:t>
            </a:r>
            <a:endParaRPr lang="en-US" sz="1400" dirty="0"/>
          </a:p>
        </p:txBody>
      </p:sp>
      <p:sp>
        <p:nvSpPr>
          <p:cNvPr id="34" name="Text 32"/>
          <p:cNvSpPr/>
          <p:nvPr/>
        </p:nvSpPr>
        <p:spPr>
          <a:xfrm>
            <a:off x="2788920" y="4754880"/>
            <a:ext cx="3154680" cy="777240"/>
          </a:xfrm>
          <a:prstGeom prst="rect">
            <a:avLst/>
          </a:prstGeom>
          <a:noFill/>
          <a:ln/>
        </p:spPr>
        <p:txBody>
          <a:bodyPr wrap="square" lIns="0" tIns="0" rIns="0" bIns="0" rtlCol="0" anchor="ctr"/>
          <a:lstStyle/>
          <a:p>
            <a:pPr marL="0" indent="0">
              <a:buNone/>
            </a:pPr>
            <a:r>
              <a:rPr lang="en-US" sz="1200" dirty="0">
                <a:solidFill>
                  <a:srgbClr val="B9C4D0"/>
                </a:solidFill>
                <a:latin typeface="Calibri" pitchFamily="34" charset="0"/>
                <a:ea typeface="Calibri" pitchFamily="34" charset="-122"/>
                <a:cs typeface="Calibri" pitchFamily="34" charset="-120"/>
              </a:rPr>
              <a:t>Session ends</a:t>
            </a:r>
            <a:endParaRPr lang="en-US" sz="1200" dirty="0"/>
          </a:p>
        </p:txBody>
      </p:sp>
      <p:sp>
        <p:nvSpPr>
          <p:cNvPr id="35" name="Shape 33"/>
          <p:cNvSpPr/>
          <p:nvPr/>
        </p:nvSpPr>
        <p:spPr>
          <a:xfrm>
            <a:off x="731520" y="5532120"/>
            <a:ext cx="10698480" cy="777240"/>
          </a:xfrm>
          <a:prstGeom prst="rect">
            <a:avLst/>
          </a:prstGeom>
          <a:solidFill>
            <a:srgbClr val="1A2030"/>
          </a:solidFill>
          <a:ln w="12700">
            <a:solidFill>
              <a:srgbClr val="5EB3F5"/>
            </a:solidFill>
            <a:prstDash val="solid"/>
          </a:ln>
        </p:spPr>
        <p:txBody>
          <a:bodyPr/>
          <a:lstStyle/>
          <a:p>
            <a:endParaRPr lang="en-GB"/>
          </a:p>
        </p:txBody>
      </p:sp>
      <p:sp>
        <p:nvSpPr>
          <p:cNvPr id="36" name="Text 34"/>
          <p:cNvSpPr/>
          <p:nvPr/>
        </p:nvSpPr>
        <p:spPr>
          <a:xfrm>
            <a:off x="914400" y="5532120"/>
            <a:ext cx="10515600" cy="777240"/>
          </a:xfrm>
          <a:prstGeom prst="rect">
            <a:avLst/>
          </a:prstGeom>
          <a:noFill/>
          <a:ln/>
        </p:spPr>
        <p:txBody>
          <a:bodyPr wrap="square" lIns="0" tIns="0" rIns="0" bIns="0" rtlCol="0" anchor="ctr"/>
          <a:lstStyle/>
          <a:p>
            <a:pPr marL="0" indent="0">
              <a:buNone/>
            </a:pPr>
            <a:r>
              <a:rPr lang="en-US" sz="1200" b="1" dirty="0">
                <a:solidFill>
                  <a:srgbClr val="5EB3F5"/>
                </a:solidFill>
                <a:latin typeface="Consolas" pitchFamily="34" charset="0"/>
                <a:ea typeface="Consolas" pitchFamily="34" charset="-122"/>
                <a:cs typeface="Consolas" pitchFamily="34" charset="-120"/>
              </a:rPr>
              <a:t>💡 Debugging tip: </a:t>
            </a:r>
            <a:r>
              <a:rPr lang="en-US" sz="1200" dirty="0">
                <a:solidFill>
                  <a:srgbClr val="B9C4D0"/>
                </a:solidFill>
                <a:latin typeface="Calibri" pitchFamily="34" charset="0"/>
                <a:ea typeface="Calibri" pitchFamily="34" charset="-122"/>
                <a:cs typeface="Calibri" pitchFamily="34" charset="-120"/>
              </a:rPr>
              <a:t>Not sure what fields a hook receives? Pipe stdin to a file with </a:t>
            </a:r>
            <a:r>
              <a:rPr lang="en-US" sz="1200" b="1" dirty="0">
                <a:solidFill>
                  <a:srgbClr val="8AE65C"/>
                </a:solidFill>
                <a:latin typeface="Consolas" pitchFamily="34" charset="0"/>
                <a:ea typeface="Consolas" pitchFamily="34" charset="-122"/>
                <a:cs typeface="Consolas" pitchFamily="34" charset="-120"/>
              </a:rPr>
              <a:t>jq . &gt; post-log.json</a:t>
            </a:r>
            <a:r>
              <a:rPr lang="en-US" sz="1200" dirty="0">
                <a:solidFill>
                  <a:srgbClr val="B9C4D0"/>
                </a:solidFill>
                <a:latin typeface="Calibri" pitchFamily="34" charset="0"/>
                <a:ea typeface="Calibri" pitchFamily="34" charset="-122"/>
                <a:cs typeface="Calibri" pitchFamily="34" charset="-120"/>
              </a:rPr>
              <a:t> and inspect.</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0E14"/>
        </a:solidFill>
        <a:effectLst/>
      </p:bgPr>
    </p:bg>
    <p:spTree>
      <p:nvGrpSpPr>
        <p:cNvPr id="1" name=""/>
        <p:cNvGrpSpPr/>
        <p:nvPr/>
      </p:nvGrpSpPr>
      <p:grpSpPr>
        <a:xfrm>
          <a:off x="0" y="0"/>
          <a:ext cx="0" cy="0"/>
          <a:chOff x="0" y="0"/>
          <a:chExt cx="0" cy="0"/>
        </a:xfrm>
      </p:grpSpPr>
      <p:sp>
        <p:nvSpPr>
          <p:cNvPr id="2" name="Text 0"/>
          <p:cNvSpPr/>
          <p:nvPr/>
        </p:nvSpPr>
        <p:spPr>
          <a:xfrm>
            <a:off x="457200" y="274320"/>
            <a:ext cx="7315200" cy="274320"/>
          </a:xfrm>
          <a:prstGeom prst="rect">
            <a:avLst/>
          </a:prstGeom>
          <a:noFill/>
          <a:ln/>
        </p:spPr>
        <p:txBody>
          <a:bodyPr wrap="square" lIns="0" tIns="0" rIns="0" bIns="0" rtlCol="0" anchor="ctr"/>
          <a:lstStyle/>
          <a:p>
            <a:pPr marL="0" indent="0">
              <a:buNone/>
            </a:pPr>
            <a:r>
              <a:rPr lang="en-US" sz="1100" dirty="0">
                <a:solidFill>
                  <a:srgbClr val="8AE65C"/>
                </a:solidFill>
                <a:latin typeface="Consolas" pitchFamily="34" charset="0"/>
                <a:ea typeface="Consolas" pitchFamily="34" charset="-122"/>
                <a:cs typeface="Consolas" pitchFamily="34" charset="-120"/>
              </a:rPr>
              <a:t>$ </a:t>
            </a:r>
            <a:r>
              <a:rPr lang="en-US" sz="1100" dirty="0">
                <a:solidFill>
                  <a:srgbClr val="6B7785"/>
                </a:solidFill>
                <a:latin typeface="Consolas" pitchFamily="34" charset="0"/>
                <a:ea typeface="Consolas" pitchFamily="34" charset="-122"/>
                <a:cs typeface="Consolas" pitchFamily="34" charset="-120"/>
              </a:rPr>
              <a:t>section_4/sdk.md</a:t>
            </a:r>
            <a:endParaRPr lang="en-US" sz="1100" dirty="0"/>
          </a:p>
        </p:txBody>
      </p:sp>
      <p:sp>
        <p:nvSpPr>
          <p:cNvPr id="3" name="Text 1"/>
          <p:cNvSpPr/>
          <p:nvPr/>
        </p:nvSpPr>
        <p:spPr>
          <a:xfrm>
            <a:off x="10820095" y="274320"/>
            <a:ext cx="1005840" cy="274320"/>
          </a:xfrm>
          <a:prstGeom prst="rect">
            <a:avLst/>
          </a:prstGeom>
          <a:noFill/>
          <a:ln/>
        </p:spPr>
        <p:txBody>
          <a:bodyPr wrap="square" lIns="0" tIns="0" rIns="0" bIns="0" rtlCol="0" anchor="ctr"/>
          <a:lstStyle/>
          <a:p>
            <a:pPr marL="0" indent="0" algn="r">
              <a:buNone/>
            </a:pPr>
            <a:r>
              <a:rPr lang="en-US" sz="1000" dirty="0">
                <a:solidFill>
                  <a:srgbClr val="6B7785"/>
                </a:solidFill>
                <a:latin typeface="Consolas" pitchFamily="34" charset="0"/>
                <a:ea typeface="Consolas" pitchFamily="34" charset="-122"/>
                <a:cs typeface="Consolas" pitchFamily="34" charset="-120"/>
              </a:rPr>
              <a:t>34 / 35</a:t>
            </a:r>
            <a:endParaRPr lang="en-US" sz="1000" dirty="0"/>
          </a:p>
        </p:txBody>
      </p:sp>
      <p:sp>
        <p:nvSpPr>
          <p:cNvPr id="4" name="Text 2"/>
          <p:cNvSpPr/>
          <p:nvPr/>
        </p:nvSpPr>
        <p:spPr>
          <a:xfrm>
            <a:off x="457200" y="6492240"/>
            <a:ext cx="5486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a:t>
            </a:r>
            <a:endParaRPr lang="en-US" sz="900" dirty="0"/>
          </a:p>
        </p:txBody>
      </p:sp>
      <p:sp>
        <p:nvSpPr>
          <p:cNvPr id="5" name="Text 3"/>
          <p:cNvSpPr/>
          <p:nvPr/>
        </p:nvSpPr>
        <p:spPr>
          <a:xfrm>
            <a:off x="457200" y="685800"/>
            <a:ext cx="11247120" cy="640080"/>
          </a:xfrm>
          <a:prstGeom prst="rect">
            <a:avLst/>
          </a:prstGeom>
          <a:noFill/>
          <a:ln/>
        </p:spPr>
        <p:txBody>
          <a:bodyPr wrap="square" lIns="0" tIns="0" rIns="0" bIns="0" rtlCol="0" anchor="ctr"/>
          <a:lstStyle/>
          <a:p>
            <a:pPr marL="0" indent="0">
              <a:buNone/>
            </a:pPr>
            <a:r>
              <a:rPr lang="en-US" sz="3000" b="1" dirty="0">
                <a:solidFill>
                  <a:srgbClr val="E6EDF3"/>
                </a:solidFill>
                <a:latin typeface="Consolas" pitchFamily="34" charset="0"/>
                <a:ea typeface="Consolas" pitchFamily="34" charset="-122"/>
                <a:cs typeface="Consolas" pitchFamily="34" charset="-120"/>
              </a:rPr>
              <a:t>The Claude Code SDK</a:t>
            </a:r>
            <a:endParaRPr lang="en-US" sz="3000" dirty="0"/>
          </a:p>
        </p:txBody>
      </p:sp>
      <p:sp>
        <p:nvSpPr>
          <p:cNvPr id="6" name="Text 4"/>
          <p:cNvSpPr/>
          <p:nvPr/>
        </p:nvSpPr>
        <p:spPr>
          <a:xfrm>
            <a:off x="731520" y="1417320"/>
            <a:ext cx="10972800" cy="457200"/>
          </a:xfrm>
          <a:prstGeom prst="rect">
            <a:avLst/>
          </a:prstGeom>
          <a:noFill/>
          <a:ln/>
        </p:spPr>
        <p:txBody>
          <a:bodyPr wrap="square" lIns="0" tIns="0" rIns="0" bIns="0" rtlCol="0" anchor="ctr"/>
          <a:lstStyle/>
          <a:p>
            <a:pPr marL="0" indent="0">
              <a:buNone/>
            </a:pPr>
            <a:r>
              <a:rPr lang="en-US" sz="1500" dirty="0">
                <a:solidFill>
                  <a:srgbClr val="B9C4D0"/>
                </a:solidFill>
                <a:latin typeface="Calibri" pitchFamily="34" charset="0"/>
                <a:ea typeface="Calibri" pitchFamily="34" charset="-122"/>
                <a:cs typeface="Calibri" pitchFamily="34" charset="-120"/>
              </a:rPr>
              <a:t>Run Claude Code programmatically — embed it in scripts, pipelines, or other tools.</a:t>
            </a:r>
            <a:endParaRPr lang="en-US" sz="1500" dirty="0"/>
          </a:p>
        </p:txBody>
      </p:sp>
      <p:sp>
        <p:nvSpPr>
          <p:cNvPr id="7" name="Shape 5"/>
          <p:cNvSpPr/>
          <p:nvPr/>
        </p:nvSpPr>
        <p:spPr>
          <a:xfrm>
            <a:off x="731520" y="2057400"/>
            <a:ext cx="5349240" cy="3840480"/>
          </a:xfrm>
          <a:prstGeom prst="rect">
            <a:avLst/>
          </a:prstGeom>
          <a:solidFill>
            <a:srgbClr val="131820"/>
          </a:solidFill>
          <a:ln w="12700">
            <a:solidFill>
              <a:srgbClr val="2A3441"/>
            </a:solidFill>
            <a:prstDash val="solid"/>
          </a:ln>
        </p:spPr>
        <p:txBody>
          <a:bodyPr/>
          <a:lstStyle/>
          <a:p>
            <a:endParaRPr lang="en-GB"/>
          </a:p>
        </p:txBody>
      </p:sp>
      <p:sp>
        <p:nvSpPr>
          <p:cNvPr id="8" name="Text 6"/>
          <p:cNvSpPr/>
          <p:nvPr/>
        </p:nvSpPr>
        <p:spPr>
          <a:xfrm>
            <a:off x="914400" y="2194560"/>
            <a:ext cx="5029200" cy="411480"/>
          </a:xfrm>
          <a:prstGeom prst="rect">
            <a:avLst/>
          </a:prstGeom>
          <a:noFill/>
          <a:ln/>
        </p:spPr>
        <p:txBody>
          <a:bodyPr wrap="square" lIns="0" tIns="0" rIns="0" bIns="0" rtlCol="0" anchor="ctr"/>
          <a:lstStyle/>
          <a:p>
            <a:pPr marL="0" indent="0">
              <a:buNone/>
            </a:pPr>
            <a:r>
              <a:rPr lang="en-US" sz="1600" b="1" dirty="0">
                <a:solidFill>
                  <a:srgbClr val="FF9E3D"/>
                </a:solidFill>
                <a:latin typeface="Consolas" pitchFamily="34" charset="0"/>
                <a:ea typeface="Consolas" pitchFamily="34" charset="-122"/>
                <a:cs typeface="Consolas" pitchFamily="34" charset="-120"/>
              </a:rPr>
              <a:t>Key facts</a:t>
            </a:r>
            <a:endParaRPr lang="en-US" sz="1600" dirty="0"/>
          </a:p>
        </p:txBody>
      </p:sp>
      <p:sp>
        <p:nvSpPr>
          <p:cNvPr id="9" name="Text 7"/>
          <p:cNvSpPr/>
          <p:nvPr/>
        </p:nvSpPr>
        <p:spPr>
          <a:xfrm>
            <a:off x="914400" y="2697480"/>
            <a:ext cx="5029200" cy="246888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B9C4D0"/>
                </a:solidFill>
                <a:latin typeface="Calibri" pitchFamily="34" charset="0"/>
                <a:ea typeface="Calibri" pitchFamily="34" charset="-122"/>
                <a:cs typeface="Calibri" pitchFamily="34" charset="-120"/>
              </a:rPr>
              <a:t>TypeScript, Python, or CLI</a:t>
            </a:r>
            <a:endParaRPr lang="en-US" sz="1300" dirty="0"/>
          </a:p>
          <a:p>
            <a:pPr marL="342900" indent="-342900">
              <a:spcAft>
                <a:spcPts val="600"/>
              </a:spcAft>
              <a:buSzPct val="100000"/>
              <a:buChar char="►"/>
            </a:pPr>
            <a:r>
              <a:rPr lang="en-US" sz="1300" dirty="0">
                <a:solidFill>
                  <a:srgbClr val="B9C4D0"/>
                </a:solidFill>
                <a:latin typeface="Calibri" pitchFamily="34" charset="0"/>
                <a:ea typeface="Calibri" pitchFamily="34" charset="-122"/>
                <a:cs typeface="Calibri" pitchFamily="34" charset="-120"/>
              </a:rPr>
              <a:t>Same Claude Code, programmatic</a:t>
            </a:r>
            <a:endParaRPr lang="en-US" sz="1300" dirty="0"/>
          </a:p>
          <a:p>
            <a:pPr marL="342900" indent="-342900">
              <a:spcAft>
                <a:spcPts val="600"/>
              </a:spcAft>
              <a:buSzPct val="100000"/>
              <a:buChar char="►"/>
            </a:pPr>
            <a:r>
              <a:rPr lang="en-US" sz="1300" dirty="0">
                <a:solidFill>
                  <a:srgbClr val="B9C4D0"/>
                </a:solidFill>
                <a:latin typeface="Calibri" pitchFamily="34" charset="0"/>
                <a:ea typeface="Calibri" pitchFamily="34" charset="-122"/>
                <a:cs typeface="Calibri" pitchFamily="34" charset="-120"/>
              </a:rPr>
              <a:t>Inherits settings of its directory</a:t>
            </a:r>
            <a:endParaRPr lang="en-US" sz="1300" dirty="0"/>
          </a:p>
          <a:p>
            <a:pPr marL="342900" indent="-342900">
              <a:spcAft>
                <a:spcPts val="600"/>
              </a:spcAft>
              <a:buSzPct val="100000"/>
              <a:buChar char="►"/>
            </a:pPr>
            <a:r>
              <a:rPr lang="en-US" sz="1300" dirty="0">
                <a:solidFill>
                  <a:srgbClr val="B9C4D0"/>
                </a:solidFill>
                <a:latin typeface="Calibri" pitchFamily="34" charset="0"/>
                <a:ea typeface="Calibri" pitchFamily="34" charset="-122"/>
                <a:cs typeface="Calibri" pitchFamily="34" charset="-120"/>
              </a:rPr>
              <a:t>Read-only permissions by default</a:t>
            </a:r>
            <a:endParaRPr lang="en-US" sz="1300" dirty="0"/>
          </a:p>
          <a:p>
            <a:pPr marL="342900" indent="-342900">
              <a:spcAft>
                <a:spcPts val="600"/>
              </a:spcAft>
              <a:buSzPct val="100000"/>
              <a:buChar char="►"/>
            </a:pPr>
            <a:r>
              <a:rPr lang="en-US" sz="1300" dirty="0">
                <a:solidFill>
                  <a:srgbClr val="B9C4D0"/>
                </a:solidFill>
                <a:latin typeface="Calibri" pitchFamily="34" charset="0"/>
                <a:ea typeface="Calibri" pitchFamily="34" charset="-122"/>
                <a:cs typeface="Calibri" pitchFamily="34" charset="-120"/>
              </a:rPr>
              <a:t>Useful in pipelines &amp; custom tools</a:t>
            </a:r>
            <a:endParaRPr lang="en-US" sz="1300" dirty="0"/>
          </a:p>
        </p:txBody>
      </p:sp>
      <p:sp>
        <p:nvSpPr>
          <p:cNvPr id="10" name="Shape 8"/>
          <p:cNvSpPr/>
          <p:nvPr/>
        </p:nvSpPr>
        <p:spPr>
          <a:xfrm>
            <a:off x="914400" y="5166360"/>
            <a:ext cx="4983480" cy="548640"/>
          </a:xfrm>
          <a:prstGeom prst="rect">
            <a:avLst/>
          </a:prstGeom>
          <a:solidFill>
            <a:srgbClr val="1A2030"/>
          </a:solidFill>
          <a:ln w="12700">
            <a:solidFill>
              <a:srgbClr val="2A3441"/>
            </a:solidFill>
            <a:prstDash val="solid"/>
          </a:ln>
        </p:spPr>
        <p:txBody>
          <a:bodyPr/>
          <a:lstStyle/>
          <a:p>
            <a:endParaRPr lang="en-GB"/>
          </a:p>
        </p:txBody>
      </p:sp>
      <p:sp>
        <p:nvSpPr>
          <p:cNvPr id="11" name="Text 9"/>
          <p:cNvSpPr/>
          <p:nvPr/>
        </p:nvSpPr>
        <p:spPr>
          <a:xfrm>
            <a:off x="1051560" y="5166360"/>
            <a:ext cx="4709160" cy="548640"/>
          </a:xfrm>
          <a:prstGeom prst="rect">
            <a:avLst/>
          </a:prstGeom>
          <a:noFill/>
          <a:ln/>
        </p:spPr>
        <p:txBody>
          <a:bodyPr wrap="square" lIns="0" tIns="0" rIns="0" bIns="0" rtlCol="0" anchor="ctr"/>
          <a:lstStyle/>
          <a:p>
            <a:pPr marL="0" indent="0">
              <a:buNone/>
            </a:pPr>
            <a:r>
              <a:rPr lang="en-US" sz="1100" b="1" dirty="0">
                <a:solidFill>
                  <a:srgbClr val="8AE65C"/>
                </a:solidFill>
                <a:latin typeface="Consolas" pitchFamily="34" charset="0"/>
                <a:ea typeface="Consolas" pitchFamily="34" charset="-122"/>
                <a:cs typeface="Consolas" pitchFamily="34" charset="-120"/>
              </a:rPr>
              <a:t>$ </a:t>
            </a:r>
            <a:r>
              <a:rPr lang="en-US" sz="1100" dirty="0">
                <a:solidFill>
                  <a:srgbClr val="E6EDF3"/>
                </a:solidFill>
                <a:latin typeface="Consolas" pitchFamily="34" charset="0"/>
                <a:ea typeface="Consolas" pitchFamily="34" charset="-122"/>
                <a:cs typeface="Consolas" pitchFamily="34" charset="-120"/>
              </a:rPr>
              <a:t>npm i @anthropic-ai/claude-agent-sdk</a:t>
            </a:r>
            <a:endParaRPr lang="en-US" sz="1100" dirty="0"/>
          </a:p>
        </p:txBody>
      </p:sp>
      <p:sp>
        <p:nvSpPr>
          <p:cNvPr id="12" name="Text 10"/>
          <p:cNvSpPr/>
          <p:nvPr/>
        </p:nvSpPr>
        <p:spPr>
          <a:xfrm>
            <a:off x="6309360" y="2057400"/>
            <a:ext cx="5486400" cy="320040"/>
          </a:xfrm>
          <a:prstGeom prst="rect">
            <a:avLst/>
          </a:prstGeom>
          <a:noFill/>
          <a:ln/>
        </p:spPr>
        <p:txBody>
          <a:bodyPr wrap="square" lIns="0" tIns="0" rIns="0" bIns="0" rtlCol="0" anchor="ctr"/>
          <a:lstStyle/>
          <a:p>
            <a:pPr marL="0" indent="0">
              <a:buNone/>
            </a:pPr>
            <a:r>
              <a:rPr lang="en-US" sz="1100" i="1" dirty="0">
                <a:solidFill>
                  <a:srgbClr val="6B7785"/>
                </a:solidFill>
                <a:latin typeface="Consolas" pitchFamily="34" charset="0"/>
                <a:ea typeface="Consolas" pitchFamily="34" charset="-122"/>
                <a:cs typeface="Consolas" pitchFamily="34" charset="-120"/>
              </a:rPr>
              <a:t>Minimal example (index.mjs)</a:t>
            </a:r>
            <a:endParaRPr lang="en-US" sz="1100" dirty="0"/>
          </a:p>
        </p:txBody>
      </p:sp>
      <p:sp>
        <p:nvSpPr>
          <p:cNvPr id="13" name="Shape 11"/>
          <p:cNvSpPr/>
          <p:nvPr/>
        </p:nvSpPr>
        <p:spPr>
          <a:xfrm>
            <a:off x="6309360" y="2423160"/>
            <a:ext cx="5349240" cy="3474720"/>
          </a:xfrm>
          <a:prstGeom prst="rect">
            <a:avLst/>
          </a:prstGeom>
          <a:solidFill>
            <a:srgbClr val="1A2030"/>
          </a:solidFill>
          <a:ln w="12700">
            <a:solidFill>
              <a:srgbClr val="2A3441"/>
            </a:solidFill>
            <a:prstDash val="solid"/>
          </a:ln>
        </p:spPr>
        <p:txBody>
          <a:bodyPr/>
          <a:lstStyle/>
          <a:p>
            <a:endParaRPr lang="en-GB"/>
          </a:p>
        </p:txBody>
      </p:sp>
      <p:sp>
        <p:nvSpPr>
          <p:cNvPr id="14" name="Text 12"/>
          <p:cNvSpPr/>
          <p:nvPr/>
        </p:nvSpPr>
        <p:spPr>
          <a:xfrm>
            <a:off x="6492240" y="2514600"/>
            <a:ext cx="5074920" cy="3566160"/>
          </a:xfrm>
          <a:prstGeom prst="rect">
            <a:avLst/>
          </a:prstGeom>
          <a:noFill/>
          <a:ln/>
        </p:spPr>
        <p:txBody>
          <a:bodyPr wrap="square" lIns="0" tIns="0" rIns="0" bIns="0" rtlCol="0" anchor="t"/>
          <a:lstStyle/>
          <a:p>
            <a:pPr marL="0" indent="0">
              <a:buNone/>
            </a:pPr>
            <a:r>
              <a:rPr lang="en-US" sz="1200" b="1" dirty="0">
                <a:solidFill>
                  <a:srgbClr val="C792EA"/>
                </a:solidFill>
                <a:latin typeface="Consolas" pitchFamily="34" charset="0"/>
                <a:ea typeface="Consolas" pitchFamily="34" charset="-122"/>
                <a:cs typeface="Consolas" pitchFamily="34" charset="-120"/>
              </a:rPr>
              <a:t>import </a:t>
            </a:r>
            <a:r>
              <a:rPr lang="en-US" sz="1200" dirty="0">
                <a:solidFill>
                  <a:srgbClr val="B9C4D0"/>
                </a:solidFill>
                <a:latin typeface="Consolas" pitchFamily="34" charset="0"/>
                <a:ea typeface="Consolas" pitchFamily="34" charset="-122"/>
                <a:cs typeface="Consolas" pitchFamily="34" charset="-120"/>
              </a:rPr>
              <a:t>{ query } </a:t>
            </a:r>
            <a:r>
              <a:rPr lang="en-US" sz="1200" b="1" dirty="0">
                <a:solidFill>
                  <a:srgbClr val="C792EA"/>
                </a:solidFill>
                <a:latin typeface="Consolas" pitchFamily="34" charset="0"/>
                <a:ea typeface="Consolas" pitchFamily="34" charset="-122"/>
                <a:cs typeface="Consolas" pitchFamily="34" charset="-120"/>
              </a:rPr>
              <a:t>from</a:t>
            </a:r>
            <a:r>
              <a:rPr lang="en-US" sz="1200" dirty="0">
                <a:solidFill>
                  <a:srgbClr val="8AE65C"/>
                </a:solidFill>
                <a:latin typeface="Consolas" pitchFamily="34" charset="0"/>
                <a:ea typeface="Consolas" pitchFamily="34" charset="-122"/>
                <a:cs typeface="Consolas" pitchFamily="34" charset="-120"/>
              </a:rPr>
              <a:t> "@anthropic-ai/claude</a:t>
            </a:r>
            <a:endParaRPr lang="en-US" sz="1200" dirty="0"/>
          </a:p>
          <a:p>
            <a:pPr marL="0" indent="0">
              <a:buNone/>
            </a:pPr>
            <a:r>
              <a:rPr lang="en-US" sz="1200" dirty="0">
                <a:solidFill>
                  <a:srgbClr val="8AE65C"/>
                </a:solidFill>
                <a:latin typeface="Consolas" pitchFamily="34" charset="0"/>
                <a:ea typeface="Consolas" pitchFamily="34" charset="-122"/>
                <a:cs typeface="Consolas" pitchFamily="34" charset="-120"/>
              </a:rPr>
              <a:t>  -agent-sdk";</a:t>
            </a:r>
            <a:endParaRPr lang="en-US" sz="1200" dirty="0"/>
          </a:p>
          <a:p>
            <a:pPr marL="0" indent="0">
              <a:buNone/>
            </a:pP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const prompt = "List the files</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  in the current directory";</a:t>
            </a:r>
            <a:endParaRPr lang="en-US" sz="1200" dirty="0"/>
          </a:p>
          <a:p>
            <a:pPr marL="0" indent="0">
              <a:buNone/>
            </a:pPr>
            <a:endParaRPr lang="en-US" sz="1200" dirty="0"/>
          </a:p>
          <a:p>
            <a:pPr marL="0" indent="0">
              <a:buNone/>
            </a:pPr>
            <a:r>
              <a:rPr lang="en-US" sz="1200" b="1" dirty="0">
                <a:solidFill>
                  <a:srgbClr val="C792EA"/>
                </a:solidFill>
                <a:latin typeface="Consolas" pitchFamily="34" charset="0"/>
                <a:ea typeface="Consolas" pitchFamily="34" charset="-122"/>
                <a:cs typeface="Consolas" pitchFamily="34" charset="-120"/>
              </a:rPr>
              <a:t>for await </a:t>
            </a:r>
            <a:r>
              <a:rPr lang="en-US" sz="1200" dirty="0">
                <a:solidFill>
                  <a:srgbClr val="B9C4D0"/>
                </a:solidFill>
                <a:latin typeface="Consolas" pitchFamily="34" charset="0"/>
                <a:ea typeface="Consolas" pitchFamily="34" charset="-122"/>
                <a:cs typeface="Consolas" pitchFamily="34" charset="-120"/>
              </a:rPr>
              <a:t>(</a:t>
            </a:r>
            <a:r>
              <a:rPr lang="en-US" sz="1200" b="1" dirty="0">
                <a:solidFill>
                  <a:srgbClr val="C792EA"/>
                </a:solidFill>
                <a:latin typeface="Consolas" pitchFamily="34" charset="0"/>
                <a:ea typeface="Consolas" pitchFamily="34" charset="-122"/>
                <a:cs typeface="Consolas" pitchFamily="34" charset="-120"/>
              </a:rPr>
              <a:t>const </a:t>
            </a:r>
            <a:r>
              <a:rPr lang="en-US" sz="1200" dirty="0">
                <a:solidFill>
                  <a:srgbClr val="B9C4D0"/>
                </a:solidFill>
                <a:latin typeface="Consolas" pitchFamily="34" charset="0"/>
                <a:ea typeface="Consolas" pitchFamily="34" charset="-122"/>
                <a:cs typeface="Consolas" pitchFamily="34" charset="-120"/>
              </a:rPr>
              <a:t>msg </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  of query({ prompt })) {</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  console.log(msg);</a:t>
            </a:r>
            <a:endParaRPr lang="en-US" sz="1200" dirty="0"/>
          </a:p>
          <a:p>
            <a:pPr marL="0" indent="0">
              <a:buNone/>
            </a:pPr>
            <a:r>
              <a:rPr lang="en-US" sz="1200" dirty="0">
                <a:solidFill>
                  <a:srgbClr val="B9C4D0"/>
                </a:solidFill>
                <a:latin typeface="Consolas" pitchFamily="34" charset="0"/>
                <a:ea typeface="Consolas" pitchFamily="34" charset="-122"/>
                <a:cs typeface="Consolas" pitchFamily="34" charset="-120"/>
              </a:rPr>
              <a:t>}</a:t>
            </a:r>
            <a:endParaRPr lang="en-US" sz="1200" dirty="0"/>
          </a:p>
        </p:txBody>
      </p:sp>
      <p:sp>
        <p:nvSpPr>
          <p:cNvPr id="15" name="Text 13"/>
          <p:cNvSpPr/>
          <p:nvPr/>
        </p:nvSpPr>
        <p:spPr>
          <a:xfrm>
            <a:off x="731520" y="5989320"/>
            <a:ext cx="10972800" cy="365760"/>
          </a:xfrm>
          <a:prstGeom prst="rect">
            <a:avLst/>
          </a:prstGeom>
          <a:noFill/>
          <a:ln/>
        </p:spPr>
        <p:txBody>
          <a:bodyPr wrap="square" lIns="0" tIns="0" rIns="0" bIns="0" rtlCol="0" anchor="ctr"/>
          <a:lstStyle/>
          <a:p>
            <a:pPr marL="0" indent="0">
              <a:buNone/>
            </a:pPr>
            <a:r>
              <a:rPr lang="en-US" sz="1100" i="1" dirty="0">
                <a:solidFill>
                  <a:srgbClr val="6B7785"/>
                </a:solidFill>
                <a:latin typeface="Calibri" pitchFamily="34" charset="0"/>
                <a:ea typeface="Calibri" pitchFamily="34" charset="-122"/>
                <a:cs typeface="Calibri" pitchFamily="34" charset="-120"/>
              </a:rPr>
              <a:t>→ Need to restrict tools? Pass options: { allowedTools: ["Read", "Glob"] } — the SDK equivalent of the CLI --allowedTools flag.</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0E14"/>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F9E3D"/>
          </a:solidFill>
          <a:ln/>
        </p:spPr>
        <p:txBody>
          <a:bodyPr/>
          <a:lstStyle/>
          <a:p>
            <a:endParaRPr lang="en-GB"/>
          </a:p>
        </p:txBody>
      </p:sp>
      <p:sp>
        <p:nvSpPr>
          <p:cNvPr id="3" name="Text 1"/>
          <p:cNvSpPr/>
          <p:nvPr/>
        </p:nvSpPr>
        <p:spPr>
          <a:xfrm>
            <a:off x="731520" y="914400"/>
            <a:ext cx="457200" cy="457200"/>
          </a:xfrm>
          <a:prstGeom prst="rect">
            <a:avLst/>
          </a:prstGeom>
          <a:noFill/>
          <a:ln/>
        </p:spPr>
        <p:txBody>
          <a:bodyPr wrap="square" lIns="0" tIns="0" rIns="0" bIns="0" rtlCol="0" anchor="ctr"/>
          <a:lstStyle/>
          <a:p>
            <a:pPr marL="0" indent="0">
              <a:buNone/>
            </a:pPr>
            <a:r>
              <a:rPr lang="en-US" sz="2200" b="1" dirty="0">
                <a:solidFill>
                  <a:srgbClr val="8AE65C"/>
                </a:solidFill>
                <a:latin typeface="Consolas" pitchFamily="34" charset="0"/>
                <a:ea typeface="Consolas" pitchFamily="34" charset="-122"/>
                <a:cs typeface="Consolas" pitchFamily="34" charset="-120"/>
              </a:rPr>
              <a:t>$ </a:t>
            </a:r>
            <a:endParaRPr lang="en-US" sz="2200" dirty="0"/>
          </a:p>
        </p:txBody>
      </p:sp>
      <p:sp>
        <p:nvSpPr>
          <p:cNvPr id="4" name="Text 2"/>
          <p:cNvSpPr/>
          <p:nvPr/>
        </p:nvSpPr>
        <p:spPr>
          <a:xfrm>
            <a:off x="1188720" y="914400"/>
            <a:ext cx="10058400" cy="457200"/>
          </a:xfrm>
          <a:prstGeom prst="rect">
            <a:avLst/>
          </a:prstGeom>
          <a:noFill/>
          <a:ln/>
        </p:spPr>
        <p:txBody>
          <a:bodyPr wrap="square" lIns="0" tIns="0" rIns="0" bIns="0" rtlCol="0" anchor="ctr"/>
          <a:lstStyle/>
          <a:p>
            <a:pPr marL="0" indent="0">
              <a:buNone/>
            </a:pPr>
            <a:r>
              <a:rPr lang="en-US" sz="2200" dirty="0">
                <a:solidFill>
                  <a:srgbClr val="B9C4D0"/>
                </a:solidFill>
                <a:latin typeface="Consolas" pitchFamily="34" charset="0"/>
                <a:ea typeface="Consolas" pitchFamily="34" charset="-122"/>
                <a:cs typeface="Consolas" pitchFamily="34" charset="-120"/>
              </a:rPr>
              <a:t>claude --help-yourself</a:t>
            </a:r>
            <a:endParaRPr lang="en-US" sz="2200" dirty="0"/>
          </a:p>
        </p:txBody>
      </p:sp>
      <p:sp>
        <p:nvSpPr>
          <p:cNvPr id="5" name="Text 3"/>
          <p:cNvSpPr/>
          <p:nvPr/>
        </p:nvSpPr>
        <p:spPr>
          <a:xfrm>
            <a:off x="731520" y="1691640"/>
            <a:ext cx="10058400" cy="914400"/>
          </a:xfrm>
          <a:prstGeom prst="rect">
            <a:avLst/>
          </a:prstGeom>
          <a:noFill/>
          <a:ln/>
        </p:spPr>
        <p:txBody>
          <a:bodyPr wrap="square" lIns="0" tIns="0" rIns="0" bIns="0" rtlCol="0" anchor="ctr"/>
          <a:lstStyle/>
          <a:p>
            <a:pPr marL="0" indent="0">
              <a:buNone/>
            </a:pPr>
            <a:r>
              <a:rPr lang="en-US" sz="6000" b="1" dirty="0">
                <a:solidFill>
                  <a:srgbClr val="E6EDF3"/>
                </a:solidFill>
                <a:latin typeface="Consolas" pitchFamily="34" charset="0"/>
                <a:ea typeface="Consolas" pitchFamily="34" charset="-122"/>
                <a:cs typeface="Consolas" pitchFamily="34" charset="-120"/>
              </a:rPr>
              <a:t>Where to go next</a:t>
            </a:r>
            <a:endParaRPr lang="en-US" sz="6000" dirty="0"/>
          </a:p>
        </p:txBody>
      </p:sp>
      <p:sp>
        <p:nvSpPr>
          <p:cNvPr id="6" name="Text 4"/>
          <p:cNvSpPr/>
          <p:nvPr/>
        </p:nvSpPr>
        <p:spPr>
          <a:xfrm>
            <a:off x="731520" y="2926080"/>
            <a:ext cx="365760" cy="365760"/>
          </a:xfrm>
          <a:prstGeom prst="rect">
            <a:avLst/>
          </a:prstGeom>
          <a:noFill/>
          <a:ln/>
        </p:spPr>
        <p:txBody>
          <a:bodyPr wrap="square" lIns="0" tIns="0" rIns="0" bIns="0" rtlCol="0" anchor="ctr"/>
          <a:lstStyle/>
          <a:p>
            <a:pPr marL="0" indent="0">
              <a:buNone/>
            </a:pPr>
            <a:r>
              <a:rPr lang="en-US" sz="1800" b="1" dirty="0">
                <a:solidFill>
                  <a:srgbClr val="FF9E3D"/>
                </a:solidFill>
                <a:latin typeface="Consolas" pitchFamily="34" charset="0"/>
                <a:ea typeface="Consolas" pitchFamily="34" charset="-122"/>
                <a:cs typeface="Consolas" pitchFamily="34" charset="-120"/>
              </a:rPr>
              <a:t>→</a:t>
            </a:r>
            <a:endParaRPr lang="en-US" sz="1800" dirty="0"/>
          </a:p>
        </p:txBody>
      </p:sp>
      <p:sp>
        <p:nvSpPr>
          <p:cNvPr id="7" name="Text 5"/>
          <p:cNvSpPr/>
          <p:nvPr/>
        </p:nvSpPr>
        <p:spPr>
          <a:xfrm>
            <a:off x="1188720" y="2926080"/>
            <a:ext cx="10515600" cy="502920"/>
          </a:xfrm>
          <a:prstGeom prst="rect">
            <a:avLst/>
          </a:prstGeom>
          <a:noFill/>
          <a:ln/>
        </p:spPr>
        <p:txBody>
          <a:bodyPr wrap="square" lIns="0" tIns="0" rIns="0" bIns="0" rtlCol="0" anchor="ctr"/>
          <a:lstStyle/>
          <a:p>
            <a:pPr marL="0" indent="0">
              <a:buNone/>
            </a:pPr>
            <a:r>
              <a:rPr lang="en-US" sz="1600" dirty="0">
                <a:solidFill>
                  <a:srgbClr val="B9C4D0"/>
                </a:solidFill>
                <a:latin typeface="Calibri" pitchFamily="34" charset="0"/>
                <a:ea typeface="Calibri" pitchFamily="34" charset="-122"/>
                <a:cs typeface="Calibri" pitchFamily="34" charset="-120"/>
              </a:rPr>
              <a:t>Set up Claude Code in a real project today. Run /init, edit CLAUDE.md, ship a custom command.</a:t>
            </a:r>
            <a:endParaRPr lang="en-US" sz="1600" dirty="0"/>
          </a:p>
        </p:txBody>
      </p:sp>
      <p:sp>
        <p:nvSpPr>
          <p:cNvPr id="8" name="Text 6"/>
          <p:cNvSpPr/>
          <p:nvPr/>
        </p:nvSpPr>
        <p:spPr>
          <a:xfrm>
            <a:off x="731520" y="3520440"/>
            <a:ext cx="365760" cy="365760"/>
          </a:xfrm>
          <a:prstGeom prst="rect">
            <a:avLst/>
          </a:prstGeom>
          <a:noFill/>
          <a:ln/>
        </p:spPr>
        <p:txBody>
          <a:bodyPr wrap="square" lIns="0" tIns="0" rIns="0" bIns="0" rtlCol="0" anchor="ctr"/>
          <a:lstStyle/>
          <a:p>
            <a:pPr marL="0" indent="0">
              <a:buNone/>
            </a:pPr>
            <a:r>
              <a:rPr lang="en-US" sz="1800" b="1" dirty="0">
                <a:solidFill>
                  <a:srgbClr val="FF9E3D"/>
                </a:solidFill>
                <a:latin typeface="Consolas" pitchFamily="34" charset="0"/>
                <a:ea typeface="Consolas" pitchFamily="34" charset="-122"/>
                <a:cs typeface="Consolas" pitchFamily="34" charset="-120"/>
              </a:rPr>
              <a:t>→</a:t>
            </a:r>
            <a:endParaRPr lang="en-US" sz="1800" dirty="0"/>
          </a:p>
        </p:txBody>
      </p:sp>
      <p:sp>
        <p:nvSpPr>
          <p:cNvPr id="9" name="Text 7"/>
          <p:cNvSpPr/>
          <p:nvPr/>
        </p:nvSpPr>
        <p:spPr>
          <a:xfrm>
            <a:off x="1188720" y="3520440"/>
            <a:ext cx="10515600" cy="502920"/>
          </a:xfrm>
          <a:prstGeom prst="rect">
            <a:avLst/>
          </a:prstGeom>
          <a:noFill/>
          <a:ln/>
        </p:spPr>
        <p:txBody>
          <a:bodyPr wrap="square" lIns="0" tIns="0" rIns="0" bIns="0" rtlCol="0" anchor="ctr"/>
          <a:lstStyle/>
          <a:p>
            <a:pPr marL="0" indent="0">
              <a:buNone/>
            </a:pPr>
            <a:r>
              <a:rPr lang="en-US" sz="1600" dirty="0">
                <a:solidFill>
                  <a:srgbClr val="B9C4D0"/>
                </a:solidFill>
                <a:latin typeface="Calibri" pitchFamily="34" charset="0"/>
                <a:ea typeface="Calibri" pitchFamily="34" charset="-122"/>
                <a:cs typeface="Calibri" pitchFamily="34" charset="-120"/>
              </a:rPr>
              <a:t>Pick one MCP server that maps to your daily toolchain. Install it. Use it for a real task.</a:t>
            </a:r>
            <a:endParaRPr lang="en-US" sz="1600" dirty="0"/>
          </a:p>
        </p:txBody>
      </p:sp>
      <p:sp>
        <p:nvSpPr>
          <p:cNvPr id="10" name="Text 8"/>
          <p:cNvSpPr/>
          <p:nvPr/>
        </p:nvSpPr>
        <p:spPr>
          <a:xfrm>
            <a:off x="731520" y="4114800"/>
            <a:ext cx="365760" cy="365760"/>
          </a:xfrm>
          <a:prstGeom prst="rect">
            <a:avLst/>
          </a:prstGeom>
          <a:noFill/>
          <a:ln/>
        </p:spPr>
        <p:txBody>
          <a:bodyPr wrap="square" lIns="0" tIns="0" rIns="0" bIns="0" rtlCol="0" anchor="ctr"/>
          <a:lstStyle/>
          <a:p>
            <a:pPr marL="0" indent="0">
              <a:buNone/>
            </a:pPr>
            <a:r>
              <a:rPr lang="en-US" sz="1800" b="1" dirty="0">
                <a:solidFill>
                  <a:srgbClr val="FF9E3D"/>
                </a:solidFill>
                <a:latin typeface="Consolas" pitchFamily="34" charset="0"/>
                <a:ea typeface="Consolas" pitchFamily="34" charset="-122"/>
                <a:cs typeface="Consolas" pitchFamily="34" charset="-120"/>
              </a:rPr>
              <a:t>→</a:t>
            </a:r>
            <a:endParaRPr lang="en-US" sz="1800" dirty="0"/>
          </a:p>
        </p:txBody>
      </p:sp>
      <p:sp>
        <p:nvSpPr>
          <p:cNvPr id="11" name="Text 9"/>
          <p:cNvSpPr/>
          <p:nvPr/>
        </p:nvSpPr>
        <p:spPr>
          <a:xfrm>
            <a:off x="1188720" y="4114800"/>
            <a:ext cx="10515600" cy="502920"/>
          </a:xfrm>
          <a:prstGeom prst="rect">
            <a:avLst/>
          </a:prstGeom>
          <a:noFill/>
          <a:ln/>
        </p:spPr>
        <p:txBody>
          <a:bodyPr wrap="square" lIns="0" tIns="0" rIns="0" bIns="0" rtlCol="0" anchor="ctr"/>
          <a:lstStyle/>
          <a:p>
            <a:pPr marL="0" indent="0">
              <a:buNone/>
            </a:pPr>
            <a:r>
              <a:rPr lang="en-US" sz="1600" dirty="0">
                <a:solidFill>
                  <a:srgbClr val="B9C4D0"/>
                </a:solidFill>
                <a:latin typeface="Calibri" pitchFamily="34" charset="0"/>
                <a:ea typeface="Calibri" pitchFamily="34" charset="-122"/>
                <a:cs typeface="Calibri" pitchFamily="34" charset="-120"/>
              </a:rPr>
              <a:t>Write your first PreToolUse hook. Block secret files. Auto-format on edit. Run tests on change.</a:t>
            </a:r>
            <a:endParaRPr lang="en-US" sz="1600" dirty="0"/>
          </a:p>
        </p:txBody>
      </p:sp>
      <p:sp>
        <p:nvSpPr>
          <p:cNvPr id="12" name="Text 10"/>
          <p:cNvSpPr/>
          <p:nvPr/>
        </p:nvSpPr>
        <p:spPr>
          <a:xfrm>
            <a:off x="731520" y="4709160"/>
            <a:ext cx="365760" cy="365760"/>
          </a:xfrm>
          <a:prstGeom prst="rect">
            <a:avLst/>
          </a:prstGeom>
          <a:noFill/>
          <a:ln/>
        </p:spPr>
        <p:txBody>
          <a:bodyPr wrap="square" lIns="0" tIns="0" rIns="0" bIns="0" rtlCol="0" anchor="ctr"/>
          <a:lstStyle/>
          <a:p>
            <a:pPr marL="0" indent="0">
              <a:buNone/>
            </a:pPr>
            <a:r>
              <a:rPr lang="en-US" sz="1800" b="1" dirty="0">
                <a:solidFill>
                  <a:srgbClr val="FF9E3D"/>
                </a:solidFill>
                <a:latin typeface="Consolas" pitchFamily="34" charset="0"/>
                <a:ea typeface="Consolas" pitchFamily="34" charset="-122"/>
                <a:cs typeface="Consolas" pitchFamily="34" charset="-120"/>
              </a:rPr>
              <a:t>→</a:t>
            </a:r>
            <a:endParaRPr lang="en-US" sz="1800" dirty="0"/>
          </a:p>
        </p:txBody>
      </p:sp>
      <p:sp>
        <p:nvSpPr>
          <p:cNvPr id="13" name="Text 11"/>
          <p:cNvSpPr/>
          <p:nvPr/>
        </p:nvSpPr>
        <p:spPr>
          <a:xfrm>
            <a:off x="1188720" y="4709160"/>
            <a:ext cx="10515600" cy="502920"/>
          </a:xfrm>
          <a:prstGeom prst="rect">
            <a:avLst/>
          </a:prstGeom>
          <a:noFill/>
          <a:ln/>
        </p:spPr>
        <p:txBody>
          <a:bodyPr wrap="square" lIns="0" tIns="0" rIns="0" bIns="0" rtlCol="0" anchor="ctr"/>
          <a:lstStyle/>
          <a:p>
            <a:pPr marL="0" indent="0">
              <a:buNone/>
            </a:pPr>
            <a:r>
              <a:rPr lang="en-US" sz="1600" dirty="0">
                <a:solidFill>
                  <a:srgbClr val="B9C4D0"/>
                </a:solidFill>
                <a:latin typeface="Calibri" pitchFamily="34" charset="0"/>
                <a:ea typeface="Calibri" pitchFamily="34" charset="-122"/>
                <a:cs typeface="Calibri" pitchFamily="34" charset="-120"/>
              </a:rPr>
              <a:t>If you have an automation pipeline, evaluate replacing one step with the Claude Code SDK.</a:t>
            </a:r>
            <a:endParaRPr lang="en-US" sz="1600" dirty="0"/>
          </a:p>
        </p:txBody>
      </p:sp>
      <p:sp>
        <p:nvSpPr>
          <p:cNvPr id="14" name="Shape 12"/>
          <p:cNvSpPr/>
          <p:nvPr/>
        </p:nvSpPr>
        <p:spPr>
          <a:xfrm>
            <a:off x="731520" y="5577840"/>
            <a:ext cx="164592" cy="365760"/>
          </a:xfrm>
          <a:prstGeom prst="rect">
            <a:avLst/>
          </a:prstGeom>
          <a:solidFill>
            <a:srgbClr val="8AE65C"/>
          </a:solidFill>
          <a:ln/>
        </p:spPr>
        <p:txBody>
          <a:bodyPr/>
          <a:lstStyle/>
          <a:p>
            <a:endParaRPr lang="en-GB"/>
          </a:p>
        </p:txBody>
      </p:sp>
      <p:sp>
        <p:nvSpPr>
          <p:cNvPr id="15" name="Text 13"/>
          <p:cNvSpPr/>
          <p:nvPr/>
        </p:nvSpPr>
        <p:spPr>
          <a:xfrm>
            <a:off x="1051560" y="5577840"/>
            <a:ext cx="10058400" cy="457200"/>
          </a:xfrm>
          <a:prstGeom prst="rect">
            <a:avLst/>
          </a:prstGeom>
          <a:noFill/>
          <a:ln/>
        </p:spPr>
        <p:txBody>
          <a:bodyPr wrap="square" lIns="0" tIns="0" rIns="0" bIns="0" rtlCol="0" anchor="ctr"/>
          <a:lstStyle/>
          <a:p>
            <a:pPr marL="0" indent="0">
              <a:buNone/>
            </a:pPr>
            <a:r>
              <a:rPr lang="en-US" sz="2000" b="1" dirty="0">
                <a:solidFill>
                  <a:srgbClr val="8AE65C"/>
                </a:solidFill>
                <a:latin typeface="Consolas" pitchFamily="34" charset="0"/>
                <a:ea typeface="Consolas" pitchFamily="34" charset="-122"/>
                <a:cs typeface="Consolas" pitchFamily="34" charset="-120"/>
              </a:rPr>
              <a:t>Questions?</a:t>
            </a:r>
            <a:endParaRPr lang="en-US" sz="2000" dirty="0"/>
          </a:p>
        </p:txBody>
      </p:sp>
      <p:sp>
        <p:nvSpPr>
          <p:cNvPr id="16" name="Text 14"/>
          <p:cNvSpPr/>
          <p:nvPr/>
        </p:nvSpPr>
        <p:spPr>
          <a:xfrm>
            <a:off x="731520" y="6492240"/>
            <a:ext cx="10058400" cy="228600"/>
          </a:xfrm>
          <a:prstGeom prst="rect">
            <a:avLst/>
          </a:prstGeom>
          <a:noFill/>
          <a:ln/>
        </p:spPr>
        <p:txBody>
          <a:bodyPr wrap="square" lIns="0" tIns="0" rIns="0" bIns="0" rtlCol="0" anchor="ctr"/>
          <a:lstStyle/>
          <a:p>
            <a:pPr marL="0" indent="0">
              <a:buNone/>
            </a:pPr>
            <a:r>
              <a:rPr lang="en-US" sz="900" kern="0" spc="300" dirty="0">
                <a:solidFill>
                  <a:srgbClr val="6B7785"/>
                </a:solidFill>
                <a:latin typeface="Consolas" pitchFamily="34" charset="0"/>
                <a:ea typeface="Consolas" pitchFamily="34" charset="-122"/>
                <a:cs typeface="Consolas" pitchFamily="34" charset="-120"/>
              </a:rPr>
              <a:t>Claude Architect  ·  Domain 3  ·  Claude Code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4021</Words>
  <Application>Microsoft Office PowerPoint</Application>
  <PresentationFormat>Widescreen</PresentationFormat>
  <Paragraphs>670</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Domain 3: Claude Code</dc:title>
  <dc:subject>PptxGenJS Presentation</dc:subject>
  <dc:creator>Claude Architect Course</dc:creator>
  <cp:lastModifiedBy>Monica Mensah</cp:lastModifiedBy>
  <cp:revision>1</cp:revision>
  <dcterms:created xsi:type="dcterms:W3CDTF">2026-05-25T19:13:17Z</dcterms:created>
  <dcterms:modified xsi:type="dcterms:W3CDTF">2026-05-25T19:27:58Z</dcterms:modified>
</cp:coreProperties>
</file>